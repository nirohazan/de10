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93" r:id="rId17"/>
    <p:sldId id="271" r:id="rId18"/>
    <p:sldId id="272" r:id="rId19"/>
    <p:sldId id="273" r:id="rId20"/>
    <p:sldId id="274" r:id="rId21"/>
    <p:sldId id="275" r:id="rId22"/>
    <p:sldId id="276" r:id="rId23"/>
    <p:sldId id="277" r:id="rId24"/>
    <p:sldId id="278"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6858000" type="screen4x3"/>
  <p:notesSz cx="6858000" cy="9144000"/>
  <p:embeddedFontLst>
    <p:embeddedFont>
      <p:font typeface="Corbel" panose="020B0503020204020204" pitchFamily="34" charset="0"/>
      <p:regular r:id="rId40"/>
      <p:bold r:id="rId41"/>
      <p:italic r:id="rId42"/>
      <p:boldItalic r:id="rId43"/>
    </p:embeddedFont>
    <p:embeddedFont>
      <p:font typeface="David" panose="020E0502060401010101" pitchFamily="34" charset="-79"/>
      <p:regular r:id="rId44"/>
      <p:bold r:id="rId45"/>
    </p:embeddedFont>
    <p:embeddedFont>
      <p:font typeface="Verdana" panose="020B060403050404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Z9C+yIbY96c1mMyIc5EXvr0u86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3B9FC35-CAD0-4D3F-BEBE-D09448F5CC3E}">
  <a:tblStyle styleId="{D3B9FC35-CAD0-4D3F-BEBE-D09448F5CC3E}"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8C3AE85-FB49-4CD0-B045-2F34A34AC5DA}"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F1E6"/>
          </a:solidFill>
        </a:fill>
      </a:tcStyle>
    </a:wholeTbl>
    <a:band1H>
      <a:tcTxStyle/>
      <a:tcStyle>
        <a:tcBdr/>
        <a:fill>
          <a:solidFill>
            <a:srgbClr val="F9E2CA"/>
          </a:solidFill>
        </a:fill>
      </a:tcStyle>
    </a:band1H>
    <a:band2H>
      <a:tcTxStyle/>
      <a:tcStyle>
        <a:tcBdr/>
      </a:tcStyle>
    </a:band2H>
    <a:band1V>
      <a:tcTxStyle/>
      <a:tcStyle>
        <a:tcBdr/>
        <a:fill>
          <a:solidFill>
            <a:srgbClr val="F9E2C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094" y="1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1">
              <a:lnSpc>
                <a:spcPct val="100000"/>
              </a:lnSpc>
              <a:spcBef>
                <a:spcPts val="0"/>
              </a:spcBef>
              <a:spcAft>
                <a:spcPts val="0"/>
              </a:spcAft>
              <a:buClr>
                <a:srgbClr val="000000"/>
              </a:buClr>
              <a:buSzPts val="1200"/>
              <a:buFont typeface="Arial"/>
              <a:buNone/>
            </a:pPr>
            <a:fld id="{00000000-1234-1234-1234-123412341234}" type="slidenum">
              <a:rPr lang="iw-IL"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iw-IL"/>
              <a:t>An expert in the development and implementation of smart, useful, and ground-breaking computer vision systems in a research environment with high uncertainty. Responsible for leading a team of algorithm developers and programmers while creating harmony, focus, rapid learning and accelerated implementation. Doing this for twenty years, half of them in academia and half of them in industry.</a:t>
            </a:r>
            <a:br>
              <a:rPr lang="iw-IL"/>
            </a:br>
            <a:br>
              <a:rPr lang="iw-IL"/>
            </a:br>
            <a:r>
              <a:rPr lang="iw-IL"/>
              <a:t>I help engineers over achieve in their work by teaching them effective task, time, team and research management practices that have been tested and validated in my 20 years of experience in the industry and academia.</a:t>
            </a:r>
            <a:endParaRPr/>
          </a:p>
          <a:p>
            <a:pPr marL="457200" lvl="0" indent="-228600" algn="l" rtl="0">
              <a:lnSpc>
                <a:spcPct val="100000"/>
              </a:lnSpc>
              <a:spcBef>
                <a:spcPts val="360"/>
              </a:spcBef>
              <a:spcAft>
                <a:spcPts val="0"/>
              </a:spcAft>
              <a:buSzPts val="1400"/>
              <a:buNone/>
            </a:pPr>
            <a:endParaRPr/>
          </a:p>
        </p:txBody>
      </p:sp>
      <p:sp>
        <p:nvSpPr>
          <p:cNvPr id="91" name="Google Shape;91;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iw-IL"/>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0" name="Google Shape;11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8" name="Google Shape;11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6" name="Google Shape;12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33" name="Google Shape;13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0" name="Google Shape;140;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7" name="Google Shape;167;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 name="Google Shape;17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6" name="Google Shape;18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5" name="Google Shape;205;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4" name="Google Shape;21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The $7 billion Ariane 5 rocket,</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launched on June 4, 1996,</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veered off course 40 seconds</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after launch, broke up, and</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exploded. The failure was</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caused when the computer</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controlling the rocket</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overflowed its 16-bit range</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and crashed.</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The code had been extensively</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tested on the Ariane 4 rocket.</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However, the Ariane 5 had a</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faster engine that produced larger</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values for the control computer,</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leading to the overflow.</a:t>
            </a:r>
            <a:endParaRPr/>
          </a:p>
        </p:txBody>
      </p:sp>
      <p:sp>
        <p:nvSpPr>
          <p:cNvPr id="225" name="Google Shape;225;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1">
              <a:lnSpc>
                <a:spcPct val="100000"/>
              </a:lnSpc>
              <a:spcBef>
                <a:spcPts val="0"/>
              </a:spcBef>
              <a:spcAft>
                <a:spcPts val="0"/>
              </a:spcAft>
              <a:buSzPts val="1200"/>
              <a:buNone/>
            </a:pPr>
            <a:fld id="{00000000-1234-1234-1234-123412341234}" type="slidenum">
              <a:rPr lang="iw-IL" sz="1200" b="0" i="0" u="none" strike="noStrike" cap="none">
                <a:solidFill>
                  <a:schemeClr val="dk1"/>
                </a:solidFill>
                <a:latin typeface="Arial"/>
                <a:ea typeface="Arial"/>
                <a:cs typeface="Arial"/>
                <a:sym typeface="Arial"/>
              </a:rPr>
              <a:t>15</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30" name="Google Shape;330;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34" name="Google Shape;234;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41" name="Google Shape;24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52" name="Google Shape;252;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65" name="Google Shape;265;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75" name="Google Shape;27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SzPts val="1400"/>
              <a:buNone/>
            </a:pPr>
            <a:r>
              <a:rPr lang="iw-IL"/>
              <a:t>לקוח נכנס למסעדה </a:t>
            </a:r>
            <a:endParaRPr/>
          </a:p>
        </p:txBody>
      </p:sp>
      <p:sp>
        <p:nvSpPr>
          <p:cNvPr id="283" name="Google Shape;283;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1">
              <a:lnSpc>
                <a:spcPct val="100000"/>
              </a:lnSpc>
              <a:spcBef>
                <a:spcPts val="0"/>
              </a:spcBef>
              <a:spcAft>
                <a:spcPts val="0"/>
              </a:spcAft>
              <a:buSzPts val="1400"/>
              <a:buNone/>
            </a:pPr>
            <a:fld id="{00000000-1234-1234-1234-123412341234}" type="slidenum">
              <a:rPr lang="iw-IL"/>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SzPts val="1400"/>
              <a:buNone/>
            </a:pPr>
            <a:r>
              <a:rPr lang="iw-IL"/>
              <a:t>לקוח נכנס למסעדה </a:t>
            </a:r>
            <a:endParaRPr/>
          </a:p>
        </p:txBody>
      </p:sp>
      <p:sp>
        <p:nvSpPr>
          <p:cNvPr id="292" name="Google Shape;292;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1">
              <a:lnSpc>
                <a:spcPct val="100000"/>
              </a:lnSpc>
              <a:spcBef>
                <a:spcPts val="0"/>
              </a:spcBef>
              <a:spcAft>
                <a:spcPts val="0"/>
              </a:spcAft>
              <a:buSzPts val="1400"/>
              <a:buNone/>
            </a:pPr>
            <a:fld id="{00000000-1234-1234-1234-123412341234}" type="slidenum">
              <a:rPr lang="iw-IL"/>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SzPts val="1400"/>
              <a:buNone/>
            </a:pPr>
            <a:r>
              <a:rPr lang="iw-IL"/>
              <a:t>לקוח נכנס למסעדה </a:t>
            </a:r>
            <a:endParaRPr/>
          </a:p>
        </p:txBody>
      </p:sp>
      <p:sp>
        <p:nvSpPr>
          <p:cNvPr id="301" name="Google Shape;301;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1">
              <a:lnSpc>
                <a:spcPct val="100000"/>
              </a:lnSpc>
              <a:spcBef>
                <a:spcPts val="0"/>
              </a:spcBef>
              <a:spcAft>
                <a:spcPts val="0"/>
              </a:spcAft>
              <a:buSzPts val="1400"/>
              <a:buNone/>
            </a:pPr>
            <a:fld id="{00000000-1234-1234-1234-123412341234}" type="slidenum">
              <a:rPr lang="iw-IL"/>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18" name="Google Shape;31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30" name="Google Shape;330;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4b90bdec2f950e3c_2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37" name="Google Shape;337;g4b90bdec2f950e3c_2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44" name="Google Shape;34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58" name="Google Shape;35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65" name="Google Shape;365;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72" name="Google Shape;37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79" name="Google Shape;379;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6" name="Google Shape;38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93" name="Google Shape;39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00" name="Google Shape;40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08" name="Google Shape;40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7"/>
        <p:cNvGrpSpPr/>
        <p:nvPr/>
      </p:nvGrpSpPr>
      <p:grpSpPr>
        <a:xfrm>
          <a:off x="0" y="0"/>
          <a:ext cx="0" cy="0"/>
          <a:chOff x="0" y="0"/>
          <a:chExt cx="0" cy="0"/>
        </a:xfrm>
      </p:grpSpPr>
      <p:sp>
        <p:nvSpPr>
          <p:cNvPr id="18" name="Google Shape;18;p65"/>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5"/>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gradFill>
          <a:gsLst>
            <a:gs pos="0">
              <a:srgbClr val="BEC4D3"/>
            </a:gs>
            <a:gs pos="12000">
              <a:srgbClr val="BEC4D3"/>
            </a:gs>
            <a:gs pos="20000">
              <a:srgbClr val="BDC3D1"/>
            </a:gs>
            <a:gs pos="100000">
              <a:srgbClr val="343945"/>
            </a:gs>
          </a:gsLst>
          <a:path path="circle">
            <a:fillToRect l="50000" t="50000" r="50000" b="50000"/>
          </a:path>
          <a:tileRect/>
        </a:gradFill>
        <a:effectLst/>
      </p:bgPr>
    </p:bg>
    <p:spTree>
      <p:nvGrpSpPr>
        <p:cNvPr id="1" name="Shape 21"/>
        <p:cNvGrpSpPr/>
        <p:nvPr/>
      </p:nvGrpSpPr>
      <p:grpSpPr>
        <a:xfrm>
          <a:off x="0" y="0"/>
          <a:ext cx="0" cy="0"/>
          <a:chOff x="0" y="0"/>
          <a:chExt cx="0" cy="0"/>
        </a:xfrm>
      </p:grpSpPr>
      <p:sp>
        <p:nvSpPr>
          <p:cNvPr id="22" name="Google Shape;22;p29"/>
          <p:cNvSpPr/>
          <p:nvPr/>
        </p:nvSpPr>
        <p:spPr>
          <a:xfrm>
            <a:off x="0" y="0"/>
            <a:ext cx="9144000" cy="5135563"/>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23;p29"/>
          <p:cNvSpPr/>
          <p:nvPr/>
        </p:nvSpPr>
        <p:spPr>
          <a:xfrm>
            <a:off x="0" y="5127625"/>
            <a:ext cx="9144000" cy="46038"/>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 name="Google Shape;24;p29"/>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lvl1pPr lvl="0" algn="l">
              <a:lnSpc>
                <a:spcPct val="100000"/>
              </a:lnSpc>
              <a:spcBef>
                <a:spcPts val="0"/>
              </a:spcBef>
              <a:spcAft>
                <a:spcPts val="0"/>
              </a:spcAft>
              <a:buSzPts val="1400"/>
              <a:buNone/>
              <a:defRPr sz="47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lvl1pPr lvl="0" algn="l">
              <a:lnSpc>
                <a:spcPct val="100000"/>
              </a:lnSpc>
              <a:spcBef>
                <a:spcPts val="0"/>
              </a:spcBef>
              <a:spcAft>
                <a:spcPts val="0"/>
              </a:spcAft>
              <a:buSzPts val="1600"/>
              <a:buNone/>
              <a:defRPr sz="2000">
                <a:solidFill>
                  <a:srgbClr val="FFFFFF"/>
                </a:solidFill>
              </a:defRPr>
            </a:lvl1pPr>
            <a:lvl2pPr lvl="1" algn="ctr">
              <a:lnSpc>
                <a:spcPct val="100000"/>
              </a:lnSpc>
              <a:spcBef>
                <a:spcPts val="560"/>
              </a:spcBef>
              <a:spcAft>
                <a:spcPts val="0"/>
              </a:spcAft>
              <a:buSzPts val="2520"/>
              <a:buNone/>
              <a:defRPr>
                <a:solidFill>
                  <a:schemeClr val="lt1"/>
                </a:solidFill>
              </a:defRPr>
            </a:lvl2pPr>
            <a:lvl3pPr lvl="2" algn="ctr">
              <a:lnSpc>
                <a:spcPct val="100000"/>
              </a:lnSpc>
              <a:spcBef>
                <a:spcPts val="480"/>
              </a:spcBef>
              <a:spcAft>
                <a:spcPts val="0"/>
              </a:spcAft>
              <a:buSzPts val="2400"/>
              <a:buNone/>
              <a:defRPr>
                <a:solidFill>
                  <a:schemeClr val="lt1"/>
                </a:solidFill>
              </a:defRPr>
            </a:lvl3pPr>
            <a:lvl4pPr lvl="3" algn="ctr">
              <a:lnSpc>
                <a:spcPct val="100000"/>
              </a:lnSpc>
              <a:spcBef>
                <a:spcPts val="400"/>
              </a:spcBef>
              <a:spcAft>
                <a:spcPts val="0"/>
              </a:spcAft>
              <a:buSzPts val="2000"/>
              <a:buNone/>
              <a:defRPr>
                <a:solidFill>
                  <a:schemeClr val="lt1"/>
                </a:solidFill>
              </a:defRPr>
            </a:lvl4pPr>
            <a:lvl5pPr lvl="4" algn="ctr">
              <a:lnSpc>
                <a:spcPct val="100000"/>
              </a:lnSpc>
              <a:spcBef>
                <a:spcPts val="400"/>
              </a:spcBef>
              <a:spcAft>
                <a:spcPts val="0"/>
              </a:spcAft>
              <a:buSzPts val="2000"/>
              <a:buNone/>
              <a:defRPr>
                <a:solidFill>
                  <a:schemeClr val="lt1"/>
                </a:solidFill>
              </a:defRPr>
            </a:lvl5pPr>
            <a:lvl6pPr lvl="5" algn="ctr">
              <a:lnSpc>
                <a:spcPct val="100000"/>
              </a:lnSpc>
              <a:spcBef>
                <a:spcPts val="400"/>
              </a:spcBef>
              <a:spcAft>
                <a:spcPts val="0"/>
              </a:spcAft>
              <a:buSzPts val="2000"/>
              <a:buNone/>
              <a:defRPr>
                <a:solidFill>
                  <a:schemeClr val="lt1"/>
                </a:solidFill>
              </a:defRPr>
            </a:lvl6pPr>
            <a:lvl7pPr lvl="6" algn="ctr">
              <a:lnSpc>
                <a:spcPct val="100000"/>
              </a:lnSpc>
              <a:spcBef>
                <a:spcPts val="360"/>
              </a:spcBef>
              <a:spcAft>
                <a:spcPts val="0"/>
              </a:spcAft>
              <a:buSzPts val="1800"/>
              <a:buNone/>
              <a:defRPr>
                <a:solidFill>
                  <a:schemeClr val="lt1"/>
                </a:solidFill>
              </a:defRPr>
            </a:lvl7pPr>
            <a:lvl8pPr lvl="7" algn="ctr">
              <a:lnSpc>
                <a:spcPct val="100000"/>
              </a:lnSpc>
              <a:spcBef>
                <a:spcPts val="360"/>
              </a:spcBef>
              <a:spcAft>
                <a:spcPts val="0"/>
              </a:spcAft>
              <a:buSzPts val="1800"/>
              <a:buNone/>
              <a:defRPr>
                <a:solidFill>
                  <a:schemeClr val="lt1"/>
                </a:solidFill>
              </a:defRPr>
            </a:lvl8pPr>
            <a:lvl9pPr lvl="8" algn="ctr">
              <a:lnSpc>
                <a:spcPct val="100000"/>
              </a:lnSpc>
              <a:spcBef>
                <a:spcPts val="360"/>
              </a:spcBef>
              <a:spcAft>
                <a:spcPts val="0"/>
              </a:spcAft>
              <a:buSzPts val="1800"/>
              <a:buNone/>
              <a:defRPr>
                <a:solidFill>
                  <a:schemeClr val="lt1"/>
                </a:solidFill>
              </a:defRPr>
            </a:lvl9pPr>
          </a:lstStyle>
          <a:p>
            <a:endParaRPr/>
          </a:p>
        </p:txBody>
      </p:sp>
      <p:sp>
        <p:nvSpPr>
          <p:cNvPr id="26" name="Google Shape;26;p29"/>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9"/>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9"/>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0"/>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31470" algn="l">
              <a:lnSpc>
                <a:spcPct val="100000"/>
              </a:lnSpc>
              <a:spcBef>
                <a:spcPts val="360"/>
              </a:spcBef>
              <a:spcAft>
                <a:spcPts val="0"/>
              </a:spcAft>
              <a:buSzPts val="162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2" name="Google Shape;32;p30"/>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0"/>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0"/>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34"/>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4"/>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2"/>
          <p:cNvSpPr txBox="1">
            <a:spLocks noGrp="1"/>
          </p:cNvSpPr>
          <p:nvPr>
            <p:ph type="body" idx="1"/>
          </p:nvPr>
        </p:nvSpPr>
        <p:spPr>
          <a:xfrm>
            <a:off x="457200" y="1773936"/>
            <a:ext cx="4038600" cy="4623816"/>
          </a:xfrm>
          <a:prstGeom prst="rect">
            <a:avLst/>
          </a:prstGeom>
          <a:noFill/>
          <a:ln>
            <a:noFill/>
          </a:ln>
        </p:spPr>
        <p:txBody>
          <a:bodyPr spcFirstLastPara="1" wrap="square" lIns="91425" tIns="91425" rIns="91425" bIns="45700" anchor="t" anchorCtr="0">
            <a:noAutofit/>
          </a:bodyPr>
          <a:lstStyle>
            <a:lvl1pPr marL="457200" lvl="0" indent="-370840" algn="l">
              <a:lnSpc>
                <a:spcPct val="100000"/>
              </a:lnSpc>
              <a:spcBef>
                <a:spcPts val="0"/>
              </a:spcBef>
              <a:spcAft>
                <a:spcPts val="0"/>
              </a:spcAft>
              <a:buSzPts val="2240"/>
              <a:buChar char="◼"/>
              <a:defRPr sz="2800"/>
            </a:lvl1pPr>
            <a:lvl2pPr marL="914400" lvl="1" indent="-365760" algn="l">
              <a:lnSpc>
                <a:spcPct val="100000"/>
              </a:lnSpc>
              <a:spcBef>
                <a:spcPts val="480"/>
              </a:spcBef>
              <a:spcAft>
                <a:spcPts val="0"/>
              </a:spcAft>
              <a:buSzPts val="216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3" name="Google Shape;43;p32"/>
          <p:cNvSpPr txBox="1">
            <a:spLocks noGrp="1"/>
          </p:cNvSpPr>
          <p:nvPr>
            <p:ph type="body" idx="2"/>
          </p:nvPr>
        </p:nvSpPr>
        <p:spPr>
          <a:xfrm>
            <a:off x="4648200" y="1773936"/>
            <a:ext cx="4038600" cy="4623816"/>
          </a:xfrm>
          <a:prstGeom prst="rect">
            <a:avLst/>
          </a:prstGeom>
          <a:noFill/>
          <a:ln>
            <a:noFill/>
          </a:ln>
        </p:spPr>
        <p:txBody>
          <a:bodyPr spcFirstLastPara="1" wrap="square" lIns="54850" tIns="91425" rIns="91425" bIns="45700" anchor="t" anchorCtr="0">
            <a:noAutofit/>
          </a:bodyPr>
          <a:lstStyle>
            <a:lvl1pPr marL="457200" lvl="0" indent="-370840" algn="l">
              <a:lnSpc>
                <a:spcPct val="100000"/>
              </a:lnSpc>
              <a:spcBef>
                <a:spcPts val="0"/>
              </a:spcBef>
              <a:spcAft>
                <a:spcPts val="0"/>
              </a:spcAft>
              <a:buSzPts val="2240"/>
              <a:buChar char="◼"/>
              <a:defRPr sz="2800"/>
            </a:lvl1pPr>
            <a:lvl2pPr marL="914400" lvl="1" indent="-365760" algn="l">
              <a:lnSpc>
                <a:spcPct val="100000"/>
              </a:lnSpc>
              <a:spcBef>
                <a:spcPts val="480"/>
              </a:spcBef>
              <a:spcAft>
                <a:spcPts val="0"/>
              </a:spcAft>
              <a:buSzPts val="216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4" name="Google Shape;44;p32"/>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2"/>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33"/>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3"/>
          <p:cNvSpPr txBox="1">
            <a:spLocks noGrp="1"/>
          </p:cNvSpPr>
          <p:nvPr>
            <p:ph type="body" idx="1"/>
          </p:nvPr>
        </p:nvSpPr>
        <p:spPr>
          <a:xfrm>
            <a:off x="457200" y="1698987"/>
            <a:ext cx="4040188" cy="715355"/>
          </a:xfrm>
          <a:prstGeom prst="rect">
            <a:avLst/>
          </a:prstGeom>
          <a:noFill/>
          <a:ln>
            <a:noFill/>
          </a:ln>
        </p:spPr>
        <p:txBody>
          <a:bodyPr spcFirstLastPara="1" wrap="square" lIns="146300" tIns="91425" rIns="91425" bIns="45700" anchor="ctr" anchorCtr="0">
            <a:noAutofit/>
          </a:bodyPr>
          <a:lstStyle>
            <a:lvl1pPr marL="457200" lvl="0" indent="-228600" algn="l">
              <a:lnSpc>
                <a:spcPct val="100000"/>
              </a:lnSpc>
              <a:spcBef>
                <a:spcPts val="0"/>
              </a:spcBef>
              <a:spcAft>
                <a:spcPts val="0"/>
              </a:spcAft>
              <a:buSzPts val="1840"/>
              <a:buNone/>
              <a:defRPr sz="2300" b="1" cap="none"/>
            </a:lvl1pPr>
            <a:lvl2pPr marL="914400" lvl="1" indent="-228600" algn="l">
              <a:lnSpc>
                <a:spcPct val="100000"/>
              </a:lnSpc>
              <a:spcBef>
                <a:spcPts val="400"/>
              </a:spcBef>
              <a:spcAft>
                <a:spcPts val="0"/>
              </a:spcAft>
              <a:buSzPts val="18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0" name="Google Shape;50;p33"/>
          <p:cNvSpPr txBox="1">
            <a:spLocks noGrp="1"/>
          </p:cNvSpPr>
          <p:nvPr>
            <p:ph type="body" idx="2"/>
          </p:nvPr>
        </p:nvSpPr>
        <p:spPr>
          <a:xfrm>
            <a:off x="457200" y="2449512"/>
            <a:ext cx="4040188" cy="3951288"/>
          </a:xfrm>
          <a:prstGeom prst="rect">
            <a:avLst/>
          </a:prstGeom>
          <a:noFill/>
          <a:ln>
            <a:noFill/>
          </a:ln>
        </p:spPr>
        <p:txBody>
          <a:bodyPr spcFirstLastPara="1" wrap="square" lIns="54850" tIns="91425" rIns="91425" bIns="45700" anchor="t" anchorCtr="0">
            <a:noAutofit/>
          </a:bodyPr>
          <a:lstStyle>
            <a:lvl1pPr marL="457200" lvl="0" indent="-350520" algn="l">
              <a:lnSpc>
                <a:spcPct val="100000"/>
              </a:lnSpc>
              <a:spcBef>
                <a:spcPts val="0"/>
              </a:spcBef>
              <a:spcAft>
                <a:spcPts val="0"/>
              </a:spcAft>
              <a:buSzPts val="1920"/>
              <a:buChar char="◼"/>
              <a:defRPr sz="2400"/>
            </a:lvl1pPr>
            <a:lvl2pPr marL="914400" lvl="1" indent="-342900" algn="l">
              <a:lnSpc>
                <a:spcPct val="100000"/>
              </a:lnSpc>
              <a:spcBef>
                <a:spcPts val="400"/>
              </a:spcBef>
              <a:spcAft>
                <a:spcPts val="0"/>
              </a:spcAft>
              <a:buSzPts val="18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1" name="Google Shape;51;p33"/>
          <p:cNvSpPr txBox="1">
            <a:spLocks noGrp="1"/>
          </p:cNvSpPr>
          <p:nvPr>
            <p:ph type="body" idx="3"/>
          </p:nvPr>
        </p:nvSpPr>
        <p:spPr>
          <a:xfrm>
            <a:off x="4645025" y="1698987"/>
            <a:ext cx="4041775" cy="715355"/>
          </a:xfrm>
          <a:prstGeom prst="rect">
            <a:avLst/>
          </a:prstGeom>
          <a:noFill/>
          <a:ln>
            <a:noFill/>
          </a:ln>
        </p:spPr>
        <p:txBody>
          <a:bodyPr spcFirstLastPara="1" wrap="square" lIns="146300" tIns="91425" rIns="91425" bIns="45700" anchor="ctr" anchorCtr="0">
            <a:noAutofit/>
          </a:bodyPr>
          <a:lstStyle>
            <a:lvl1pPr marL="457200" lvl="0" indent="-228600" algn="l">
              <a:lnSpc>
                <a:spcPct val="100000"/>
              </a:lnSpc>
              <a:spcBef>
                <a:spcPts val="0"/>
              </a:spcBef>
              <a:spcAft>
                <a:spcPts val="0"/>
              </a:spcAft>
              <a:buSzPts val="1840"/>
              <a:buNone/>
              <a:defRPr sz="2300" b="1" cap="none"/>
            </a:lvl1pPr>
            <a:lvl2pPr marL="914400" lvl="1" indent="-228600" algn="l">
              <a:lnSpc>
                <a:spcPct val="100000"/>
              </a:lnSpc>
              <a:spcBef>
                <a:spcPts val="400"/>
              </a:spcBef>
              <a:spcAft>
                <a:spcPts val="0"/>
              </a:spcAft>
              <a:buSzPts val="18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2" name="Google Shape;52;p33"/>
          <p:cNvSpPr txBox="1">
            <a:spLocks noGrp="1"/>
          </p:cNvSpPr>
          <p:nvPr>
            <p:ph type="body" idx="4"/>
          </p:nvPr>
        </p:nvSpPr>
        <p:spPr>
          <a:xfrm>
            <a:off x="4645025" y="2449512"/>
            <a:ext cx="4041775" cy="3951288"/>
          </a:xfrm>
          <a:prstGeom prst="rect">
            <a:avLst/>
          </a:prstGeom>
          <a:noFill/>
          <a:ln>
            <a:noFill/>
          </a:ln>
        </p:spPr>
        <p:txBody>
          <a:bodyPr spcFirstLastPara="1" wrap="square" lIns="54850" tIns="91425" rIns="91425" bIns="45700" anchor="t" anchorCtr="0">
            <a:noAutofit/>
          </a:bodyPr>
          <a:lstStyle>
            <a:lvl1pPr marL="457200" lvl="0" indent="-350520" algn="l">
              <a:lnSpc>
                <a:spcPct val="100000"/>
              </a:lnSpc>
              <a:spcBef>
                <a:spcPts val="0"/>
              </a:spcBef>
              <a:spcAft>
                <a:spcPts val="0"/>
              </a:spcAft>
              <a:buSzPts val="1920"/>
              <a:buChar char="◼"/>
              <a:defRPr sz="2400"/>
            </a:lvl1pPr>
            <a:lvl2pPr marL="914400" lvl="1" indent="-342900" algn="l">
              <a:lnSpc>
                <a:spcPct val="100000"/>
              </a:lnSpc>
              <a:spcBef>
                <a:spcPts val="400"/>
              </a:spcBef>
              <a:spcAft>
                <a:spcPts val="0"/>
              </a:spcAft>
              <a:buSzPts val="18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3" name="Google Shape;53;p33"/>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3"/>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36"/>
          <p:cNvSpPr/>
          <p:nvPr/>
        </p:nvSpPr>
        <p:spPr>
          <a:xfrm>
            <a:off x="2855913" y="0"/>
            <a:ext cx="46037" cy="14541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8" name="Google Shape;58;p36"/>
          <p:cNvSpPr/>
          <p:nvPr/>
        </p:nvSpPr>
        <p:spPr>
          <a:xfrm>
            <a:off x="2855913" y="0"/>
            <a:ext cx="46037" cy="14541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9" name="Google Shape;59;p36"/>
          <p:cNvSpPr txBox="1">
            <a:spLocks noGrp="1"/>
          </p:cNvSpPr>
          <p:nvPr>
            <p:ph type="title"/>
          </p:nvPr>
        </p:nvSpPr>
        <p:spPr>
          <a:xfrm>
            <a:off x="167838" y="152400"/>
            <a:ext cx="2523744" cy="978408"/>
          </a:xfrm>
          <a:prstGeom prst="rect">
            <a:avLst/>
          </a:prstGeom>
          <a:noFill/>
          <a:ln>
            <a:noFill/>
          </a:ln>
        </p:spPr>
        <p:txBody>
          <a:bodyPr spcFirstLastPara="1" wrap="square" lIns="73150" tIns="45700" rIns="45700" bIns="0" anchor="b" anchorCtr="0">
            <a:normAutofit/>
          </a:bodyPr>
          <a:lstStyle>
            <a:lvl1pPr lvl="0" algn="l">
              <a:lnSpc>
                <a:spcPct val="100000"/>
              </a:lnSpc>
              <a:spcBef>
                <a:spcPts val="0"/>
              </a:spcBef>
              <a:spcAft>
                <a:spcPts val="0"/>
              </a:spcAft>
              <a:buSzPts val="1400"/>
              <a:buNone/>
              <a:defRPr sz="2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6"/>
          <p:cNvSpPr txBox="1">
            <a:spLocks noGrp="1"/>
          </p:cNvSpPr>
          <p:nvPr>
            <p:ph type="body" idx="1"/>
          </p:nvPr>
        </p:nvSpPr>
        <p:spPr>
          <a:xfrm>
            <a:off x="3019377" y="1743133"/>
            <a:ext cx="5920641" cy="4558885"/>
          </a:xfrm>
          <a:prstGeom prst="rect">
            <a:avLst/>
          </a:prstGeom>
          <a:noFill/>
          <a:ln>
            <a:noFill/>
          </a:ln>
        </p:spPr>
        <p:txBody>
          <a:bodyPr spcFirstLastPara="1" wrap="square" lIns="54850" tIns="91425" rIns="91425" bIns="45700" anchor="t" anchorCtr="0">
            <a:noAutofit/>
          </a:bodyPr>
          <a:lstStyle>
            <a:lvl1pPr marL="457200" lvl="0" indent="-391160" algn="l">
              <a:lnSpc>
                <a:spcPct val="100000"/>
              </a:lnSpc>
              <a:spcBef>
                <a:spcPts val="0"/>
              </a:spcBef>
              <a:spcAft>
                <a:spcPts val="0"/>
              </a:spcAft>
              <a:buSzPts val="2560"/>
              <a:buChar char="◼"/>
              <a:defRPr sz="3200"/>
            </a:lvl1pPr>
            <a:lvl2pPr marL="914400" lvl="1" indent="-388620" algn="l">
              <a:lnSpc>
                <a:spcPct val="100000"/>
              </a:lnSpc>
              <a:spcBef>
                <a:spcPts val="560"/>
              </a:spcBef>
              <a:spcAft>
                <a:spcPts val="0"/>
              </a:spcAft>
              <a:buSzPts val="252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61" name="Google Shape;61;p36"/>
          <p:cNvSpPr txBox="1">
            <a:spLocks noGrp="1"/>
          </p:cNvSpPr>
          <p:nvPr>
            <p:ph type="body" idx="2"/>
          </p:nvPr>
        </p:nvSpPr>
        <p:spPr>
          <a:xfrm>
            <a:off x="167838" y="1730018"/>
            <a:ext cx="2468880" cy="4572000"/>
          </a:xfrm>
          <a:prstGeom prst="rect">
            <a:avLst/>
          </a:prstGeom>
          <a:noFill/>
          <a:ln>
            <a:noFill/>
          </a:ln>
        </p:spPr>
        <p:txBody>
          <a:bodyPr spcFirstLastPara="1" wrap="square" lIns="54850" tIns="91425" rIns="91425" bIns="45700" anchor="t" anchorCtr="0">
            <a:no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240"/>
              </a:spcBef>
              <a:spcAft>
                <a:spcPts val="0"/>
              </a:spcAft>
              <a:buSzPts val="108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2" name="Google Shape;62;p36"/>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6"/>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6"/>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solidFill>
          <a:schemeClr val="lt2"/>
        </a:solidFill>
        <a:effectLst/>
      </p:bgPr>
    </p:bg>
    <p:spTree>
      <p:nvGrpSpPr>
        <p:cNvPr id="1" name="Shape 65"/>
        <p:cNvGrpSpPr/>
        <p:nvPr/>
      </p:nvGrpSpPr>
      <p:grpSpPr>
        <a:xfrm>
          <a:off x="0" y="0"/>
          <a:ext cx="0" cy="0"/>
          <a:chOff x="0" y="0"/>
          <a:chExt cx="0" cy="0"/>
        </a:xfrm>
      </p:grpSpPr>
      <p:sp>
        <p:nvSpPr>
          <p:cNvPr id="66" name="Google Shape;66;p37"/>
          <p:cNvSpPr/>
          <p:nvPr/>
        </p:nvSpPr>
        <p:spPr>
          <a:xfrm>
            <a:off x="2855913" y="0"/>
            <a:ext cx="46037"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 name="Google Shape;67;p37"/>
          <p:cNvSpPr/>
          <p:nvPr/>
        </p:nvSpPr>
        <p:spPr>
          <a:xfrm>
            <a:off x="2855913" y="0"/>
            <a:ext cx="46037"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8" name="Google Shape;68;p37"/>
          <p:cNvSpPr txBox="1">
            <a:spLocks noGrp="1"/>
          </p:cNvSpPr>
          <p:nvPr>
            <p:ph type="title"/>
          </p:nvPr>
        </p:nvSpPr>
        <p:spPr>
          <a:xfrm>
            <a:off x="164592" y="155448"/>
            <a:ext cx="2525150" cy="978408"/>
          </a:xfrm>
          <a:prstGeom prst="rect">
            <a:avLst/>
          </a:prstGeom>
          <a:noFill/>
          <a:ln>
            <a:noFill/>
          </a:ln>
        </p:spPr>
        <p:txBody>
          <a:bodyPr spcFirstLastPara="1" wrap="square" lIns="73150" tIns="45700" rIns="45700" bIns="0" anchor="b" anchorCtr="0">
            <a:normAutofit/>
          </a:bodyPr>
          <a:lstStyle>
            <a:lvl1pPr lvl="0" algn="l">
              <a:lnSpc>
                <a:spcPct val="100000"/>
              </a:lnSpc>
              <a:spcBef>
                <a:spcPts val="0"/>
              </a:spcBef>
              <a:spcAft>
                <a:spcPts val="0"/>
              </a:spcAft>
              <a:buSzPts val="1400"/>
              <a:buNone/>
              <a:defRPr sz="2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7"/>
          <p:cNvSpPr>
            <a:spLocks noGrp="1"/>
          </p:cNvSpPr>
          <p:nvPr>
            <p:ph type="pic" idx="2"/>
          </p:nvPr>
        </p:nvSpPr>
        <p:spPr>
          <a:xfrm>
            <a:off x="2903805" y="1484808"/>
            <a:ext cx="6247397" cy="5373192"/>
          </a:xfrm>
          <a:prstGeom prst="rect">
            <a:avLst/>
          </a:prstGeom>
          <a:solidFill>
            <a:srgbClr val="BABABB"/>
          </a:solidFill>
          <a:ln>
            <a:noFill/>
          </a:ln>
        </p:spPr>
      </p:sp>
      <p:sp>
        <p:nvSpPr>
          <p:cNvPr id="70" name="Google Shape;70;p37"/>
          <p:cNvSpPr txBox="1">
            <a:spLocks noGrp="1"/>
          </p:cNvSpPr>
          <p:nvPr>
            <p:ph type="body" idx="1"/>
          </p:nvPr>
        </p:nvSpPr>
        <p:spPr>
          <a:xfrm>
            <a:off x="164592" y="1728216"/>
            <a:ext cx="2468880" cy="4572000"/>
          </a:xfrm>
          <a:prstGeom prst="rect">
            <a:avLst/>
          </a:prstGeom>
          <a:noFill/>
          <a:ln>
            <a:noFill/>
          </a:ln>
        </p:spPr>
        <p:txBody>
          <a:bodyPr spcFirstLastPara="1" wrap="square" lIns="54850" tIns="91425" rIns="91425" bIns="45700" anchor="t" anchorCtr="0">
            <a:no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240"/>
              </a:spcBef>
              <a:spcAft>
                <a:spcPts val="0"/>
              </a:spcAft>
              <a:buSzPts val="108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1" name="Google Shape;71;p37"/>
          <p:cNvSpPr txBox="1">
            <a:spLocks noGrp="1"/>
          </p:cNvSpPr>
          <p:nvPr>
            <p:ph type="dt" idx="10"/>
          </p:nvPr>
        </p:nvSpPr>
        <p:spPr>
          <a:xfrm>
            <a:off x="165100" y="1169988"/>
            <a:ext cx="2522538" cy="201612"/>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7"/>
          <p:cNvSpPr txBox="1">
            <a:spLocks noGrp="1"/>
          </p:cNvSpPr>
          <p:nvPr>
            <p:ph type="ftr" idx="11"/>
          </p:nvPr>
        </p:nvSpPr>
        <p:spPr>
          <a:xfrm>
            <a:off x="3035300" y="1169988"/>
            <a:ext cx="5194300" cy="201612"/>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solidFill>
                  <a:srgbClr val="BABABA"/>
                </a:solidFill>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7"/>
          <p:cNvSpPr txBox="1">
            <a:spLocks noGrp="1"/>
          </p:cNvSpPr>
          <p:nvPr>
            <p:ph type="sldNum" idx="12"/>
          </p:nvPr>
        </p:nvSpPr>
        <p:spPr>
          <a:xfrm>
            <a:off x="8339138" y="1169988"/>
            <a:ext cx="733425" cy="201612"/>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38"/>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8"/>
          <p:cNvSpPr txBox="1">
            <a:spLocks noGrp="1"/>
          </p:cNvSpPr>
          <p:nvPr>
            <p:ph type="body" idx="1"/>
          </p:nvPr>
        </p:nvSpPr>
        <p:spPr>
          <a:xfrm rot="5400000">
            <a:off x="2259013" y="-26987"/>
            <a:ext cx="4625975" cy="8229600"/>
          </a:xfrm>
          <a:prstGeom prst="rect">
            <a:avLst/>
          </a:prstGeom>
          <a:noFill/>
          <a:ln>
            <a:noFill/>
          </a:ln>
        </p:spPr>
        <p:txBody>
          <a:bodyPr spcFirstLastPara="1" wrap="square" lIns="54850" tIns="91425"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31470" algn="l">
              <a:lnSpc>
                <a:spcPct val="100000"/>
              </a:lnSpc>
              <a:spcBef>
                <a:spcPts val="360"/>
              </a:spcBef>
              <a:spcAft>
                <a:spcPts val="0"/>
              </a:spcAft>
              <a:buSzPts val="162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7" name="Google Shape;77;p38"/>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8"/>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8"/>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39"/>
          <p:cNvSpPr/>
          <p:nvPr/>
        </p:nvSpPr>
        <p:spPr>
          <a:xfrm>
            <a:off x="6599238" y="0"/>
            <a:ext cx="46037" cy="6858000"/>
          </a:xfrm>
          <a:prstGeom prst="rect">
            <a:avLst/>
          </a:prstGeom>
          <a:solidFill>
            <a:srgbClr val="FFFFFF"/>
          </a:solidFill>
          <a:ln>
            <a:noFill/>
          </a:ln>
          <a:effectLst>
            <a:outerShdw blurRad="31750" dist="10160" dir="10800000" algn="tl" rotWithShape="0">
              <a:srgbClr val="000000">
                <a:alpha val="60000"/>
              </a:srgbClr>
            </a:outerShdw>
          </a:effectLst>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2" name="Google Shape;82;p39"/>
          <p:cNvSpPr/>
          <p:nvPr/>
        </p:nvSpPr>
        <p:spPr>
          <a:xfrm>
            <a:off x="6648450" y="0"/>
            <a:ext cx="25146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3" name="Google Shape;83;p39"/>
          <p:cNvSpPr txBox="1">
            <a:spLocks noGrp="1"/>
          </p:cNvSpPr>
          <p:nvPr>
            <p:ph type="title"/>
          </p:nvPr>
        </p:nvSpPr>
        <p:spPr>
          <a:xfrm rot="5400000">
            <a:off x="4808538" y="2247903"/>
            <a:ext cx="5851525" cy="190500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9"/>
          <p:cNvSpPr txBox="1">
            <a:spLocks noGrp="1"/>
          </p:cNvSpPr>
          <p:nvPr>
            <p:ph type="body" idx="1"/>
          </p:nvPr>
        </p:nvSpPr>
        <p:spPr>
          <a:xfrm rot="5400000">
            <a:off x="541338" y="220662"/>
            <a:ext cx="5851525" cy="6019800"/>
          </a:xfrm>
          <a:prstGeom prst="rect">
            <a:avLst/>
          </a:prstGeom>
          <a:noFill/>
          <a:ln>
            <a:noFill/>
          </a:ln>
        </p:spPr>
        <p:txBody>
          <a:bodyPr spcFirstLastPara="1" wrap="square" lIns="54850" tIns="91425"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31470" algn="l">
              <a:lnSpc>
                <a:spcPct val="100000"/>
              </a:lnSpc>
              <a:spcBef>
                <a:spcPts val="360"/>
              </a:spcBef>
              <a:spcAft>
                <a:spcPts val="0"/>
              </a:spcAft>
              <a:buSzPts val="162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5" name="Google Shape;85;p39"/>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9"/>
          <p:cNvSpPr txBox="1">
            <a:spLocks noGrp="1"/>
          </p:cNvSpPr>
          <p:nvPr>
            <p:ph type="ftr" idx="11"/>
          </p:nvPr>
        </p:nvSpPr>
        <p:spPr>
          <a:xfrm>
            <a:off x="2640013" y="6376988"/>
            <a:ext cx="3836987" cy="365125"/>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9"/>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p:nvPr/>
        </p:nvSpPr>
        <p:spPr>
          <a:xfrm>
            <a:off x="0" y="1436688"/>
            <a:ext cx="9144000" cy="44450"/>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 name="Google Shape;11;p26"/>
          <p:cNvSpPr/>
          <p:nvPr/>
        </p:nvSpPr>
        <p:spPr>
          <a:xfrm>
            <a:off x="0" y="0"/>
            <a:ext cx="9144000" cy="1433513"/>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 name="Google Shape;12;p26"/>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9pPr>
          </a:lstStyle>
          <a:p>
            <a:endParaRPr/>
          </a:p>
        </p:txBody>
      </p:sp>
      <p:sp>
        <p:nvSpPr>
          <p:cNvPr id="13" name="Google Shape;13;p26"/>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lnSpc>
                <a:spcPct val="100000"/>
              </a:lnSpc>
              <a:spcBef>
                <a:spcPts val="0"/>
              </a:spcBef>
              <a:spcAft>
                <a:spcPts val="0"/>
              </a:spcAft>
              <a:buClr>
                <a:schemeClr val="accent1"/>
              </a:buClr>
              <a:buSzPts val="2560"/>
              <a:buFont typeface="Noto Sans Symbols"/>
              <a:buChar char="◼"/>
              <a:defRPr sz="3200" b="0" i="0" u="none" strike="noStrike" cap="none">
                <a:solidFill>
                  <a:schemeClr val="dk1"/>
                </a:solidFill>
                <a:latin typeface="Corbel"/>
                <a:ea typeface="Corbel"/>
                <a:cs typeface="Corbel"/>
                <a:sym typeface="Corbel"/>
              </a:defRPr>
            </a:lvl1pPr>
            <a:lvl2pPr marL="914400" marR="0" lvl="1" indent="-388620" algn="l" rtl="0">
              <a:lnSpc>
                <a:spcPct val="100000"/>
              </a:lnSpc>
              <a:spcBef>
                <a:spcPts val="560"/>
              </a:spcBef>
              <a:spcAft>
                <a:spcPts val="0"/>
              </a:spcAft>
              <a:buClr>
                <a:schemeClr val="accent2"/>
              </a:buClr>
              <a:buSzPts val="2520"/>
              <a:buFont typeface="Noto Sans Symbols"/>
              <a:buChar char="▪"/>
              <a:defRPr sz="2800" b="0" i="0" u="none" strike="noStrike" cap="none">
                <a:solidFill>
                  <a:schemeClr val="dk1"/>
                </a:solidFill>
                <a:latin typeface="Corbel"/>
                <a:ea typeface="Corbel"/>
                <a:cs typeface="Corbel"/>
                <a:sym typeface="Corbel"/>
              </a:defRPr>
            </a:lvl2pPr>
            <a:lvl3pPr marL="1371600" marR="0" lvl="2" indent="-381000" algn="l" rtl="0">
              <a:lnSpc>
                <a:spcPct val="100000"/>
              </a:lnSpc>
              <a:spcBef>
                <a:spcPts val="480"/>
              </a:spcBef>
              <a:spcAft>
                <a:spcPts val="0"/>
              </a:spcAft>
              <a:buClr>
                <a:srgbClr val="E66C7D"/>
              </a:buClr>
              <a:buSzPts val="2400"/>
              <a:buFont typeface="Arial"/>
              <a:buChar char="▪"/>
              <a:defRPr sz="2400" b="0" i="0" u="none" strike="noStrike" cap="none">
                <a:solidFill>
                  <a:schemeClr val="dk1"/>
                </a:solidFill>
                <a:latin typeface="Corbel"/>
                <a:ea typeface="Corbel"/>
                <a:cs typeface="Corbel"/>
                <a:sym typeface="Corbel"/>
              </a:defRPr>
            </a:lvl3pPr>
            <a:lvl4pPr marL="1828800" marR="0" lvl="3" indent="-355600" algn="l" rtl="0">
              <a:lnSpc>
                <a:spcPct val="100000"/>
              </a:lnSpc>
              <a:spcBef>
                <a:spcPts val="400"/>
              </a:spcBef>
              <a:spcAft>
                <a:spcPts val="0"/>
              </a:spcAft>
              <a:buClr>
                <a:srgbClr val="6BB76D"/>
              </a:buClr>
              <a:buSzPts val="2000"/>
              <a:buFont typeface="Arial"/>
              <a:buChar char="▪"/>
              <a:defRPr sz="2000" b="0" i="0" u="none" strike="noStrike" cap="none">
                <a:solidFill>
                  <a:schemeClr val="dk1"/>
                </a:solidFill>
                <a:latin typeface="Corbel"/>
                <a:ea typeface="Corbel"/>
                <a:cs typeface="Corbel"/>
                <a:sym typeface="Corbel"/>
              </a:defRPr>
            </a:lvl4pPr>
            <a:lvl5pPr marL="2286000" marR="0" lvl="4" indent="-355600" algn="l" rtl="0">
              <a:lnSpc>
                <a:spcPct val="100000"/>
              </a:lnSpc>
              <a:spcBef>
                <a:spcPts val="400"/>
              </a:spcBef>
              <a:spcAft>
                <a:spcPts val="0"/>
              </a:spcAft>
              <a:buClr>
                <a:srgbClr val="E88651"/>
              </a:buClr>
              <a:buSzPts val="2000"/>
              <a:buFont typeface="Noto Sans Symbols"/>
              <a:buChar char="🢝"/>
              <a:defRPr sz="2000" b="0" i="0" u="none" strike="noStrike" cap="none">
                <a:solidFill>
                  <a:schemeClr val="dk1"/>
                </a:solidFill>
                <a:latin typeface="Corbel"/>
                <a:ea typeface="Corbel"/>
                <a:cs typeface="Corbel"/>
                <a:sym typeface="Corbel"/>
              </a:defRPr>
            </a:lvl5pPr>
            <a:lvl6pPr marL="2743200" marR="0" lvl="5"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Corbel"/>
                <a:ea typeface="Corbel"/>
                <a:cs typeface="Corbel"/>
                <a:sym typeface="Corbel"/>
              </a:defRPr>
            </a:lvl6pPr>
            <a:lvl7pPr marL="3200400" marR="0" lvl="6"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dk1"/>
                </a:solidFill>
                <a:latin typeface="Corbel"/>
                <a:ea typeface="Corbel"/>
                <a:cs typeface="Corbel"/>
                <a:sym typeface="Corbel"/>
              </a:defRPr>
            </a:lvl7pPr>
            <a:lvl8pPr marL="3657600" marR="0" lvl="7" indent="-342900" algn="l" rtl="0">
              <a:lnSpc>
                <a:spcPct val="100000"/>
              </a:lnSpc>
              <a:spcBef>
                <a:spcPts val="360"/>
              </a:spcBef>
              <a:spcAft>
                <a:spcPts val="0"/>
              </a:spcAft>
              <a:buClr>
                <a:schemeClr val="accent2"/>
              </a:buClr>
              <a:buSzPts val="1800"/>
              <a:buFont typeface="Noto Sans Symbols"/>
              <a:buChar char="●"/>
              <a:defRPr sz="1800" b="0" i="0" u="none" strike="noStrike" cap="none">
                <a:solidFill>
                  <a:schemeClr val="dk1"/>
                </a:solidFill>
                <a:latin typeface="Corbel"/>
                <a:ea typeface="Corbel"/>
                <a:cs typeface="Corbel"/>
                <a:sym typeface="Corbel"/>
              </a:defRPr>
            </a:lvl8pPr>
            <a:lvl9pPr marL="4114800" marR="0" lvl="8" indent="-342900" algn="l" rtl="0">
              <a:lnSpc>
                <a:spcPct val="100000"/>
              </a:lnSpc>
              <a:spcBef>
                <a:spcPts val="360"/>
              </a:spcBef>
              <a:spcAft>
                <a:spcPts val="0"/>
              </a:spcAft>
              <a:buClr>
                <a:schemeClr val="accent3"/>
              </a:buClr>
              <a:buSzPts val="1800"/>
              <a:buFont typeface="Noto Sans Symbols"/>
              <a:buChar char="●"/>
              <a:defRPr sz="1800" b="0" i="0" u="none" strike="noStrike" cap="none">
                <a:solidFill>
                  <a:schemeClr val="dk1"/>
                </a:solidFill>
                <a:latin typeface="Corbel"/>
                <a:ea typeface="Corbel"/>
                <a:cs typeface="Corbel"/>
                <a:sym typeface="Corbel"/>
              </a:defRPr>
            </a:lvl9pPr>
          </a:lstStyle>
          <a:p>
            <a:endParaRPr/>
          </a:p>
        </p:txBody>
      </p:sp>
      <p:sp>
        <p:nvSpPr>
          <p:cNvPr id="14" name="Google Shape;14;p26"/>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rgbClr val="41414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 name="Google Shape;15;p26"/>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rgbClr val="41414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 name="Google Shape;16;p26"/>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g"/><Relationship Id="rId3" Type="http://schemas.openxmlformats.org/officeDocument/2006/relationships/image" Target="../media/image1.jpg"/><Relationship Id="rId7" Type="http://schemas.openxmlformats.org/officeDocument/2006/relationships/image" Target="../media/image5.jp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11" Type="http://schemas.openxmlformats.org/officeDocument/2006/relationships/image" Target="../media/image9.pn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hyperlink" Target="https://www.youtube.com/watch?v=5tJPXYA0Nec"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4.jp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moodle.sapir.ac.il/2026/"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40" title="Light Invariant Video Imaging (LIVI)  Demo"/>
          <p:cNvPicPr preferRelativeResize="0"/>
          <p:nvPr/>
        </p:nvPicPr>
        <p:blipFill rotWithShape="1">
          <a:blip r:embed="rId3">
            <a:alphaModFix/>
          </a:blip>
          <a:srcRect/>
          <a:stretch/>
        </p:blipFill>
        <p:spPr>
          <a:xfrm>
            <a:off x="-1656" y="-13094"/>
            <a:ext cx="3075782" cy="1737821"/>
          </a:xfrm>
          <a:prstGeom prst="rect">
            <a:avLst/>
          </a:prstGeom>
          <a:noFill/>
          <a:ln>
            <a:noFill/>
          </a:ln>
        </p:spPr>
      </p:pic>
      <p:pic>
        <p:nvPicPr>
          <p:cNvPr id="94" name="Google Shape;94;p40" title="Laboratory of Autonomous Robotics (LAR) at Channel 1 IBA Weekend Diary"/>
          <p:cNvPicPr preferRelativeResize="0"/>
          <p:nvPr/>
        </p:nvPicPr>
        <p:blipFill rotWithShape="1">
          <a:blip r:embed="rId4">
            <a:alphaModFix/>
          </a:blip>
          <a:srcRect/>
          <a:stretch/>
        </p:blipFill>
        <p:spPr>
          <a:xfrm>
            <a:off x="-1656" y="4772885"/>
            <a:ext cx="3611124" cy="2040290"/>
          </a:xfrm>
          <a:prstGeom prst="rect">
            <a:avLst/>
          </a:prstGeom>
          <a:noFill/>
          <a:ln>
            <a:noFill/>
          </a:ln>
        </p:spPr>
      </p:pic>
      <p:pic>
        <p:nvPicPr>
          <p:cNvPr id="95" name="Google Shape;95;p40" title="QuadSight Vision System Technological Capabilities"/>
          <p:cNvPicPr preferRelativeResize="0"/>
          <p:nvPr/>
        </p:nvPicPr>
        <p:blipFill rotWithShape="1">
          <a:blip r:embed="rId5">
            <a:alphaModFix/>
          </a:blip>
          <a:srcRect/>
          <a:stretch/>
        </p:blipFill>
        <p:spPr>
          <a:xfrm>
            <a:off x="5893554" y="18419"/>
            <a:ext cx="3220949" cy="1819840"/>
          </a:xfrm>
          <a:prstGeom prst="rect">
            <a:avLst/>
          </a:prstGeom>
          <a:noFill/>
          <a:ln>
            <a:noFill/>
          </a:ln>
        </p:spPr>
      </p:pic>
      <p:pic>
        <p:nvPicPr>
          <p:cNvPr id="96" name="Google Shape;96;p40" title="VLSI Center BGU2"/>
          <p:cNvPicPr preferRelativeResize="0"/>
          <p:nvPr/>
        </p:nvPicPr>
        <p:blipFill rotWithShape="1">
          <a:blip r:embed="rId6">
            <a:alphaModFix/>
          </a:blip>
          <a:srcRect/>
          <a:stretch/>
        </p:blipFill>
        <p:spPr>
          <a:xfrm>
            <a:off x="-1656" y="1934168"/>
            <a:ext cx="2720387" cy="2040290"/>
          </a:xfrm>
          <a:prstGeom prst="rect">
            <a:avLst/>
          </a:prstGeom>
          <a:noFill/>
          <a:ln>
            <a:noFill/>
          </a:ln>
        </p:spPr>
      </p:pic>
      <p:pic>
        <p:nvPicPr>
          <p:cNvPr id="97" name="Google Shape;97;p40" title="Perceptual Computing: Molecual"/>
          <p:cNvPicPr preferRelativeResize="0"/>
          <p:nvPr/>
        </p:nvPicPr>
        <p:blipFill rotWithShape="1">
          <a:blip r:embed="rId7">
            <a:alphaModFix/>
          </a:blip>
          <a:srcRect/>
          <a:stretch/>
        </p:blipFill>
        <p:spPr>
          <a:xfrm>
            <a:off x="5656827" y="2299788"/>
            <a:ext cx="3573640" cy="2019111"/>
          </a:xfrm>
          <a:prstGeom prst="rect">
            <a:avLst/>
          </a:prstGeom>
          <a:noFill/>
          <a:ln>
            <a:noFill/>
          </a:ln>
        </p:spPr>
      </p:pic>
      <p:pic>
        <p:nvPicPr>
          <p:cNvPr id="98" name="Google Shape;98;p40" descr="תמונה שמכילה לוגו, גופן, גרפיקה, עיגול&#10;&#10;התיאור נוצר באופן אוטומטי"/>
          <p:cNvPicPr preferRelativeResize="0"/>
          <p:nvPr/>
        </p:nvPicPr>
        <p:blipFill rotWithShape="1">
          <a:blip r:embed="rId8">
            <a:alphaModFix/>
          </a:blip>
          <a:srcRect/>
          <a:stretch/>
        </p:blipFill>
        <p:spPr>
          <a:xfrm>
            <a:off x="6992060" y="3681257"/>
            <a:ext cx="903174" cy="599059"/>
          </a:xfrm>
          <a:prstGeom prst="rect">
            <a:avLst/>
          </a:prstGeom>
          <a:noFill/>
          <a:ln>
            <a:noFill/>
          </a:ln>
        </p:spPr>
      </p:pic>
      <p:sp>
        <p:nvSpPr>
          <p:cNvPr id="99" name="Google Shape;99;p40"/>
          <p:cNvSpPr txBox="1"/>
          <p:nvPr/>
        </p:nvSpPr>
        <p:spPr>
          <a:xfrm>
            <a:off x="3074126" y="-152248"/>
            <a:ext cx="3190323"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4200" b="0" i="0" u="none" strike="noStrike" cap="none">
                <a:solidFill>
                  <a:srgbClr val="000000"/>
                </a:solidFill>
                <a:latin typeface="Arial"/>
                <a:ea typeface="Arial"/>
                <a:cs typeface="Arial"/>
                <a:sym typeface="Arial"/>
              </a:rPr>
              <a:t>10~  YEARS INDUSTRY</a:t>
            </a:r>
            <a:endParaRPr/>
          </a:p>
        </p:txBody>
      </p:sp>
      <p:sp>
        <p:nvSpPr>
          <p:cNvPr id="100" name="Google Shape;100;p40"/>
          <p:cNvSpPr txBox="1"/>
          <p:nvPr/>
        </p:nvSpPr>
        <p:spPr>
          <a:xfrm>
            <a:off x="3588186" y="4280316"/>
            <a:ext cx="3116893"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4200" b="0" i="0" u="none" strike="noStrike" cap="none">
                <a:solidFill>
                  <a:srgbClr val="000000"/>
                </a:solidFill>
                <a:latin typeface="Arial"/>
                <a:ea typeface="Arial"/>
                <a:cs typeface="Arial"/>
                <a:sym typeface="Arial"/>
              </a:rPr>
              <a:t>10~  YEARS ACADEMIA</a:t>
            </a:r>
            <a:endParaRPr/>
          </a:p>
        </p:txBody>
      </p:sp>
      <p:sp>
        <p:nvSpPr>
          <p:cNvPr id="101" name="Google Shape;101;p40"/>
          <p:cNvSpPr/>
          <p:nvPr/>
        </p:nvSpPr>
        <p:spPr>
          <a:xfrm>
            <a:off x="3503683" y="1702998"/>
            <a:ext cx="2530257" cy="488866"/>
          </a:xfrm>
          <a:prstGeom prst="rightArrow">
            <a:avLst>
              <a:gd name="adj1" fmla="val 50000"/>
              <a:gd name="adj2" fmla="val 50000"/>
            </a:avLst>
          </a:prstGeom>
          <a:solidFill>
            <a:schemeClr val="accent1"/>
          </a:solidFill>
          <a:ln w="25400" cap="flat" cmpd="sng">
            <a:solidFill>
              <a:srgbClr val="654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 name="Google Shape;102;p40"/>
          <p:cNvSpPr/>
          <p:nvPr/>
        </p:nvSpPr>
        <p:spPr>
          <a:xfrm rot="10800000">
            <a:off x="3609468" y="6272194"/>
            <a:ext cx="2530257" cy="488866"/>
          </a:xfrm>
          <a:prstGeom prst="rightArrow">
            <a:avLst>
              <a:gd name="adj1" fmla="val 50000"/>
              <a:gd name="adj2" fmla="val 50000"/>
            </a:avLst>
          </a:prstGeom>
          <a:solidFill>
            <a:schemeClr val="accent1"/>
          </a:solidFill>
          <a:ln w="25400" cap="flat" cmpd="sng">
            <a:solidFill>
              <a:srgbClr val="654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03" name="Google Shape;103;p40" descr="תמונה שמכילה לבוש, איש, אדם, בתוך מבנה&#10;&#10;התיאור נוצר באופן אוטומטי"/>
          <p:cNvPicPr preferRelativeResize="0"/>
          <p:nvPr/>
        </p:nvPicPr>
        <p:blipFill rotWithShape="1">
          <a:blip r:embed="rId9">
            <a:alphaModFix/>
          </a:blip>
          <a:srcRect l="60924" t="9540" r="7004"/>
          <a:stretch/>
        </p:blipFill>
        <p:spPr>
          <a:xfrm>
            <a:off x="3730104" y="2078719"/>
            <a:ext cx="1390316" cy="2211201"/>
          </a:xfrm>
          <a:prstGeom prst="rect">
            <a:avLst/>
          </a:prstGeom>
          <a:noFill/>
          <a:ln>
            <a:noFill/>
          </a:ln>
        </p:spPr>
      </p:pic>
      <p:pic>
        <p:nvPicPr>
          <p:cNvPr id="104" name="Google Shape;104;p40" title="Elbit System's HattoriX -  passive/active target acquisition systems  #military #defence"/>
          <p:cNvPicPr preferRelativeResize="0"/>
          <p:nvPr/>
        </p:nvPicPr>
        <p:blipFill rotWithShape="1">
          <a:blip r:embed="rId10">
            <a:alphaModFix/>
          </a:blip>
          <a:srcRect/>
          <a:stretch/>
        </p:blipFill>
        <p:spPr>
          <a:xfrm>
            <a:off x="7300324" y="4384488"/>
            <a:ext cx="1324767" cy="2344529"/>
          </a:xfrm>
          <a:prstGeom prst="rect">
            <a:avLst/>
          </a:prstGeom>
          <a:noFill/>
          <a:ln>
            <a:noFill/>
          </a:ln>
        </p:spPr>
      </p:pic>
      <p:pic>
        <p:nvPicPr>
          <p:cNvPr id="105" name="Google Shape;105;p40" descr="תמונה שמכילה גופן, גרפיקה, לוגו, עיצוב גרפי&#10;&#10;התיאור נוצר באופן אוטומטי"/>
          <p:cNvPicPr preferRelativeResize="0"/>
          <p:nvPr/>
        </p:nvPicPr>
        <p:blipFill rotWithShape="1">
          <a:blip r:embed="rId11">
            <a:alphaModFix/>
          </a:blip>
          <a:srcRect/>
          <a:stretch/>
        </p:blipFill>
        <p:spPr>
          <a:xfrm>
            <a:off x="6077886" y="1577434"/>
            <a:ext cx="2893826" cy="528151"/>
          </a:xfrm>
          <a:prstGeom prst="rect">
            <a:avLst/>
          </a:prstGeom>
          <a:noFill/>
          <a:ln>
            <a:noFill/>
          </a:ln>
        </p:spPr>
      </p:pic>
      <p:pic>
        <p:nvPicPr>
          <p:cNvPr id="106" name="Google Shape;106;p40" descr="תמונה שמכילה גופן, לוגו, כחול חשמלי, לבן&#10;&#10;התיאור נוצר באופן אוטומטי"/>
          <p:cNvPicPr preferRelativeResize="0"/>
          <p:nvPr/>
        </p:nvPicPr>
        <p:blipFill rotWithShape="1">
          <a:blip r:embed="rId12">
            <a:alphaModFix/>
          </a:blip>
          <a:srcRect t="29274" b="33069"/>
          <a:stretch/>
        </p:blipFill>
        <p:spPr>
          <a:xfrm>
            <a:off x="7338571" y="6213650"/>
            <a:ext cx="1248272" cy="470055"/>
          </a:xfrm>
          <a:prstGeom prst="rect">
            <a:avLst/>
          </a:prstGeom>
          <a:noFill/>
          <a:ln>
            <a:noFill/>
          </a:ln>
        </p:spPr>
      </p:pic>
      <p:pic>
        <p:nvPicPr>
          <p:cNvPr id="107" name="Google Shape;107;p40" descr="תמונה שמכילה לוגו, סמל, סימן, סימן מסחרי&#10;&#10;התיאור נוצר באופן אוטומטי"/>
          <p:cNvPicPr preferRelativeResize="0"/>
          <p:nvPr/>
        </p:nvPicPr>
        <p:blipFill rotWithShape="1">
          <a:blip r:embed="rId13">
            <a:alphaModFix/>
          </a:blip>
          <a:srcRect l="13925" t="8731" r="15102" b="13845"/>
          <a:stretch/>
        </p:blipFill>
        <p:spPr>
          <a:xfrm>
            <a:off x="2718731" y="2412481"/>
            <a:ext cx="931817" cy="10165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a:t>
            </a:fld>
            <a:endParaRPr/>
          </a:p>
        </p:txBody>
      </p:sp>
      <p:pic>
        <p:nvPicPr>
          <p:cNvPr id="113" name="Google Shape;113;p41"/>
          <p:cNvPicPr preferRelativeResize="0"/>
          <p:nvPr/>
        </p:nvPicPr>
        <p:blipFill rotWithShape="1">
          <a:blip r:embed="rId3">
            <a:alphaModFix/>
          </a:blip>
          <a:srcRect/>
          <a:stretch/>
        </p:blipFill>
        <p:spPr>
          <a:xfrm>
            <a:off x="-9144" y="738378"/>
            <a:ext cx="9144000" cy="5143500"/>
          </a:xfrm>
          <a:prstGeom prst="rect">
            <a:avLst/>
          </a:prstGeom>
          <a:noFill/>
          <a:ln>
            <a:noFill/>
          </a:ln>
        </p:spPr>
      </p:pic>
      <p:sp>
        <p:nvSpPr>
          <p:cNvPr id="114" name="Google Shape;114;p41"/>
          <p:cNvSpPr/>
          <p:nvPr/>
        </p:nvSpPr>
        <p:spPr>
          <a:xfrm>
            <a:off x="3255265" y="2336398"/>
            <a:ext cx="3256410" cy="1754326"/>
          </a:xfrm>
          <a:prstGeom prst="rect">
            <a:avLst/>
          </a:prstGeom>
          <a:solidFill>
            <a:schemeClr val="dk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5400" b="1" i="0" u="none" strike="noStrike" cap="none">
                <a:solidFill>
                  <a:srgbClr val="FFFFFF"/>
                </a:solidFill>
                <a:latin typeface="Arial"/>
                <a:ea typeface="Arial"/>
                <a:cs typeface="Arial"/>
                <a:sym typeface="Arial"/>
              </a:rPr>
              <a:t>מערכות ספרתיות</a:t>
            </a:r>
            <a:endParaRPr/>
          </a:p>
        </p:txBody>
      </p:sp>
      <p:sp>
        <p:nvSpPr>
          <p:cNvPr id="115" name="Google Shape;115;p41"/>
          <p:cNvSpPr/>
          <p:nvPr/>
        </p:nvSpPr>
        <p:spPr>
          <a:xfrm>
            <a:off x="3255265" y="2336398"/>
            <a:ext cx="3256410"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5400" b="1" i="0" u="none" strike="noStrike" cap="none">
                <a:solidFill>
                  <a:srgbClr val="FFFFFF"/>
                </a:solidFill>
                <a:latin typeface="Arial"/>
                <a:ea typeface="Arial"/>
                <a:cs typeface="Arial"/>
                <a:sym typeface="Arial"/>
              </a:rPr>
              <a:t>מערכות ספרתיות</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0"/>
                                        <p:tgtEl>
                                          <p:spTgt spid="113"/>
                                        </p:tgtEl>
                                      </p:cBhvr>
                                    </p:animEffect>
                                  </p:childTnLst>
                                </p:cTn>
                              </p:par>
                              <p:par>
                                <p:cTn id="8" presetID="1" presetClass="entr" presetSubtype="0" fill="hold" nodeType="withEffect">
                                  <p:stCondLst>
                                    <p:cond delay="34000"/>
                                  </p:stCondLst>
                                  <p:childTnLst>
                                    <p:set>
                                      <p:cBhvr>
                                        <p:cTn id="9" dur="1" fill="hold">
                                          <p:stCondLst>
                                            <p:cond delay="0"/>
                                          </p:stCondLst>
                                        </p:cTn>
                                        <p:tgtEl>
                                          <p:spTgt spid="114"/>
                                        </p:tgtEl>
                                        <p:attrNameLst>
                                          <p:attrName>style.visibility</p:attrName>
                                        </p:attrNameLst>
                                      </p:cBhvr>
                                      <p:to>
                                        <p:strVal val="visible"/>
                                      </p:to>
                                    </p:set>
                                  </p:childTnLst>
                                </p:cTn>
                              </p:par>
                            </p:childTnLst>
                          </p:cTn>
                        </p:par>
                        <p:par>
                          <p:cTn id="10" fill="hold">
                            <p:stCondLst>
                              <p:cond delay="5000"/>
                            </p:stCondLst>
                            <p:childTnLst>
                              <p:par>
                                <p:cTn id="11" presetID="1" presetClass="exit" presetSubtype="0" fill="hold" nodeType="afterEffect">
                                  <p:stCondLst>
                                    <p:cond delay="37000"/>
                                  </p:stCondLst>
                                  <p:childTnLst>
                                    <p:set>
                                      <p:cBhvr>
                                        <p:cTn id="12" dur="1" fill="hold">
                                          <p:stCondLst>
                                            <p:cond delay="1"/>
                                          </p:stCondLst>
                                        </p:cTn>
                                        <p:tgtEl>
                                          <p:spTgt spid="114"/>
                                        </p:tgtEl>
                                        <p:attrNameLst>
                                          <p:attrName>style.visibility</p:attrName>
                                        </p:attrNameLst>
                                      </p:cBhvr>
                                      <p:to>
                                        <p:strVal val="hidden"/>
                                      </p:to>
                                    </p:set>
                                  </p:childTnLst>
                                </p:cTn>
                              </p:par>
                              <p:par>
                                <p:cTn id="13" presetID="1" presetClass="entr" presetSubtype="0" fill="hold" nodeType="withEffect">
                                  <p:stCondLst>
                                    <p:cond delay="37000"/>
                                  </p:stCondLst>
                                  <p:childTnLst>
                                    <p:set>
                                      <p:cBhvr>
                                        <p:cTn id="14" dur="1" fill="hold">
                                          <p:stCondLst>
                                            <p:cond delay="0"/>
                                          </p:stCondLst>
                                        </p:cTn>
                                        <p:tgtEl>
                                          <p:spTgt spid="115"/>
                                        </p:tgtEl>
                                        <p:attrNameLst>
                                          <p:attrName>style.visibility</p:attrName>
                                        </p:attrNameLst>
                                      </p:cBhvr>
                                      <p:to>
                                        <p:strVal val="visible"/>
                                      </p:to>
                                    </p:set>
                                  </p:childTnLst>
                                </p:cTn>
                              </p:par>
                              <p:par>
                                <p:cTn id="15" presetID="8" presetClass="emph" presetSubtype="0" fill="hold" nodeType="withEffect">
                                  <p:stCondLst>
                                    <p:cond delay="37000"/>
                                  </p:stCondLst>
                                  <p:childTnLst>
                                    <p:animRot by="-21600000">
                                      <p:cBhvr>
                                        <p:cTn id="16" dur="5000" fill="hold"/>
                                        <p:tgtEl>
                                          <p:spTgt spid="115"/>
                                        </p:tgtEl>
                                        <p:attrNameLst>
                                          <p:attrName>r</p:attrName>
                                        </p:attrNameLst>
                                      </p:cBhvr>
                                    </p:animRot>
                                  </p:childTnLst>
                                </p:cTn>
                              </p:par>
                              <p:par>
                                <p:cTn id="17" presetID="1" presetClass="exit" presetSubtype="0" fill="hold" nodeType="withEffect">
                                  <p:stCondLst>
                                    <p:cond delay="42000"/>
                                  </p:stCondLst>
                                  <p:childTnLst>
                                    <p:set>
                                      <p:cBhvr>
                                        <p:cTn id="18" dur="1" fill="hold">
                                          <p:stCondLst>
                                            <p:cond delay="1"/>
                                          </p:stCondLst>
                                        </p:cTn>
                                        <p:tgtEl>
                                          <p:spTgt spid="1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ctr" rtl="0">
              <a:lnSpc>
                <a:spcPct val="100000"/>
              </a:lnSpc>
              <a:spcBef>
                <a:spcPts val="0"/>
              </a:spcBef>
              <a:spcAft>
                <a:spcPts val="0"/>
              </a:spcAft>
              <a:buSzPts val="1400"/>
              <a:buNone/>
            </a:pPr>
            <a:r>
              <a:rPr lang="iw-IL"/>
              <a:t>Numerical Systems</a:t>
            </a:r>
            <a:br>
              <a:rPr lang="iw-IL"/>
            </a:br>
            <a:r>
              <a:rPr lang="iw-IL"/>
              <a:t>מערכות ספרתיות</a:t>
            </a:r>
            <a:endParaRPr/>
          </a:p>
        </p:txBody>
      </p:sp>
      <p:sp>
        <p:nvSpPr>
          <p:cNvPr id="121" name="Google Shape;121;p1"/>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p>
            <a:pPr marL="457200" lvl="0" indent="-391160" algn="l" rtl="0">
              <a:lnSpc>
                <a:spcPct val="100000"/>
              </a:lnSpc>
              <a:spcBef>
                <a:spcPts val="0"/>
              </a:spcBef>
              <a:spcAft>
                <a:spcPts val="0"/>
              </a:spcAft>
              <a:buSzPts val="1600"/>
              <a:buNone/>
            </a:pPr>
            <a:endParaRPr/>
          </a:p>
        </p:txBody>
      </p:sp>
      <p:sp>
        <p:nvSpPr>
          <p:cNvPr id="122" name="Google Shape;122;p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a:t>
            </a:fld>
            <a:endParaRPr/>
          </a:p>
        </p:txBody>
      </p:sp>
      <p:pic>
        <p:nvPicPr>
          <p:cNvPr id="123" name="Google Shape;123;p1" descr="תמונה שמכילה צילום מסך, טקסט, חשיכה, גרפיקה&#10;&#10;תוכן בינה מלאכותית גנרטיבית עשוי להיות שגוי."/>
          <p:cNvPicPr preferRelativeResize="0"/>
          <p:nvPr/>
        </p:nvPicPr>
        <p:blipFill rotWithShape="1">
          <a:blip r:embed="rId3">
            <a:alphaModFix/>
          </a:blip>
          <a:srcRect/>
          <a:stretch/>
        </p:blipFill>
        <p:spPr>
          <a:xfrm>
            <a:off x="0" y="23107"/>
            <a:ext cx="9144000" cy="51110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תוכן עניינים  </a:t>
            </a:r>
            <a:endParaRPr/>
          </a:p>
        </p:txBody>
      </p:sp>
      <p:sp>
        <p:nvSpPr>
          <p:cNvPr id="129" name="Google Shape;129;p2"/>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lvl="0" indent="-319088" algn="r" rtl="1">
              <a:lnSpc>
                <a:spcPct val="100000"/>
              </a:lnSpc>
              <a:spcBef>
                <a:spcPts val="0"/>
              </a:spcBef>
              <a:spcAft>
                <a:spcPts val="0"/>
              </a:spcAft>
              <a:buSzPts val="2560"/>
              <a:buChar char="◼"/>
            </a:pPr>
            <a:r>
              <a:rPr lang="iw-IL"/>
              <a:t>למה צריך את זה?</a:t>
            </a:r>
            <a:endParaRPr/>
          </a:p>
          <a:p>
            <a:pPr marL="438150" lvl="0" indent="-319088" algn="r" rtl="1">
              <a:lnSpc>
                <a:spcPct val="100000"/>
              </a:lnSpc>
              <a:spcBef>
                <a:spcPts val="0"/>
              </a:spcBef>
              <a:spcAft>
                <a:spcPts val="0"/>
              </a:spcAft>
              <a:buSzPts val="2560"/>
              <a:buChar char="◼"/>
            </a:pPr>
            <a:r>
              <a:rPr lang="iw-IL"/>
              <a:t>מה נלמד בקורס?</a:t>
            </a:r>
            <a:endParaRPr/>
          </a:p>
          <a:p>
            <a:pPr marL="438150" lvl="0" indent="-319088" algn="r" rtl="1">
              <a:lnSpc>
                <a:spcPct val="100000"/>
              </a:lnSpc>
              <a:spcBef>
                <a:spcPts val="0"/>
              </a:spcBef>
              <a:spcAft>
                <a:spcPts val="0"/>
              </a:spcAft>
              <a:buSzPts val="2560"/>
              <a:buChar char="◼"/>
            </a:pPr>
            <a:r>
              <a:rPr lang="iw-IL"/>
              <a:t>איך נלמד את החומר? </a:t>
            </a:r>
            <a:endParaRPr/>
          </a:p>
        </p:txBody>
      </p:sp>
      <p:sp>
        <p:nvSpPr>
          <p:cNvPr id="130" name="Google Shape;130;p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3" descr="תמונה שמכילה צילום מסך, טקסט, חשיכה, גרפיקה&#10;&#10;תוכן בינה מלאכותית גנרטיבית עשוי להיות שגוי."/>
          <p:cNvPicPr preferRelativeResize="0"/>
          <p:nvPr/>
        </p:nvPicPr>
        <p:blipFill rotWithShape="1">
          <a:blip r:embed="rId3">
            <a:alphaModFix/>
          </a:blip>
          <a:srcRect/>
          <a:stretch/>
        </p:blipFill>
        <p:spPr>
          <a:xfrm>
            <a:off x="915682" y="0"/>
            <a:ext cx="7312636" cy="4087368"/>
          </a:xfrm>
          <a:prstGeom prst="rect">
            <a:avLst/>
          </a:prstGeom>
          <a:noFill/>
          <a:ln>
            <a:noFill/>
          </a:ln>
        </p:spPr>
      </p:pic>
      <p:sp>
        <p:nvSpPr>
          <p:cNvPr id="136" name="Google Shape;136;p3"/>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למה צריך את זה?</a:t>
            </a:r>
            <a:endParaRPr/>
          </a:p>
        </p:txBody>
      </p:sp>
      <p:sp>
        <p:nvSpPr>
          <p:cNvPr id="137" name="Google Shape;137;p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42"/>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 צריך את זה?</a:t>
            </a:r>
            <a:endParaRPr/>
          </a:p>
        </p:txBody>
      </p:sp>
      <p:sp>
        <p:nvSpPr>
          <p:cNvPr id="143" name="Google Shape;143;p4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6</a:t>
            </a:fld>
            <a:endParaRPr/>
          </a:p>
        </p:txBody>
      </p:sp>
      <p:sp>
        <p:nvSpPr>
          <p:cNvPr id="144" name="Google Shape;144;p42"/>
          <p:cNvSpPr txBox="1"/>
          <p:nvPr/>
        </p:nvSpPr>
        <p:spPr>
          <a:xfrm>
            <a:off x="2268855" y="5953780"/>
            <a:ext cx="460629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1400" b="0" i="0" u="none" strike="noStrike" cap="none">
                <a:solidFill>
                  <a:srgbClr val="000000"/>
                </a:solidFill>
                <a:latin typeface="Arial"/>
                <a:ea typeface="Arial"/>
                <a:cs typeface="Arial"/>
                <a:sym typeface="Arial"/>
              </a:rPr>
              <a:t>https://www.geektime.co.il/israeli-startup-claims-its-chip-beats-nvidia-blackwell/</a:t>
            </a:r>
            <a:endParaRPr/>
          </a:p>
        </p:txBody>
      </p:sp>
      <p:pic>
        <p:nvPicPr>
          <p:cNvPr id="145" name="Google Shape;145;p42"/>
          <p:cNvPicPr preferRelativeResize="0"/>
          <p:nvPr/>
        </p:nvPicPr>
        <p:blipFill rotWithShape="1">
          <a:blip r:embed="rId3">
            <a:alphaModFix/>
          </a:blip>
          <a:srcRect/>
          <a:stretch/>
        </p:blipFill>
        <p:spPr>
          <a:xfrm>
            <a:off x="90051" y="1828800"/>
            <a:ext cx="9153904" cy="29229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43"/>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51" name="Google Shape;151;p43"/>
          <p:cNvSpPr txBox="1">
            <a:spLocks noGrp="1"/>
          </p:cNvSpPr>
          <p:nvPr>
            <p:ph type="body" idx="1"/>
          </p:nvPr>
        </p:nvSpPr>
        <p:spPr>
          <a:xfrm>
            <a:off x="0" y="1600271"/>
            <a:ext cx="3833504" cy="4625975"/>
          </a:xfrm>
          <a:prstGeom prst="rect">
            <a:avLst/>
          </a:prstGeom>
          <a:blipFill rotWithShape="1">
            <a:blip r:embed="rId3">
              <a:alphaModFix/>
            </a:blip>
            <a:stretch>
              <a:fillRect r="-15262"/>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52" name="Google Shape;152;p4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7</a:t>
            </a:fld>
            <a:endParaRPr/>
          </a:p>
        </p:txBody>
      </p:sp>
      <p:pic>
        <p:nvPicPr>
          <p:cNvPr id="153" name="Google Shape;153;p43"/>
          <p:cNvPicPr preferRelativeResize="0"/>
          <p:nvPr/>
        </p:nvPicPr>
        <p:blipFill rotWithShape="1">
          <a:blip r:embed="rId4">
            <a:alphaModFix/>
          </a:blip>
          <a:srcRect/>
          <a:stretch/>
        </p:blipFill>
        <p:spPr>
          <a:xfrm>
            <a:off x="5190637" y="2291596"/>
            <a:ext cx="3496163" cy="3581900"/>
          </a:xfrm>
          <a:prstGeom prst="rect">
            <a:avLst/>
          </a:prstGeom>
          <a:noFill/>
          <a:ln>
            <a:noFill/>
          </a:ln>
        </p:spPr>
      </p:pic>
      <p:sp>
        <p:nvSpPr>
          <p:cNvPr id="154" name="Google Shape;154;p43"/>
          <p:cNvSpPr txBox="1"/>
          <p:nvPr/>
        </p:nvSpPr>
        <p:spPr>
          <a:xfrm>
            <a:off x="206375" y="4389564"/>
            <a:ext cx="3475158" cy="4625975"/>
          </a:xfrm>
          <a:prstGeom prst="rect">
            <a:avLst/>
          </a:prstGeom>
          <a:blipFill rotWithShape="1">
            <a:blip r:embed="rId5">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4"/>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a:t>
            </a:r>
            <a:endParaRPr/>
          </a:p>
        </p:txBody>
      </p:sp>
      <p:sp>
        <p:nvSpPr>
          <p:cNvPr id="160" name="Google Shape;160;p44"/>
          <p:cNvSpPr txBox="1">
            <a:spLocks noGrp="1"/>
          </p:cNvSpPr>
          <p:nvPr>
            <p:ph type="body" idx="1"/>
          </p:nvPr>
        </p:nvSpPr>
        <p:spPr>
          <a:xfrm>
            <a:off x="0" y="1600271"/>
            <a:ext cx="3833504" cy="4625975"/>
          </a:xfrm>
          <a:prstGeom prst="rect">
            <a:avLst/>
          </a:prstGeom>
          <a:blipFill rotWithShape="1">
            <a:blip r:embed="rId3">
              <a:alphaModFix/>
            </a:blip>
            <a:stretch>
              <a:fillRect r="-15262"/>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61" name="Google Shape;161;p4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8</a:t>
            </a:fld>
            <a:endParaRPr/>
          </a:p>
        </p:txBody>
      </p:sp>
      <p:sp>
        <p:nvSpPr>
          <p:cNvPr id="162" name="Google Shape;162;p44"/>
          <p:cNvSpPr txBox="1"/>
          <p:nvPr/>
        </p:nvSpPr>
        <p:spPr>
          <a:xfrm>
            <a:off x="206375" y="4389564"/>
            <a:ext cx="3475158" cy="4625975"/>
          </a:xfrm>
          <a:prstGeom prst="rect">
            <a:avLst/>
          </a:prstGeom>
          <a:blipFill rotWithShape="1">
            <a:blip r:embed="rId4">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163" name="Google Shape;163;p44"/>
          <p:cNvPicPr preferRelativeResize="0"/>
          <p:nvPr/>
        </p:nvPicPr>
        <p:blipFill rotWithShape="1">
          <a:blip r:embed="rId5">
            <a:alphaModFix/>
          </a:blip>
          <a:srcRect l="16173" r="56009" b="70361"/>
          <a:stretch/>
        </p:blipFill>
        <p:spPr>
          <a:xfrm>
            <a:off x="4773167" y="1748029"/>
            <a:ext cx="4214549" cy="1415795"/>
          </a:xfrm>
          <a:prstGeom prst="rect">
            <a:avLst/>
          </a:prstGeom>
          <a:noFill/>
          <a:ln>
            <a:noFill/>
          </a:ln>
        </p:spPr>
      </p:pic>
      <p:pic>
        <p:nvPicPr>
          <p:cNvPr id="164" name="Google Shape;164;p44"/>
          <p:cNvPicPr preferRelativeResize="0"/>
          <p:nvPr/>
        </p:nvPicPr>
        <p:blipFill rotWithShape="1">
          <a:blip r:embed="rId5">
            <a:alphaModFix/>
          </a:blip>
          <a:srcRect l="21260" t="26731" r="52984" b="37395"/>
          <a:stretch/>
        </p:blipFill>
        <p:spPr>
          <a:xfrm>
            <a:off x="4818649" y="4206240"/>
            <a:ext cx="4251293" cy="1866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5"/>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70" name="Google Shape;170;p4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9</a:t>
            </a:fld>
            <a:endParaRPr/>
          </a:p>
        </p:txBody>
      </p:sp>
      <p:pic>
        <p:nvPicPr>
          <p:cNvPr id="171" name="Google Shape;171;p45"/>
          <p:cNvPicPr preferRelativeResize="0"/>
          <p:nvPr/>
        </p:nvPicPr>
        <p:blipFill rotWithShape="1">
          <a:blip r:embed="rId3">
            <a:alphaModFix/>
          </a:blip>
          <a:srcRect/>
          <a:stretch/>
        </p:blipFill>
        <p:spPr>
          <a:xfrm>
            <a:off x="5190637" y="2291596"/>
            <a:ext cx="3496163" cy="3581900"/>
          </a:xfrm>
          <a:prstGeom prst="rect">
            <a:avLst/>
          </a:prstGeom>
          <a:noFill/>
          <a:ln>
            <a:noFill/>
          </a:ln>
        </p:spPr>
      </p:pic>
      <p:sp>
        <p:nvSpPr>
          <p:cNvPr id="172" name="Google Shape;172;p45"/>
          <p:cNvSpPr txBox="1"/>
          <p:nvPr/>
        </p:nvSpPr>
        <p:spPr>
          <a:xfrm>
            <a:off x="358775" y="1247521"/>
            <a:ext cx="3475158" cy="4625975"/>
          </a:xfrm>
          <a:prstGeom prst="rect">
            <a:avLst/>
          </a:prstGeom>
          <a:blipFill rotWithShape="1">
            <a:blip r:embed="rId4">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173" name="Google Shape;173;p45"/>
          <p:cNvSpPr txBox="1"/>
          <p:nvPr/>
        </p:nvSpPr>
        <p:spPr>
          <a:xfrm>
            <a:off x="358775" y="4541964"/>
            <a:ext cx="3475158" cy="4625975"/>
          </a:xfrm>
          <a:prstGeom prst="rect">
            <a:avLst/>
          </a:prstGeom>
          <a:blipFill rotWithShape="1">
            <a:blip r:embed="rId5">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6"/>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a:t>
            </a:r>
            <a:endParaRPr/>
          </a:p>
        </p:txBody>
      </p:sp>
      <p:sp>
        <p:nvSpPr>
          <p:cNvPr id="179" name="Google Shape;179;p46"/>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10</a:t>
            </a:fld>
            <a:endParaRPr/>
          </a:p>
        </p:txBody>
      </p:sp>
      <p:sp>
        <p:nvSpPr>
          <p:cNvPr id="180" name="Google Shape;180;p46"/>
          <p:cNvSpPr txBox="1"/>
          <p:nvPr/>
        </p:nvSpPr>
        <p:spPr>
          <a:xfrm>
            <a:off x="358775" y="1247521"/>
            <a:ext cx="3475158" cy="4625975"/>
          </a:xfrm>
          <a:prstGeom prst="rect">
            <a:avLst/>
          </a:prstGeom>
          <a:blipFill rotWithShape="1">
            <a:blip r:embed="rId3">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181" name="Google Shape;181;p46"/>
          <p:cNvSpPr txBox="1"/>
          <p:nvPr/>
        </p:nvSpPr>
        <p:spPr>
          <a:xfrm>
            <a:off x="358775" y="4541964"/>
            <a:ext cx="3475158" cy="4625975"/>
          </a:xfrm>
          <a:prstGeom prst="rect">
            <a:avLst/>
          </a:prstGeom>
          <a:blipFill rotWithShape="1">
            <a:blip r:embed="rId4">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182" name="Google Shape;182;p46"/>
          <p:cNvPicPr preferRelativeResize="0"/>
          <p:nvPr/>
        </p:nvPicPr>
        <p:blipFill rotWithShape="1">
          <a:blip r:embed="rId5">
            <a:alphaModFix/>
          </a:blip>
          <a:srcRect l="7206" b="60125"/>
          <a:stretch/>
        </p:blipFill>
        <p:spPr>
          <a:xfrm>
            <a:off x="4909433" y="2036785"/>
            <a:ext cx="3570594" cy="989879"/>
          </a:xfrm>
          <a:prstGeom prst="rect">
            <a:avLst/>
          </a:prstGeom>
          <a:noFill/>
          <a:ln>
            <a:noFill/>
          </a:ln>
        </p:spPr>
      </p:pic>
      <p:pic>
        <p:nvPicPr>
          <p:cNvPr id="183" name="Google Shape;183;p46"/>
          <p:cNvPicPr preferRelativeResize="0"/>
          <p:nvPr/>
        </p:nvPicPr>
        <p:blipFill rotWithShape="1">
          <a:blip r:embed="rId5">
            <a:alphaModFix/>
          </a:blip>
          <a:srcRect l="4845" t="54667" r="2362" b="5458"/>
          <a:stretch/>
        </p:blipFill>
        <p:spPr>
          <a:xfrm>
            <a:off x="4909433" y="5188417"/>
            <a:ext cx="3570594" cy="9898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7"/>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89" name="Google Shape;189;p47"/>
          <p:cNvSpPr txBox="1">
            <a:spLocks noGrp="1"/>
          </p:cNvSpPr>
          <p:nvPr>
            <p:ph type="body" idx="1"/>
          </p:nvPr>
        </p:nvSpPr>
        <p:spPr>
          <a:xfrm>
            <a:off x="0" y="1600271"/>
            <a:ext cx="3833504" cy="1362385"/>
          </a:xfrm>
          <a:prstGeom prst="rect">
            <a:avLst/>
          </a:prstGeom>
          <a:blipFill rotWithShape="1">
            <a:blip r:embed="rId3">
              <a:alphaModFix/>
            </a:blip>
            <a:stretch>
              <a:fillRect r="-15103"/>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90" name="Google Shape;190;p47"/>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11</a:t>
            </a:fld>
            <a:endParaRPr/>
          </a:p>
        </p:txBody>
      </p:sp>
      <p:pic>
        <p:nvPicPr>
          <p:cNvPr id="191" name="Google Shape;191;p47"/>
          <p:cNvPicPr preferRelativeResize="0"/>
          <p:nvPr/>
        </p:nvPicPr>
        <p:blipFill rotWithShape="1">
          <a:blip r:embed="rId4">
            <a:alphaModFix/>
          </a:blip>
          <a:srcRect/>
          <a:stretch/>
        </p:blipFill>
        <p:spPr>
          <a:xfrm>
            <a:off x="5441462" y="1408176"/>
            <a:ext cx="3496163" cy="3581900"/>
          </a:xfrm>
          <a:prstGeom prst="rect">
            <a:avLst/>
          </a:prstGeom>
          <a:noFill/>
          <a:ln>
            <a:noFill/>
          </a:ln>
        </p:spPr>
      </p:pic>
      <p:sp>
        <p:nvSpPr>
          <p:cNvPr id="192" name="Google Shape;192;p47"/>
          <p:cNvSpPr txBox="1"/>
          <p:nvPr/>
        </p:nvSpPr>
        <p:spPr>
          <a:xfrm>
            <a:off x="-66412" y="4706183"/>
            <a:ext cx="8001000" cy="136238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48"/>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98" name="Google Shape;198;p48"/>
          <p:cNvSpPr txBox="1">
            <a:spLocks noGrp="1"/>
          </p:cNvSpPr>
          <p:nvPr>
            <p:ph type="body" idx="1"/>
          </p:nvPr>
        </p:nvSpPr>
        <p:spPr>
          <a:xfrm>
            <a:off x="0" y="1600271"/>
            <a:ext cx="3833504" cy="1362385"/>
          </a:xfrm>
          <a:prstGeom prst="rect">
            <a:avLst/>
          </a:prstGeom>
          <a:blipFill rotWithShape="1">
            <a:blip r:embed="rId3">
              <a:alphaModFix/>
            </a:blip>
            <a:stretch>
              <a:fillRect r="-15103"/>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99" name="Google Shape;199;p48"/>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12</a:t>
            </a:fld>
            <a:endParaRPr/>
          </a:p>
        </p:txBody>
      </p:sp>
      <p:sp>
        <p:nvSpPr>
          <p:cNvPr id="200" name="Google Shape;200;p48"/>
          <p:cNvSpPr txBox="1"/>
          <p:nvPr/>
        </p:nvSpPr>
        <p:spPr>
          <a:xfrm>
            <a:off x="-66412" y="4706183"/>
            <a:ext cx="8001000" cy="136238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201" name="Google Shape;201;p48"/>
          <p:cNvPicPr preferRelativeResize="0"/>
          <p:nvPr/>
        </p:nvPicPr>
        <p:blipFill rotWithShape="1">
          <a:blip r:embed="rId5">
            <a:alphaModFix/>
          </a:blip>
          <a:srcRect b="50000"/>
          <a:stretch/>
        </p:blipFill>
        <p:spPr>
          <a:xfrm>
            <a:off x="6409577" y="1873113"/>
            <a:ext cx="2610353" cy="851799"/>
          </a:xfrm>
          <a:prstGeom prst="rect">
            <a:avLst/>
          </a:prstGeom>
          <a:noFill/>
          <a:ln>
            <a:noFill/>
          </a:ln>
        </p:spPr>
      </p:pic>
      <p:pic>
        <p:nvPicPr>
          <p:cNvPr id="202" name="Google Shape;202;p48"/>
          <p:cNvPicPr preferRelativeResize="0"/>
          <p:nvPr/>
        </p:nvPicPr>
        <p:blipFill rotWithShape="1">
          <a:blip r:embed="rId5">
            <a:alphaModFix/>
          </a:blip>
          <a:srcRect l="-185" t="58060" r="185" b="-8060"/>
          <a:stretch/>
        </p:blipFill>
        <p:spPr>
          <a:xfrm>
            <a:off x="6528827" y="5899839"/>
            <a:ext cx="2610353" cy="8517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9"/>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האם זה נכון?</a:t>
            </a:r>
            <a:endParaRPr/>
          </a:p>
        </p:txBody>
      </p:sp>
      <p:sp>
        <p:nvSpPr>
          <p:cNvPr id="208" name="Google Shape;208;p49"/>
          <p:cNvSpPr txBox="1">
            <a:spLocks noGrp="1"/>
          </p:cNvSpPr>
          <p:nvPr>
            <p:ph type="body" idx="1"/>
          </p:nvPr>
        </p:nvSpPr>
        <p:spPr>
          <a:xfrm>
            <a:off x="0" y="1600271"/>
            <a:ext cx="5477256" cy="1362385"/>
          </a:xfrm>
          <a:prstGeom prst="rect">
            <a:avLst/>
          </a:prstGeom>
          <a:blipFill rotWithShape="1">
            <a:blip r:embed="rId3">
              <a:alphaModFix/>
            </a:blip>
            <a:stretch>
              <a:fillRect/>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209" name="Google Shape;209;p49"/>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13</a:t>
            </a:fld>
            <a:endParaRPr/>
          </a:p>
        </p:txBody>
      </p:sp>
      <p:sp>
        <p:nvSpPr>
          <p:cNvPr id="210" name="Google Shape;210;p49"/>
          <p:cNvSpPr txBox="1"/>
          <p:nvPr/>
        </p:nvSpPr>
        <p:spPr>
          <a:xfrm>
            <a:off x="-195199" y="2949990"/>
            <a:ext cx="9534398" cy="136238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211" name="Google Shape;211;p49"/>
          <p:cNvSpPr txBox="1"/>
          <p:nvPr/>
        </p:nvSpPr>
        <p:spPr>
          <a:xfrm>
            <a:off x="1167384" y="4779335"/>
            <a:ext cx="5477256" cy="136238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50"/>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a:t>
            </a:r>
            <a:endParaRPr/>
          </a:p>
        </p:txBody>
      </p:sp>
      <p:sp>
        <p:nvSpPr>
          <p:cNvPr id="217" name="Google Shape;217;p50"/>
          <p:cNvSpPr txBox="1">
            <a:spLocks noGrp="1"/>
          </p:cNvSpPr>
          <p:nvPr>
            <p:ph type="body" idx="1"/>
          </p:nvPr>
        </p:nvSpPr>
        <p:spPr>
          <a:xfrm>
            <a:off x="0" y="1600271"/>
            <a:ext cx="5477256" cy="1362385"/>
          </a:xfrm>
          <a:prstGeom prst="rect">
            <a:avLst/>
          </a:prstGeom>
          <a:blipFill rotWithShape="1">
            <a:blip r:embed="rId3">
              <a:alphaModFix/>
            </a:blip>
            <a:stretch>
              <a:fillRect/>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218" name="Google Shape;218;p50"/>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14</a:t>
            </a:fld>
            <a:endParaRPr/>
          </a:p>
        </p:txBody>
      </p:sp>
      <p:sp>
        <p:nvSpPr>
          <p:cNvPr id="219" name="Google Shape;219;p50"/>
          <p:cNvSpPr txBox="1"/>
          <p:nvPr/>
        </p:nvSpPr>
        <p:spPr>
          <a:xfrm>
            <a:off x="-1532323" y="2859166"/>
            <a:ext cx="9534398" cy="136238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220" name="Google Shape;220;p50"/>
          <p:cNvSpPr txBox="1"/>
          <p:nvPr/>
        </p:nvSpPr>
        <p:spPr>
          <a:xfrm>
            <a:off x="1039368" y="4221551"/>
            <a:ext cx="5477256" cy="136238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221" name="Google Shape;221;p50"/>
          <p:cNvPicPr preferRelativeResize="0"/>
          <p:nvPr/>
        </p:nvPicPr>
        <p:blipFill rotWithShape="1">
          <a:blip r:embed="rId6">
            <a:alphaModFix/>
          </a:blip>
          <a:srcRect/>
          <a:stretch/>
        </p:blipFill>
        <p:spPr>
          <a:xfrm>
            <a:off x="916332" y="5583936"/>
            <a:ext cx="7085743" cy="12527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1"/>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ctr" rtl="0">
              <a:lnSpc>
                <a:spcPct val="100000"/>
              </a:lnSpc>
              <a:spcBef>
                <a:spcPts val="0"/>
              </a:spcBef>
              <a:spcAft>
                <a:spcPts val="0"/>
              </a:spcAft>
              <a:buSzPts val="1400"/>
              <a:buNone/>
            </a:pPr>
            <a:r>
              <a:rPr lang="iw-IL"/>
              <a:t>הסיפור העצוב של הטיל אריאן 5</a:t>
            </a:r>
            <a:endParaRPr/>
          </a:p>
        </p:txBody>
      </p:sp>
      <p:sp>
        <p:nvSpPr>
          <p:cNvPr id="228" name="Google Shape;228;p5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57200" lvl="0" indent="-228600" algn="l" rtl="0">
              <a:lnSpc>
                <a:spcPct val="100000"/>
              </a:lnSpc>
              <a:spcBef>
                <a:spcPts val="0"/>
              </a:spcBef>
              <a:spcAft>
                <a:spcPts val="0"/>
              </a:spcAft>
              <a:buSzPts val="1440"/>
              <a:buNone/>
            </a:pPr>
            <a:endParaRPr/>
          </a:p>
        </p:txBody>
      </p:sp>
      <p:sp>
        <p:nvSpPr>
          <p:cNvPr id="229" name="Google Shape;229;p5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15</a:t>
            </a:fld>
            <a:endParaRPr/>
          </a:p>
        </p:txBody>
      </p:sp>
      <p:pic>
        <p:nvPicPr>
          <p:cNvPr id="230" name="Google Shape;230;p51"/>
          <p:cNvPicPr preferRelativeResize="0"/>
          <p:nvPr/>
        </p:nvPicPr>
        <p:blipFill rotWithShape="1">
          <a:blip r:embed="rId3">
            <a:alphaModFix/>
          </a:blip>
          <a:srcRect/>
          <a:stretch/>
        </p:blipFill>
        <p:spPr>
          <a:xfrm>
            <a:off x="3066991" y="1192368"/>
            <a:ext cx="3010017" cy="5284632"/>
          </a:xfrm>
          <a:prstGeom prst="rect">
            <a:avLst/>
          </a:prstGeom>
          <a:noFill/>
          <a:ln>
            <a:noFill/>
          </a:ln>
        </p:spPr>
      </p:pic>
      <p:sp>
        <p:nvSpPr>
          <p:cNvPr id="231" name="Google Shape;231;p51"/>
          <p:cNvSpPr txBox="1"/>
          <p:nvPr/>
        </p:nvSpPr>
        <p:spPr>
          <a:xfrm>
            <a:off x="-85726" y="6235202"/>
            <a:ext cx="9229726" cy="8002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32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https://www.youtube.com/watch?v=5tJPXYA0Nec</a:t>
            </a:r>
            <a:endParaRPr sz="3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60"/>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solidFill>
                  <a:srgbClr val="FFC700"/>
                </a:solidFill>
              </a:rPr>
              <a:t>10 חידות שנפתור במהלך הקורס</a:t>
            </a:r>
            <a:endParaRPr>
              <a:solidFill>
                <a:srgbClr val="FFC700"/>
              </a:solidFill>
            </a:endParaRPr>
          </a:p>
        </p:txBody>
      </p:sp>
      <p:sp>
        <p:nvSpPr>
          <p:cNvPr id="333" name="Google Shape;333;p60"/>
          <p:cNvSpPr txBox="1">
            <a:spLocks noGrp="1"/>
          </p:cNvSpPr>
          <p:nvPr>
            <p:ph type="body" idx="1"/>
          </p:nvPr>
        </p:nvSpPr>
        <p:spPr>
          <a:xfrm>
            <a:off x="457200" y="1774825"/>
            <a:ext cx="8229600" cy="4626000"/>
          </a:xfrm>
          <a:prstGeom prst="rect">
            <a:avLst/>
          </a:prstGeom>
          <a:noFill/>
          <a:ln>
            <a:noFill/>
          </a:ln>
        </p:spPr>
        <p:txBody>
          <a:bodyPr spcFirstLastPara="1" wrap="square" lIns="54850" tIns="91425" rIns="91425" bIns="45700" anchor="t" anchorCtr="0">
            <a:noAutofit/>
          </a:bodyPr>
          <a:lstStyle/>
          <a:p>
            <a:pPr marL="480060" indent="-342900" algn="r" rtl="1">
              <a:spcAft>
                <a:spcPts val="400"/>
              </a:spcAft>
              <a:buFont typeface="Noto Sans Symbols"/>
              <a:buAutoNum type="arabicPeriod"/>
            </a:pPr>
            <a:r>
              <a:rPr lang="iw-IL" sz="1700" dirty="0"/>
              <a:t>63  </a:t>
            </a:r>
            <a:r>
              <a:rPr lang="he-IL" sz="1700" dirty="0"/>
              <a:t> </a:t>
            </a:r>
            <a:r>
              <a:rPr lang="iw-IL" sz="1700" dirty="0"/>
              <a:t>ועוד  1  </a:t>
            </a:r>
            <a:r>
              <a:rPr lang="he-IL" sz="1700" dirty="0"/>
              <a:t> </a:t>
            </a:r>
            <a:r>
              <a:rPr lang="iw-IL" sz="1700" dirty="0"/>
              <a:t>יוצא 64 </a:t>
            </a:r>
            <a:r>
              <a:rPr lang="he-IL" sz="1700" dirty="0"/>
              <a:t>- </a:t>
            </a:r>
            <a:r>
              <a:rPr lang="iw-IL" sz="1700" dirty="0"/>
              <a:t>איך?  —  </a:t>
            </a:r>
            <a:r>
              <a:rPr lang="iw-IL" sz="1700" dirty="0">
                <a:solidFill>
                  <a:srgbClr val="FFC700"/>
                </a:solidFill>
              </a:rPr>
              <a:t>שבוע 2</a:t>
            </a:r>
          </a:p>
          <a:p>
            <a:pPr marL="480060" indent="-342900" algn="r" rtl="1">
              <a:spcAft>
                <a:spcPts val="400"/>
              </a:spcAft>
              <a:buFont typeface="Noto Sans Symbols"/>
              <a:buAutoNum type="arabicPeriod"/>
            </a:pPr>
            <a:r>
              <a:rPr lang="iw-IL" sz="1700" dirty="0"/>
              <a:t>שלושה מתגים הופכים שבב אחד למכונות שונות. איך?  —  </a:t>
            </a:r>
            <a:r>
              <a:rPr lang="iw-IL" sz="1700" dirty="0">
                <a:solidFill>
                  <a:srgbClr val="FFC700"/>
                </a:solidFill>
              </a:rPr>
              <a:t>שבוע 3</a:t>
            </a:r>
          </a:p>
          <a:p>
            <a:pPr marL="480060" indent="-342900" algn="r" rtl="1">
              <a:spcAft>
                <a:spcPts val="400"/>
              </a:spcAft>
              <a:buFont typeface="Noto Sans Symbols"/>
              <a:buAutoNum type="arabicPeriod"/>
            </a:pPr>
            <a:r>
              <a:rPr lang="iw-IL" sz="1700" dirty="0"/>
              <a:t>אותו שבב הפך למשחק. איך הוא נהיה מעגל אחר?  —  </a:t>
            </a:r>
            <a:r>
              <a:rPr lang="iw-IL" sz="1700" dirty="0">
                <a:solidFill>
                  <a:srgbClr val="FFC700"/>
                </a:solidFill>
              </a:rPr>
              <a:t>שבוע 4</a:t>
            </a:r>
          </a:p>
          <a:p>
            <a:pPr marL="480060" indent="-342900" algn="r" rtl="1">
              <a:spcAft>
                <a:spcPts val="400"/>
              </a:spcAft>
              <a:buFont typeface="Noto Sans Symbols"/>
              <a:buAutoNum type="arabicPeriod"/>
            </a:pPr>
            <a:r>
              <a:rPr lang="iw-IL" sz="1700" dirty="0"/>
              <a:t>הנורה נשארת דולקת בלי שאף אחד לוחץ. איפה נשמר ה'דולק'?  —  </a:t>
            </a:r>
            <a:r>
              <a:rPr lang="iw-IL" sz="1700" dirty="0">
                <a:solidFill>
                  <a:srgbClr val="FFC700"/>
                </a:solidFill>
              </a:rPr>
              <a:t>שבוע 5</a:t>
            </a:r>
          </a:p>
          <a:p>
            <a:pPr marL="480060" indent="-342900" algn="r" rtl="1">
              <a:spcAft>
                <a:spcPts val="400"/>
              </a:spcAft>
              <a:buFont typeface="Noto Sans Symbols"/>
              <a:buAutoNum type="arabicPeriod"/>
            </a:pPr>
            <a:r>
              <a:rPr lang="iw-IL" sz="1700" dirty="0"/>
              <a:t>המחסום יודע ששילמת. איך הוא זוכר מה קרה?  —  </a:t>
            </a:r>
            <a:r>
              <a:rPr lang="iw-IL" sz="1700" dirty="0">
                <a:solidFill>
                  <a:srgbClr val="FFC700"/>
                </a:solidFill>
              </a:rPr>
              <a:t>שבוע 6</a:t>
            </a:r>
          </a:p>
          <a:p>
            <a:pPr marL="480060" indent="-342900" algn="r" rtl="1">
              <a:spcAft>
                <a:spcPts val="400"/>
              </a:spcAft>
              <a:buFont typeface="Noto Sans Symbols"/>
              <a:buAutoNum type="arabicPeriod"/>
            </a:pPr>
            <a:r>
              <a:rPr lang="iw-IL" sz="1700" dirty="0"/>
              <a:t>אותו כפתור, שתי נורות: אחת מיד, אחת מחכה ולפעמים מפספסת. למה?  —  </a:t>
            </a:r>
            <a:r>
              <a:rPr lang="iw-IL" sz="1700" dirty="0">
                <a:solidFill>
                  <a:srgbClr val="FFC700"/>
                </a:solidFill>
              </a:rPr>
              <a:t>שבוע 7</a:t>
            </a:r>
          </a:p>
          <a:p>
            <a:pPr marL="480060" indent="-342900" algn="r" rtl="1">
              <a:spcAft>
                <a:spcPts val="400"/>
              </a:spcAft>
              <a:buFont typeface="Noto Sans Symbols"/>
              <a:buAutoNum type="arabicPeriod"/>
            </a:pPr>
            <a:r>
              <a:rPr lang="iw-IL" sz="1700" dirty="0"/>
              <a:t>שעון מהיר יותר נותן תשובות שגויות, לא רק מהירות יותר. למה?  —  </a:t>
            </a:r>
            <a:r>
              <a:rPr lang="iw-IL" sz="1700" dirty="0">
                <a:solidFill>
                  <a:srgbClr val="FFC700"/>
                </a:solidFill>
              </a:rPr>
              <a:t>שבוע 8</a:t>
            </a:r>
          </a:p>
          <a:p>
            <a:pPr marL="480060" indent="-342900" algn="r" rtl="1">
              <a:spcAft>
                <a:spcPts val="400"/>
              </a:spcAft>
              <a:buFont typeface="Noto Sans Symbols"/>
              <a:buAutoNum type="arabicPeriod"/>
            </a:pPr>
            <a:r>
              <a:rPr lang="iw-IL" sz="1700" dirty="0"/>
              <a:t>החיבור הגדול נכשל לפני החיבור הקטן. למה?  —  </a:t>
            </a:r>
            <a:r>
              <a:rPr lang="iw-IL" sz="1700" dirty="0">
                <a:solidFill>
                  <a:srgbClr val="FFC700"/>
                </a:solidFill>
              </a:rPr>
              <a:t>שבוע 9</a:t>
            </a:r>
          </a:p>
          <a:p>
            <a:pPr marL="480060" indent="-342900" algn="r" rtl="1">
              <a:spcAft>
                <a:spcPts val="400"/>
              </a:spcAft>
              <a:buFont typeface="Noto Sans Symbols"/>
              <a:buAutoNum type="arabicPeriod"/>
            </a:pPr>
            <a:r>
              <a:rPr lang="iw-IL" sz="1700" dirty="0"/>
              <a:t>חלוקה ב8  </a:t>
            </a:r>
            <a:r>
              <a:rPr lang="he-IL" sz="1700" dirty="0"/>
              <a:t> </a:t>
            </a:r>
            <a:r>
              <a:rPr lang="iw-IL" sz="1700" dirty="0"/>
              <a:t>רק מזיזה את הנורות, וחלוקה ב6  </a:t>
            </a:r>
            <a:r>
              <a:rPr lang="he-IL" sz="1700" dirty="0"/>
              <a:t> </a:t>
            </a:r>
            <a:r>
              <a:rPr lang="iw-IL" sz="1700" dirty="0"/>
              <a:t>מערבבת אותן. למה חילוק יקר?  —  </a:t>
            </a:r>
            <a:r>
              <a:rPr lang="iw-IL" sz="1700" dirty="0">
                <a:solidFill>
                  <a:srgbClr val="FFC700"/>
                </a:solidFill>
              </a:rPr>
              <a:t>שבוע 10</a:t>
            </a:r>
          </a:p>
          <a:p>
            <a:pPr marL="480060" indent="-342900" algn="r" rtl="1">
              <a:spcAft>
                <a:spcPts val="400"/>
              </a:spcAft>
              <a:buFont typeface="Noto Sans Symbols"/>
              <a:buAutoNum type="arabicPeriod"/>
            </a:pPr>
            <a:r>
              <a:rPr lang="iw-IL" sz="1700" dirty="0"/>
              <a:t>10  </a:t>
            </a:r>
            <a:r>
              <a:rPr lang="he-IL" sz="1700" dirty="0"/>
              <a:t> </a:t>
            </a:r>
            <a:r>
              <a:rPr lang="iw-IL" sz="1700" dirty="0"/>
              <a:t>כפול 0.1  </a:t>
            </a:r>
            <a:r>
              <a:rPr lang="he-IL" sz="1700" dirty="0"/>
              <a:t> </a:t>
            </a:r>
            <a:r>
              <a:rPr lang="iw-IL" sz="1700" dirty="0"/>
              <a:t>יוצא 0.976,  </a:t>
            </a:r>
            <a:r>
              <a:rPr lang="he-IL" sz="1700" dirty="0"/>
              <a:t> </a:t>
            </a:r>
            <a:r>
              <a:rPr lang="iw-IL" sz="1700" dirty="0"/>
              <a:t>אבל 4  </a:t>
            </a:r>
            <a:r>
              <a:rPr lang="he-IL" sz="1700" dirty="0"/>
              <a:t> </a:t>
            </a:r>
            <a:r>
              <a:rPr lang="iw-IL" sz="1700" dirty="0"/>
              <a:t>כפול 0.25  </a:t>
            </a:r>
            <a:r>
              <a:rPr lang="he-IL" sz="1700" dirty="0"/>
              <a:t> </a:t>
            </a:r>
            <a:r>
              <a:rPr lang="iw-IL" sz="1700" dirty="0"/>
              <a:t>יוצא בדיוק 1.  </a:t>
            </a:r>
            <a:r>
              <a:rPr lang="he-IL" sz="1700" dirty="0"/>
              <a:t> </a:t>
            </a:r>
            <a:r>
              <a:rPr lang="iw-IL" sz="1700" dirty="0"/>
              <a:t>למה?  —  </a:t>
            </a:r>
            <a:r>
              <a:rPr lang="iw-IL" sz="1700" dirty="0">
                <a:solidFill>
                  <a:srgbClr val="FFC700"/>
                </a:solidFill>
              </a:rPr>
              <a:t>שבוע 11</a:t>
            </a:r>
            <a:endParaRPr sz="1700" dirty="0">
              <a:solidFill>
                <a:srgbClr val="FFC700"/>
              </a:solidFill>
            </a:endParaRPr>
          </a:p>
        </p:txBody>
      </p:sp>
      <p:sp>
        <p:nvSpPr>
          <p:cNvPr id="334" name="Google Shape;334;p60"/>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16</a:t>
            </a:fld>
            <a:endParaRPr/>
          </a:p>
        </p:txBody>
      </p:sp>
    </p:spTree>
    <p:extLst>
      <p:ext uri="{BB962C8B-B14F-4D97-AF65-F5344CB8AC3E}">
        <p14:creationId xmlns:p14="http://schemas.microsoft.com/office/powerpoint/2010/main" val="2154879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52"/>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איך המחשב עובד?</a:t>
            </a:r>
            <a:endParaRPr/>
          </a:p>
        </p:txBody>
      </p:sp>
      <p:sp>
        <p:nvSpPr>
          <p:cNvPr id="237" name="Google Shape;237;p5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17</a:t>
            </a:fld>
            <a:endParaRPr/>
          </a:p>
        </p:txBody>
      </p:sp>
      <p:pic>
        <p:nvPicPr>
          <p:cNvPr id="238" name="Google Shape;238;p52" descr="תמונה שמכילה טקסט, מחשב, צילום מסך, מכשיר פלט&#10;&#10;תוכן בינה מלאכותית גנרטיבית עשוי להיות שגוי."/>
          <p:cNvPicPr preferRelativeResize="0"/>
          <p:nvPr/>
        </p:nvPicPr>
        <p:blipFill rotWithShape="1">
          <a:blip r:embed="rId3">
            <a:alphaModFix/>
          </a:blip>
          <a:srcRect/>
          <a:stretch/>
        </p:blipFill>
        <p:spPr>
          <a:xfrm>
            <a:off x="0" y="1481328"/>
            <a:ext cx="914400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53"/>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במה נתמקד במדעי המחשב?</a:t>
            </a:r>
            <a:endParaRPr/>
          </a:p>
        </p:txBody>
      </p:sp>
      <p:sp>
        <p:nvSpPr>
          <p:cNvPr id="244" name="Google Shape;244;p5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18</a:t>
            </a:fld>
            <a:endParaRPr/>
          </a:p>
        </p:txBody>
      </p:sp>
      <p:pic>
        <p:nvPicPr>
          <p:cNvPr id="245" name="Google Shape;245;p53"/>
          <p:cNvPicPr preferRelativeResize="0"/>
          <p:nvPr/>
        </p:nvPicPr>
        <p:blipFill rotWithShape="1">
          <a:blip r:embed="rId3">
            <a:alphaModFix/>
          </a:blip>
          <a:srcRect l="10452"/>
          <a:stretch/>
        </p:blipFill>
        <p:spPr>
          <a:xfrm>
            <a:off x="6098042" y="1484376"/>
            <a:ext cx="3159623" cy="4869173"/>
          </a:xfrm>
          <a:prstGeom prst="rect">
            <a:avLst/>
          </a:prstGeom>
          <a:noFill/>
          <a:ln>
            <a:noFill/>
          </a:ln>
        </p:spPr>
      </p:pic>
      <p:pic>
        <p:nvPicPr>
          <p:cNvPr id="246" name="Google Shape;246;p53" descr="תמונה שמכילה טקסט, מחשב, צילום מסך, מכשיר פלט&#10;&#10;תוכן בינה מלאכותית גנרטיבית עשוי להיות שגוי."/>
          <p:cNvPicPr preferRelativeResize="0"/>
          <p:nvPr/>
        </p:nvPicPr>
        <p:blipFill rotWithShape="1">
          <a:blip r:embed="rId4">
            <a:alphaModFix/>
          </a:blip>
          <a:srcRect/>
          <a:stretch/>
        </p:blipFill>
        <p:spPr>
          <a:xfrm>
            <a:off x="0" y="2265417"/>
            <a:ext cx="5409194" cy="3042672"/>
          </a:xfrm>
          <a:prstGeom prst="rect">
            <a:avLst/>
          </a:prstGeom>
          <a:noFill/>
          <a:ln>
            <a:noFill/>
          </a:ln>
        </p:spPr>
      </p:pic>
      <p:sp>
        <p:nvSpPr>
          <p:cNvPr id="247" name="Google Shape;247;p53"/>
          <p:cNvSpPr/>
          <p:nvPr/>
        </p:nvSpPr>
        <p:spPr>
          <a:xfrm>
            <a:off x="-64008" y="2615184"/>
            <a:ext cx="1143000" cy="1207008"/>
          </a:xfrm>
          <a:prstGeom prst="mathMultiply">
            <a:avLst>
              <a:gd name="adj1" fmla="val 10649"/>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8" name="Google Shape;248;p53"/>
          <p:cNvSpPr/>
          <p:nvPr/>
        </p:nvSpPr>
        <p:spPr>
          <a:xfrm>
            <a:off x="5729234" y="4309868"/>
            <a:ext cx="2802118" cy="2548131"/>
          </a:xfrm>
          <a:prstGeom prst="mathMultiply">
            <a:avLst>
              <a:gd name="adj1" fmla="val 10649"/>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9" name="Google Shape;249;p53"/>
          <p:cNvSpPr/>
          <p:nvPr/>
        </p:nvSpPr>
        <p:spPr>
          <a:xfrm>
            <a:off x="688848" y="2615184"/>
            <a:ext cx="1143000" cy="1207008"/>
          </a:xfrm>
          <a:prstGeom prst="mathMultiply">
            <a:avLst>
              <a:gd name="adj1" fmla="val 10649"/>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graphicFrame>
        <p:nvGraphicFramePr>
          <p:cNvPr id="254" name="Google Shape;254;p54"/>
          <p:cNvGraphicFramePr/>
          <p:nvPr/>
        </p:nvGraphicFramePr>
        <p:xfrm>
          <a:off x="172402" y="1690180"/>
          <a:ext cx="3000000" cy="3000000"/>
        </p:xfrm>
        <a:graphic>
          <a:graphicData uri="http://schemas.openxmlformats.org/drawingml/2006/table">
            <a:tbl>
              <a:tblPr firstRow="1" bandRow="1">
                <a:noFill/>
                <a:tableStyleId>{D3B9FC35-CAD0-4D3F-BEBE-D09448F5CC3E}</a:tableStyleId>
              </a:tblPr>
              <a:tblGrid>
                <a:gridCol w="4639950">
                  <a:extLst>
                    <a:ext uri="{9D8B030D-6E8A-4147-A177-3AD203B41FA5}">
                      <a16:colId xmlns:a16="http://schemas.microsoft.com/office/drawing/2014/main" val="20000"/>
                    </a:ext>
                  </a:extLst>
                </a:gridCol>
              </a:tblGrid>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55" name="Google Shape;255;p54"/>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במה נתמקד בקורס זה?</a:t>
            </a:r>
            <a:endParaRPr/>
          </a:p>
        </p:txBody>
      </p:sp>
      <p:sp>
        <p:nvSpPr>
          <p:cNvPr id="256" name="Google Shape;256;p5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19</a:t>
            </a:fld>
            <a:endParaRPr/>
          </a:p>
        </p:txBody>
      </p:sp>
      <p:pic>
        <p:nvPicPr>
          <p:cNvPr id="257" name="Google Shape;257;p54"/>
          <p:cNvPicPr preferRelativeResize="0"/>
          <p:nvPr/>
        </p:nvPicPr>
        <p:blipFill rotWithShape="1">
          <a:blip r:embed="rId3">
            <a:alphaModFix/>
          </a:blip>
          <a:srcRect l="12005" t="8" b="33382"/>
          <a:stretch/>
        </p:blipFill>
        <p:spPr>
          <a:xfrm>
            <a:off x="4754880" y="1596993"/>
            <a:ext cx="4887541" cy="5105559"/>
          </a:xfrm>
          <a:prstGeom prst="rect">
            <a:avLst/>
          </a:prstGeom>
          <a:noFill/>
          <a:ln>
            <a:noFill/>
          </a:ln>
        </p:spPr>
      </p:pic>
      <p:sp>
        <p:nvSpPr>
          <p:cNvPr id="258" name="Google Shape;258;p54"/>
          <p:cNvSpPr/>
          <p:nvPr/>
        </p:nvSpPr>
        <p:spPr>
          <a:xfrm>
            <a:off x="690372" y="4980273"/>
            <a:ext cx="8362188" cy="1722279"/>
          </a:xfrm>
          <a:prstGeom prst="rect">
            <a:avLst/>
          </a:prstGeom>
          <a:noFill/>
          <a:ln w="762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9" name="Google Shape;259;p54"/>
          <p:cNvSpPr txBox="1"/>
          <p:nvPr/>
        </p:nvSpPr>
        <p:spPr>
          <a:xfrm>
            <a:off x="886968" y="4583045"/>
            <a:ext cx="3867912" cy="23083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7200" b="0" i="0" u="none" strike="noStrike" cap="none">
                <a:solidFill>
                  <a:srgbClr val="000000"/>
                </a:solidFill>
                <a:latin typeface="Arial"/>
                <a:ea typeface="Arial"/>
                <a:cs typeface="Arial"/>
                <a:sym typeface="Arial"/>
              </a:rPr>
              <a:t>מערכות ספרתיות </a:t>
            </a:r>
            <a:endParaRPr/>
          </a:p>
        </p:txBody>
      </p:sp>
      <p:sp>
        <p:nvSpPr>
          <p:cNvPr id="260" name="Google Shape;260;p54"/>
          <p:cNvSpPr txBox="1"/>
          <p:nvPr/>
        </p:nvSpPr>
        <p:spPr>
          <a:xfrm>
            <a:off x="829501" y="3780866"/>
            <a:ext cx="378561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2400" b="0" i="0" u="none" strike="noStrike" cap="none">
                <a:solidFill>
                  <a:srgbClr val="000000"/>
                </a:solidFill>
                <a:latin typeface="Arial"/>
                <a:ea typeface="Arial"/>
                <a:cs typeface="Arial"/>
                <a:sym typeface="Arial"/>
              </a:rPr>
              <a:t>ארכיטקטורה וארגון המחשב (שנה ב, סמסטר א)</a:t>
            </a:r>
            <a:endParaRPr/>
          </a:p>
        </p:txBody>
      </p:sp>
      <p:sp>
        <p:nvSpPr>
          <p:cNvPr id="261" name="Google Shape;261;p54"/>
          <p:cNvSpPr txBox="1"/>
          <p:nvPr/>
        </p:nvSpPr>
        <p:spPr>
          <a:xfrm>
            <a:off x="281495" y="2642729"/>
            <a:ext cx="4622292"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2400" b="0" i="0" u="none" strike="noStrike" cap="none">
                <a:solidFill>
                  <a:srgbClr val="000000"/>
                </a:solidFill>
                <a:latin typeface="Arial"/>
                <a:ea typeface="Arial"/>
                <a:cs typeface="Arial"/>
                <a:sym typeface="Arial"/>
              </a:rPr>
              <a:t>מערכות הפעלה (שנה ב, סמסטר ב)</a:t>
            </a:r>
            <a:endParaRPr/>
          </a:p>
        </p:txBody>
      </p:sp>
      <p:sp>
        <p:nvSpPr>
          <p:cNvPr id="262" name="Google Shape;262;p54"/>
          <p:cNvSpPr txBox="1"/>
          <p:nvPr/>
        </p:nvSpPr>
        <p:spPr>
          <a:xfrm>
            <a:off x="690372" y="1690180"/>
            <a:ext cx="3973068"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2400" b="0" i="0" u="none" strike="noStrike" cap="none">
                <a:solidFill>
                  <a:srgbClr val="000000"/>
                </a:solidFill>
                <a:latin typeface="Arial"/>
                <a:ea typeface="Arial"/>
                <a:cs typeface="Arial"/>
                <a:sym typeface="Arial"/>
              </a:rPr>
              <a:t>מבוא למדעי המחשב</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graphicFrame>
        <p:nvGraphicFramePr>
          <p:cNvPr id="267" name="Google Shape;267;p55"/>
          <p:cNvGraphicFramePr/>
          <p:nvPr/>
        </p:nvGraphicFramePr>
        <p:xfrm>
          <a:off x="172402" y="1690180"/>
          <a:ext cx="3000000" cy="3000000"/>
        </p:xfrm>
        <a:graphic>
          <a:graphicData uri="http://schemas.openxmlformats.org/drawingml/2006/table">
            <a:tbl>
              <a:tblPr firstRow="1" bandRow="1">
                <a:noFill/>
                <a:tableStyleId>{D3B9FC35-CAD0-4D3F-BEBE-D09448F5CC3E}</a:tableStyleId>
              </a:tblPr>
              <a:tblGrid>
                <a:gridCol w="4639950">
                  <a:extLst>
                    <a:ext uri="{9D8B030D-6E8A-4147-A177-3AD203B41FA5}">
                      <a16:colId xmlns:a16="http://schemas.microsoft.com/office/drawing/2014/main" val="20000"/>
                    </a:ext>
                  </a:extLst>
                </a:gridCol>
              </a:tblGrid>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68" name="Google Shape;268;p55"/>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במה נתמקד בקורס זה?</a:t>
            </a:r>
            <a:endParaRPr/>
          </a:p>
        </p:txBody>
      </p:sp>
      <p:sp>
        <p:nvSpPr>
          <p:cNvPr id="269" name="Google Shape;269;p5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20</a:t>
            </a:fld>
            <a:endParaRPr/>
          </a:p>
        </p:txBody>
      </p:sp>
      <p:pic>
        <p:nvPicPr>
          <p:cNvPr id="270" name="Google Shape;270;p55"/>
          <p:cNvPicPr preferRelativeResize="0"/>
          <p:nvPr/>
        </p:nvPicPr>
        <p:blipFill rotWithShape="1">
          <a:blip r:embed="rId3">
            <a:alphaModFix/>
          </a:blip>
          <a:srcRect l="12005" t="44148" b="33382"/>
          <a:stretch/>
        </p:blipFill>
        <p:spPr>
          <a:xfrm>
            <a:off x="4754880" y="4980273"/>
            <a:ext cx="4887541" cy="1722279"/>
          </a:xfrm>
          <a:prstGeom prst="rect">
            <a:avLst/>
          </a:prstGeom>
          <a:noFill/>
          <a:ln>
            <a:noFill/>
          </a:ln>
        </p:spPr>
      </p:pic>
      <p:sp>
        <p:nvSpPr>
          <p:cNvPr id="271" name="Google Shape;271;p55"/>
          <p:cNvSpPr/>
          <p:nvPr/>
        </p:nvSpPr>
        <p:spPr>
          <a:xfrm>
            <a:off x="690372" y="4980273"/>
            <a:ext cx="8362188" cy="1722279"/>
          </a:xfrm>
          <a:prstGeom prst="rect">
            <a:avLst/>
          </a:prstGeom>
          <a:noFill/>
          <a:ln w="762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2" name="Google Shape;272;p55"/>
          <p:cNvSpPr txBox="1"/>
          <p:nvPr/>
        </p:nvSpPr>
        <p:spPr>
          <a:xfrm>
            <a:off x="886968" y="4583045"/>
            <a:ext cx="3867912" cy="23083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7200" b="0" i="0" u="none" strike="noStrike" cap="none">
                <a:solidFill>
                  <a:srgbClr val="000000"/>
                </a:solidFill>
                <a:latin typeface="Arial"/>
                <a:ea typeface="Arial"/>
                <a:cs typeface="Arial"/>
                <a:sym typeface="Arial"/>
              </a:rPr>
              <a:t>מערכות ספרתיות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13" descr="תמונה שמכילה צילום מסך, טקסט, חשיכה, גרפיקה&#10;&#10;תוכן בינה מלאכותית גנרטיבית עשוי להיות שגוי."/>
          <p:cNvPicPr preferRelativeResize="0"/>
          <p:nvPr/>
        </p:nvPicPr>
        <p:blipFill rotWithShape="1">
          <a:blip r:embed="rId3">
            <a:alphaModFix/>
          </a:blip>
          <a:srcRect/>
          <a:stretch/>
        </p:blipFill>
        <p:spPr>
          <a:xfrm>
            <a:off x="915682" y="0"/>
            <a:ext cx="7312636" cy="4087368"/>
          </a:xfrm>
          <a:prstGeom prst="rect">
            <a:avLst/>
          </a:prstGeom>
          <a:noFill/>
          <a:ln>
            <a:noFill/>
          </a:ln>
        </p:spPr>
      </p:pic>
      <p:sp>
        <p:nvSpPr>
          <p:cNvPr id="278" name="Google Shape;278;p13"/>
          <p:cNvSpPr txBox="1">
            <a:spLocks noGrp="1"/>
          </p:cNvSpPr>
          <p:nvPr>
            <p:ph type="ctrTitle"/>
          </p:nvPr>
        </p:nvSpPr>
        <p:spPr>
          <a:xfrm>
            <a:off x="685800" y="3355848"/>
            <a:ext cx="8077200" cy="1673400"/>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מה נלמד בקורס?</a:t>
            </a:r>
            <a:endParaRPr/>
          </a:p>
        </p:txBody>
      </p:sp>
      <p:sp>
        <p:nvSpPr>
          <p:cNvPr id="279" name="Google Shape;279;p13"/>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6"/>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fontScale="90000"/>
          </a:bodyPr>
          <a:lstStyle/>
          <a:p>
            <a:pPr marL="0" lvl="0" indent="0" algn="r" rtl="1">
              <a:lnSpc>
                <a:spcPct val="100000"/>
              </a:lnSpc>
              <a:spcBef>
                <a:spcPts val="0"/>
              </a:spcBef>
              <a:spcAft>
                <a:spcPts val="0"/>
              </a:spcAft>
              <a:buSzPct val="34568"/>
              <a:buNone/>
            </a:pPr>
            <a:r>
              <a:rPr lang="iw-IL"/>
              <a:t>במה נתמקד בקורס זה? </a:t>
            </a:r>
            <a:br>
              <a:rPr lang="iw-IL"/>
            </a:br>
            <a:r>
              <a:rPr lang="iw-IL"/>
              <a:t>1. מתמטיקה בינארית ופעולות בסיסיות</a:t>
            </a:r>
            <a:endParaRPr/>
          </a:p>
        </p:txBody>
      </p:sp>
      <p:sp>
        <p:nvSpPr>
          <p:cNvPr id="286" name="Google Shape;286;p56"/>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22</a:t>
            </a:fld>
            <a:endParaRPr/>
          </a:p>
        </p:txBody>
      </p:sp>
      <p:sp>
        <p:nvSpPr>
          <p:cNvPr id="287" name="Google Shape;287;p56"/>
          <p:cNvSpPr txBox="1">
            <a:spLocks noGrp="1"/>
          </p:cNvSpPr>
          <p:nvPr>
            <p:ph type="body" idx="1"/>
          </p:nvPr>
        </p:nvSpPr>
        <p:spPr>
          <a:xfrm>
            <a:off x="7070" y="1447800"/>
            <a:ext cx="9060600" cy="4626000"/>
          </a:xfrm>
          <a:prstGeom prst="rect">
            <a:avLst/>
          </a:prstGeom>
          <a:noFill/>
          <a:ln>
            <a:noFill/>
          </a:ln>
        </p:spPr>
        <p:txBody>
          <a:bodyPr spcFirstLastPara="1" wrap="square" lIns="54850" tIns="91425" rIns="91425" bIns="45700" anchor="t" anchorCtr="0">
            <a:noAutofit/>
          </a:bodyPr>
          <a:lstStyle/>
          <a:p>
            <a:pPr marL="438150" lvl="0" indent="-156527" algn="r" rtl="1">
              <a:lnSpc>
                <a:spcPct val="100000"/>
              </a:lnSpc>
              <a:spcBef>
                <a:spcPts val="0"/>
              </a:spcBef>
              <a:spcAft>
                <a:spcPts val="0"/>
              </a:spcAft>
              <a:buSzPts val="2560"/>
              <a:buNone/>
            </a:pPr>
            <a:endParaRPr/>
          </a:p>
        </p:txBody>
      </p:sp>
      <p:pic>
        <p:nvPicPr>
          <p:cNvPr id="288" name="Google Shape;288;p56"/>
          <p:cNvPicPr preferRelativeResize="0"/>
          <p:nvPr/>
        </p:nvPicPr>
        <p:blipFill rotWithShape="1">
          <a:blip r:embed="rId3">
            <a:alphaModFix/>
          </a:blip>
          <a:srcRect/>
          <a:stretch/>
        </p:blipFill>
        <p:spPr>
          <a:xfrm>
            <a:off x="2294506" y="1467730"/>
            <a:ext cx="4554988" cy="539027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57"/>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fontScale="90000"/>
          </a:bodyPr>
          <a:lstStyle/>
          <a:p>
            <a:pPr marL="0" lvl="0" indent="0" algn="r" rtl="1">
              <a:lnSpc>
                <a:spcPct val="100000"/>
              </a:lnSpc>
              <a:spcBef>
                <a:spcPts val="0"/>
              </a:spcBef>
              <a:spcAft>
                <a:spcPts val="0"/>
              </a:spcAft>
              <a:buSzPct val="34568"/>
              <a:buNone/>
            </a:pPr>
            <a:r>
              <a:rPr lang="iw-IL"/>
              <a:t>במה נתמקד בקורס זה? </a:t>
            </a:r>
            <a:br>
              <a:rPr lang="iw-IL"/>
            </a:br>
            <a:r>
              <a:rPr lang="iw-IL"/>
              <a:t>3. מכונות מצבים</a:t>
            </a:r>
            <a:endParaRPr/>
          </a:p>
        </p:txBody>
      </p:sp>
      <p:sp>
        <p:nvSpPr>
          <p:cNvPr id="295" name="Google Shape;295;p57"/>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23</a:t>
            </a:fld>
            <a:endParaRPr/>
          </a:p>
        </p:txBody>
      </p:sp>
      <p:sp>
        <p:nvSpPr>
          <p:cNvPr id="296" name="Google Shape;296;p57"/>
          <p:cNvSpPr txBox="1">
            <a:spLocks noGrp="1"/>
          </p:cNvSpPr>
          <p:nvPr>
            <p:ph type="body" idx="1"/>
          </p:nvPr>
        </p:nvSpPr>
        <p:spPr>
          <a:xfrm>
            <a:off x="7070" y="1447800"/>
            <a:ext cx="9060600" cy="4626000"/>
          </a:xfrm>
          <a:prstGeom prst="rect">
            <a:avLst/>
          </a:prstGeom>
          <a:noFill/>
          <a:ln>
            <a:noFill/>
          </a:ln>
        </p:spPr>
        <p:txBody>
          <a:bodyPr spcFirstLastPara="1" wrap="square" lIns="54850" tIns="91425" rIns="91425" bIns="45700" anchor="t" anchorCtr="0">
            <a:noAutofit/>
          </a:bodyPr>
          <a:lstStyle/>
          <a:p>
            <a:pPr marL="438150" lvl="0" indent="-156527" algn="r" rtl="1">
              <a:lnSpc>
                <a:spcPct val="100000"/>
              </a:lnSpc>
              <a:spcBef>
                <a:spcPts val="0"/>
              </a:spcBef>
              <a:spcAft>
                <a:spcPts val="0"/>
              </a:spcAft>
              <a:buSzPts val="2560"/>
              <a:buNone/>
            </a:pPr>
            <a:endParaRPr/>
          </a:p>
        </p:txBody>
      </p:sp>
      <p:pic>
        <p:nvPicPr>
          <p:cNvPr id="297" name="Google Shape;297;p57"/>
          <p:cNvPicPr preferRelativeResize="0"/>
          <p:nvPr/>
        </p:nvPicPr>
        <p:blipFill rotWithShape="1">
          <a:blip r:embed="rId3">
            <a:alphaModFix/>
          </a:blip>
          <a:srcRect/>
          <a:stretch/>
        </p:blipFill>
        <p:spPr>
          <a:xfrm>
            <a:off x="2187775" y="1447800"/>
            <a:ext cx="4372485" cy="515493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8"/>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fontScale="90000"/>
          </a:bodyPr>
          <a:lstStyle/>
          <a:p>
            <a:pPr marL="0" lvl="0" indent="0" algn="r" rtl="1">
              <a:lnSpc>
                <a:spcPct val="100000"/>
              </a:lnSpc>
              <a:spcBef>
                <a:spcPts val="0"/>
              </a:spcBef>
              <a:spcAft>
                <a:spcPts val="0"/>
              </a:spcAft>
              <a:buSzPct val="34568"/>
              <a:buNone/>
            </a:pPr>
            <a:r>
              <a:rPr lang="iw-IL"/>
              <a:t>במה נתמקד בקורס זה? </a:t>
            </a:r>
            <a:br>
              <a:rPr lang="iw-IL"/>
            </a:br>
            <a:r>
              <a:rPr lang="iw-IL"/>
              <a:t>4. אבני הבניין הבסיסים ליצירת מחשב</a:t>
            </a:r>
            <a:endParaRPr/>
          </a:p>
        </p:txBody>
      </p:sp>
      <p:sp>
        <p:nvSpPr>
          <p:cNvPr id="304" name="Google Shape;304;p58"/>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24</a:t>
            </a:fld>
            <a:endParaRPr/>
          </a:p>
        </p:txBody>
      </p:sp>
      <p:sp>
        <p:nvSpPr>
          <p:cNvPr id="305" name="Google Shape;305;p58"/>
          <p:cNvSpPr txBox="1">
            <a:spLocks noGrp="1"/>
          </p:cNvSpPr>
          <p:nvPr>
            <p:ph type="body" idx="1"/>
          </p:nvPr>
        </p:nvSpPr>
        <p:spPr>
          <a:xfrm>
            <a:off x="7070" y="1447800"/>
            <a:ext cx="9060600" cy="4626000"/>
          </a:xfrm>
          <a:prstGeom prst="rect">
            <a:avLst/>
          </a:prstGeom>
          <a:noFill/>
          <a:ln>
            <a:noFill/>
          </a:ln>
        </p:spPr>
        <p:txBody>
          <a:bodyPr spcFirstLastPara="1" wrap="square" lIns="54850" tIns="91425" rIns="91425" bIns="45700" anchor="t" anchorCtr="0">
            <a:noAutofit/>
          </a:bodyPr>
          <a:lstStyle/>
          <a:p>
            <a:pPr marL="438150" lvl="0" indent="-156527" algn="r" rtl="1">
              <a:lnSpc>
                <a:spcPct val="100000"/>
              </a:lnSpc>
              <a:spcBef>
                <a:spcPts val="0"/>
              </a:spcBef>
              <a:spcAft>
                <a:spcPts val="0"/>
              </a:spcAft>
              <a:buSzPts val="2560"/>
              <a:buNone/>
            </a:pPr>
            <a:endParaRPr/>
          </a:p>
        </p:txBody>
      </p:sp>
      <p:pic>
        <p:nvPicPr>
          <p:cNvPr id="306" name="Google Shape;306;p58"/>
          <p:cNvPicPr preferRelativeResize="0"/>
          <p:nvPr/>
        </p:nvPicPr>
        <p:blipFill rotWithShape="1">
          <a:blip r:embed="rId3">
            <a:alphaModFix/>
          </a:blip>
          <a:srcRect/>
          <a:stretch/>
        </p:blipFill>
        <p:spPr>
          <a:xfrm>
            <a:off x="2555568" y="1536192"/>
            <a:ext cx="4032863" cy="516636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5"/>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solidFill>
                  <a:srgbClr val="FFC700"/>
                </a:solidFill>
              </a:rPr>
              <a:t>מטרות הקורס</a:t>
            </a:r>
            <a:endParaRPr>
              <a:solidFill>
                <a:srgbClr val="FFC700"/>
              </a:solidFill>
            </a:endParaRPr>
          </a:p>
        </p:txBody>
      </p:sp>
      <p:sp>
        <p:nvSpPr>
          <p:cNvPr id="321" name="Google Shape;321;p1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25</a:t>
            </a:fld>
            <a:endParaRPr/>
          </a:p>
        </p:txBody>
      </p:sp>
      <p:cxnSp>
        <p:nvCxnSpPr>
          <p:cNvPr id="322" name="Google Shape;322;p15"/>
          <p:cNvCxnSpPr/>
          <p:nvPr/>
        </p:nvCxnSpPr>
        <p:spPr>
          <a:xfrm>
            <a:off x="206375" y="1524000"/>
            <a:ext cx="3582300" cy="5269800"/>
          </a:xfrm>
          <a:prstGeom prst="straightConnector1">
            <a:avLst/>
          </a:prstGeom>
          <a:noFill/>
          <a:ln w="76200" cap="flat" cmpd="sng">
            <a:solidFill>
              <a:srgbClr val="002060"/>
            </a:solidFill>
            <a:prstDash val="solid"/>
            <a:round/>
            <a:headEnd type="none" w="sm" len="sm"/>
            <a:tailEnd type="none" w="sm" len="sm"/>
          </a:ln>
        </p:spPr>
      </p:cxnSp>
      <p:cxnSp>
        <p:nvCxnSpPr>
          <p:cNvPr id="323" name="Google Shape;323;p15"/>
          <p:cNvCxnSpPr/>
          <p:nvPr/>
        </p:nvCxnSpPr>
        <p:spPr>
          <a:xfrm flipH="1">
            <a:off x="5387426" y="1600200"/>
            <a:ext cx="3550200" cy="5148600"/>
          </a:xfrm>
          <a:prstGeom prst="straightConnector1">
            <a:avLst/>
          </a:prstGeom>
          <a:noFill/>
          <a:ln w="76200" cap="flat" cmpd="sng">
            <a:solidFill>
              <a:srgbClr val="002060"/>
            </a:solidFill>
            <a:prstDash val="solid"/>
            <a:round/>
            <a:headEnd type="none" w="sm" len="sm"/>
            <a:tailEnd type="none" w="sm" len="sm"/>
          </a:ln>
        </p:spPr>
      </p:cxnSp>
      <p:sp>
        <p:nvSpPr>
          <p:cNvPr id="324" name="Google Shape;324;p15"/>
          <p:cNvSpPr txBox="1"/>
          <p:nvPr/>
        </p:nvSpPr>
        <p:spPr>
          <a:xfrm>
            <a:off x="1212850" y="1495038"/>
            <a:ext cx="6991350" cy="120028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iw-IL" sz="3600" b="0" i="0" u="none" strike="noStrike" cap="none">
                <a:solidFill>
                  <a:schemeClr val="dk1"/>
                </a:solidFill>
                <a:latin typeface="Verdana"/>
                <a:ea typeface="Verdana"/>
                <a:cs typeface="Verdana"/>
                <a:sym typeface="Verdana"/>
              </a:rPr>
              <a:t>1.</a:t>
            </a:r>
            <a:r>
              <a:rPr lang="iw-IL" sz="3600" b="0" i="0" u="none" strike="noStrike" cap="none">
                <a:solidFill>
                  <a:srgbClr val="000000"/>
                </a:solidFill>
                <a:latin typeface="Arial"/>
                <a:ea typeface="Arial"/>
                <a:cs typeface="Arial"/>
                <a:sym typeface="Arial"/>
              </a:rPr>
              <a:t> מתמטיקה בינארית ופעולות בסיסיות</a:t>
            </a:r>
            <a:r>
              <a:rPr lang="iw-IL" sz="3600" b="0" i="0" u="none" strike="noStrike" cap="none">
                <a:solidFill>
                  <a:schemeClr val="dk1"/>
                </a:solidFill>
                <a:latin typeface="Verdana"/>
                <a:ea typeface="Verdana"/>
                <a:cs typeface="Verdana"/>
                <a:sym typeface="Verdana"/>
              </a:rPr>
              <a:t> </a:t>
            </a:r>
            <a:endParaRPr sz="3600" b="0" i="0" u="none" strike="noStrike" cap="none">
              <a:solidFill>
                <a:schemeClr val="dk1"/>
              </a:solidFill>
              <a:latin typeface="Arial"/>
              <a:ea typeface="Arial"/>
              <a:cs typeface="Arial"/>
              <a:sym typeface="Arial"/>
            </a:endParaRPr>
          </a:p>
        </p:txBody>
      </p:sp>
      <p:sp>
        <p:nvSpPr>
          <p:cNvPr id="325" name="Google Shape;325;p15"/>
          <p:cNvSpPr txBox="1"/>
          <p:nvPr/>
        </p:nvSpPr>
        <p:spPr>
          <a:xfrm>
            <a:off x="2566415" y="2782188"/>
            <a:ext cx="3908426" cy="64629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iw-IL" sz="3600" b="0" i="0" u="none" strike="noStrike" cap="none">
                <a:solidFill>
                  <a:schemeClr val="dk1"/>
                </a:solidFill>
                <a:latin typeface="Verdana"/>
                <a:ea typeface="Verdana"/>
                <a:cs typeface="Verdana"/>
                <a:sym typeface="Verdana"/>
              </a:rPr>
              <a:t>2.</a:t>
            </a:r>
            <a:r>
              <a:rPr lang="iw-IL" sz="3600" b="0" i="0" u="none" strike="noStrike" cap="none">
                <a:solidFill>
                  <a:srgbClr val="000000"/>
                </a:solidFill>
                <a:latin typeface="Arial"/>
                <a:ea typeface="Arial"/>
                <a:cs typeface="Arial"/>
                <a:sym typeface="Arial"/>
              </a:rPr>
              <a:t> מכונות מצבים</a:t>
            </a:r>
            <a:endParaRPr sz="3600" b="0" i="0" u="none" strike="noStrike" cap="none">
              <a:solidFill>
                <a:schemeClr val="dk1"/>
              </a:solidFill>
              <a:latin typeface="Arial"/>
              <a:ea typeface="Arial"/>
              <a:cs typeface="Arial"/>
              <a:sym typeface="Arial"/>
            </a:endParaRPr>
          </a:p>
        </p:txBody>
      </p:sp>
      <p:sp>
        <p:nvSpPr>
          <p:cNvPr id="326" name="Google Shape;326;p15"/>
          <p:cNvSpPr txBox="1"/>
          <p:nvPr/>
        </p:nvSpPr>
        <p:spPr>
          <a:xfrm>
            <a:off x="2509685" y="3527582"/>
            <a:ext cx="4021886" cy="1754286"/>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iw-IL" sz="3600" b="0" i="0" u="none" strike="noStrike" cap="none">
                <a:solidFill>
                  <a:srgbClr val="000000"/>
                </a:solidFill>
                <a:latin typeface="Arial"/>
                <a:ea typeface="Arial"/>
                <a:cs typeface="Arial"/>
                <a:sym typeface="Arial"/>
              </a:rPr>
              <a:t>3.אבני הבניין הבסיסים ליצירת מחשב</a:t>
            </a:r>
            <a:endParaRPr sz="3600" b="0" i="0" u="none" strike="noStrike" cap="none">
              <a:solidFill>
                <a:schemeClr val="dk1"/>
              </a:solidFill>
              <a:latin typeface="Arial"/>
              <a:ea typeface="Arial"/>
              <a:cs typeface="Arial"/>
              <a:sym typeface="Arial"/>
            </a:endParaRPr>
          </a:p>
        </p:txBody>
      </p:sp>
      <p:sp>
        <p:nvSpPr>
          <p:cNvPr id="327" name="Google Shape;327;p15"/>
          <p:cNvSpPr txBox="1"/>
          <p:nvPr/>
        </p:nvSpPr>
        <p:spPr>
          <a:xfrm rot="3371514">
            <a:off x="-13418" y="4574949"/>
            <a:ext cx="4021886" cy="64629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he-IL" sz="3600" b="0" i="0" u="none" strike="noStrike" cap="none">
                <a:solidFill>
                  <a:srgbClr val="000000"/>
                </a:solidFill>
                <a:latin typeface="Arial"/>
                <a:ea typeface="Arial"/>
                <a:cs typeface="Arial"/>
                <a:sym typeface="Arial"/>
              </a:rPr>
              <a:t>תכנות לוח </a:t>
            </a:r>
            <a:r>
              <a:rPr lang="en-US" sz="3600" b="0" i="0" u="none" strike="noStrike" cap="none">
                <a:solidFill>
                  <a:srgbClr val="000000"/>
                </a:solidFill>
                <a:latin typeface="Arial"/>
                <a:ea typeface="Arial"/>
                <a:cs typeface="Arial"/>
                <a:sym typeface="Arial"/>
              </a:rPr>
              <a:t>FPGA</a:t>
            </a:r>
            <a:endParaRPr sz="3600" b="0" i="0" u="none" strike="noStrike" cap="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60"/>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solidFill>
                  <a:srgbClr val="FFC700"/>
                </a:solidFill>
              </a:rPr>
              <a:t>מה תדעו בסוף הקורס?</a:t>
            </a:r>
            <a:endParaRPr>
              <a:solidFill>
                <a:srgbClr val="FFC700"/>
              </a:solidFill>
            </a:endParaRPr>
          </a:p>
        </p:txBody>
      </p:sp>
      <p:sp>
        <p:nvSpPr>
          <p:cNvPr id="333" name="Google Shape;333;p60"/>
          <p:cNvSpPr txBox="1">
            <a:spLocks noGrp="1"/>
          </p:cNvSpPr>
          <p:nvPr>
            <p:ph type="body" idx="1"/>
          </p:nvPr>
        </p:nvSpPr>
        <p:spPr>
          <a:xfrm>
            <a:off x="457200" y="1774825"/>
            <a:ext cx="8229600" cy="4626000"/>
          </a:xfrm>
          <a:prstGeom prst="rect">
            <a:avLst/>
          </a:prstGeom>
          <a:noFill/>
          <a:ln>
            <a:noFill/>
          </a:ln>
        </p:spPr>
        <p:txBody>
          <a:bodyPr spcFirstLastPara="1" wrap="square" lIns="54850" tIns="91425" rIns="91425" bIns="45700" anchor="t" anchorCtr="0">
            <a:noAutofit/>
          </a:bodyPr>
          <a:lstStyle/>
          <a:p>
            <a:pPr marL="457200" lvl="0" indent="-320040" algn="r" rtl="1">
              <a:lnSpc>
                <a:spcPct val="100000"/>
              </a:lnSpc>
              <a:spcBef>
                <a:spcPts val="0"/>
              </a:spcBef>
              <a:spcAft>
                <a:spcPts val="0"/>
              </a:spcAft>
              <a:buSzPts val="1440"/>
              <a:buChar char="◼"/>
            </a:pPr>
            <a:r>
              <a:rPr lang="iw-IL"/>
              <a:t>לבצע חישובים והמרות במספרים בינאריים, הקסדצימליים, בנקודה קבועה וצפה, כולל פעולות חיבור.</a:t>
            </a:r>
            <a:endParaRPr/>
          </a:p>
          <a:p>
            <a:pPr marL="457200" lvl="0" indent="-320040" algn="r" rtl="1">
              <a:lnSpc>
                <a:spcPct val="100000"/>
              </a:lnSpc>
              <a:spcBef>
                <a:spcPts val="0"/>
              </a:spcBef>
              <a:spcAft>
                <a:spcPts val="0"/>
              </a:spcAft>
              <a:buSzPts val="1440"/>
              <a:buChar char="◼"/>
            </a:pPr>
            <a:r>
              <a:rPr lang="iw-IL"/>
              <a:t>לתכנן ולממש מעגלים לוגיים צירופיים ורציפים, כגון מרבבים, מפענחים ויחידות אריתמטיות (חיבורים, מפחיתים, ALUs), תוך שימוש בעקרונות תכנון.</a:t>
            </a:r>
            <a:endParaRPr/>
          </a:p>
          <a:p>
            <a:pPr marL="457200" lvl="0" indent="-320040" algn="r" rtl="1">
              <a:lnSpc>
                <a:spcPct val="100000"/>
              </a:lnSpc>
              <a:spcBef>
                <a:spcPts val="0"/>
              </a:spcBef>
              <a:spcAft>
                <a:spcPts val="0"/>
              </a:spcAft>
              <a:buSzPts val="1440"/>
              <a:buChar char="◼"/>
            </a:pPr>
            <a:r>
              <a:rPr lang="iw-IL"/>
              <a:t>להשתמש באלגברה בוליאנית ומפות קרנו לפישוט משוואות והוכחות לוגיות.</a:t>
            </a:r>
            <a:endParaRPr/>
          </a:p>
        </p:txBody>
      </p:sp>
      <p:sp>
        <p:nvSpPr>
          <p:cNvPr id="334" name="Google Shape;334;p60"/>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4b90bdec2f950e3c_236"/>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solidFill>
                  <a:srgbClr val="FFC700"/>
                </a:solidFill>
              </a:rPr>
              <a:t>מה תדעו בסוף הקורס?</a:t>
            </a:r>
            <a:endParaRPr>
              <a:solidFill>
                <a:srgbClr val="FFC700"/>
              </a:solidFill>
            </a:endParaRPr>
          </a:p>
        </p:txBody>
      </p:sp>
      <p:sp>
        <p:nvSpPr>
          <p:cNvPr id="340" name="Google Shape;340;g4b90bdec2f950e3c_236"/>
          <p:cNvSpPr txBox="1">
            <a:spLocks noGrp="1"/>
          </p:cNvSpPr>
          <p:nvPr>
            <p:ph type="body" idx="1"/>
          </p:nvPr>
        </p:nvSpPr>
        <p:spPr>
          <a:xfrm>
            <a:off x="457200" y="1774825"/>
            <a:ext cx="8229600" cy="4626000"/>
          </a:xfrm>
          <a:prstGeom prst="rect">
            <a:avLst/>
          </a:prstGeom>
          <a:noFill/>
          <a:ln>
            <a:noFill/>
          </a:ln>
        </p:spPr>
        <p:txBody>
          <a:bodyPr spcFirstLastPara="1" wrap="square" lIns="54850" tIns="91425" rIns="91425" bIns="45700" anchor="t" anchorCtr="0">
            <a:noAutofit/>
          </a:bodyPr>
          <a:lstStyle/>
          <a:p>
            <a:pPr marL="457200" lvl="0" indent="-320040" algn="r" rtl="1">
              <a:lnSpc>
                <a:spcPct val="100000"/>
              </a:lnSpc>
              <a:spcBef>
                <a:spcPts val="0"/>
              </a:spcBef>
              <a:spcAft>
                <a:spcPts val="0"/>
              </a:spcAft>
              <a:buSzPts val="1440"/>
              <a:buChar char="◼"/>
            </a:pPr>
            <a:r>
              <a:rPr lang="iw-IL"/>
              <a:t>לתכנן מכונות מצב סופיות (Moore, Mealy) עם אוטומטים ולנתח תזמון, סטיית שעון וסנכרון.</a:t>
            </a:r>
            <a:endParaRPr/>
          </a:p>
          <a:p>
            <a:pPr marL="457200" lvl="0" indent="-320040" algn="r" rtl="1">
              <a:lnSpc>
                <a:spcPct val="100000"/>
              </a:lnSpc>
              <a:spcBef>
                <a:spcPts val="0"/>
              </a:spcBef>
              <a:spcAft>
                <a:spcPts val="0"/>
              </a:spcAft>
              <a:buSzPts val="1440"/>
              <a:buChar char="◼"/>
            </a:pPr>
            <a:r>
              <a:rPr lang="iw-IL"/>
              <a:t>לממש רכיבי זיכרון (תפסים, דלגלגים, מונים, משארים, RAM, ROM) ומערכי זיכרון.</a:t>
            </a:r>
            <a:endParaRPr/>
          </a:p>
          <a:p>
            <a:pPr marL="457200" lvl="0" indent="-320040" algn="r" rtl="1">
              <a:lnSpc>
                <a:spcPct val="100000"/>
              </a:lnSpc>
              <a:spcBef>
                <a:spcPts val="0"/>
              </a:spcBef>
              <a:spcAft>
                <a:spcPts val="0"/>
              </a:spcAft>
              <a:buSzPts val="1440"/>
              <a:buChar char="◼"/>
            </a:pPr>
            <a:r>
              <a:rPr lang="iw-IL"/>
              <a:t>להשתמש בכלי בינה מלאכותית</a:t>
            </a:r>
            <a:r>
              <a:rPr lang="en-US"/>
              <a:t> </a:t>
            </a:r>
            <a:r>
              <a:rPr lang="iw-IL"/>
              <a:t>לתכנון, סימולציה ובדיקה של מעגלים ספרתיים, ולבקר את התוצרים.</a:t>
            </a:r>
            <a:endParaRPr/>
          </a:p>
        </p:txBody>
      </p:sp>
      <p:sp>
        <p:nvSpPr>
          <p:cNvPr id="341" name="Google Shape;341;g4b90bdec2f950e3c_236"/>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8"/>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איך נלמד את החומר? </a:t>
            </a:r>
            <a:endParaRPr/>
          </a:p>
        </p:txBody>
      </p:sp>
      <p:sp>
        <p:nvSpPr>
          <p:cNvPr id="347" name="Google Shape;347;p18"/>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p>
            <a:pPr marL="0" lvl="0" indent="0" algn="r" rtl="1">
              <a:lnSpc>
                <a:spcPct val="100000"/>
              </a:lnSpc>
              <a:spcBef>
                <a:spcPts val="0"/>
              </a:spcBef>
              <a:spcAft>
                <a:spcPts val="0"/>
              </a:spcAft>
              <a:buSzPts val="1600"/>
              <a:buNone/>
            </a:pPr>
            <a:r>
              <a:rPr lang="iw-IL"/>
              <a:t>מערכות ספרתיות</a:t>
            </a:r>
            <a:endParaRPr/>
          </a:p>
        </p:txBody>
      </p:sp>
      <p:sp>
        <p:nvSpPr>
          <p:cNvPr id="348" name="Google Shape;348;p18"/>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1"/>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עקרונות הלימוד בקורס</a:t>
            </a:r>
            <a:endParaRPr/>
          </a:p>
        </p:txBody>
      </p:sp>
      <p:sp>
        <p:nvSpPr>
          <p:cNvPr id="354" name="Google Shape;354;p6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57200" lvl="0" indent="-320040" algn="r" rtl="1">
              <a:lnSpc>
                <a:spcPct val="100000"/>
              </a:lnSpc>
              <a:spcBef>
                <a:spcPts val="0"/>
              </a:spcBef>
              <a:spcAft>
                <a:spcPts val="0"/>
              </a:spcAft>
              <a:buSzPts val="1440"/>
              <a:buChar char="◼"/>
            </a:pPr>
            <a:r>
              <a:rPr lang="iw-IL"/>
              <a:t>מעגלי עשייה/משוב מהירים וקצרים.</a:t>
            </a:r>
            <a:endParaRPr/>
          </a:p>
          <a:p>
            <a:pPr marL="457200" lvl="0" indent="-320040" algn="r" rtl="1">
              <a:lnSpc>
                <a:spcPct val="100000"/>
              </a:lnSpc>
              <a:spcBef>
                <a:spcPts val="0"/>
              </a:spcBef>
              <a:spcAft>
                <a:spcPts val="0"/>
              </a:spcAft>
              <a:buSzPts val="1440"/>
              <a:buChar char="◼"/>
            </a:pPr>
            <a:r>
              <a:rPr lang="iw-IL"/>
              <a:t>למידה דרך עשייה.</a:t>
            </a:r>
            <a:endParaRPr/>
          </a:p>
          <a:p>
            <a:pPr marL="457200" lvl="0" indent="-320040" algn="r" rtl="1">
              <a:lnSpc>
                <a:spcPct val="100000"/>
              </a:lnSpc>
              <a:spcBef>
                <a:spcPts val="0"/>
              </a:spcBef>
              <a:spcAft>
                <a:spcPts val="0"/>
              </a:spcAft>
              <a:buSzPts val="1440"/>
              <a:buChar char="◼"/>
            </a:pPr>
            <a:r>
              <a:rPr lang="iw-IL"/>
              <a:t>העברת ידע מיטבית בזמן השיעור/תרגול.</a:t>
            </a:r>
            <a:endParaRPr/>
          </a:p>
        </p:txBody>
      </p:sp>
      <p:sp>
        <p:nvSpPr>
          <p:cNvPr id="355" name="Google Shape;355;p6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2"/>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דרישות ונושאים פורמליים</a:t>
            </a:r>
            <a:endParaRPr/>
          </a:p>
        </p:txBody>
      </p:sp>
      <p:sp>
        <p:nvSpPr>
          <p:cNvPr id="361" name="Google Shape;361;p62"/>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p>
            <a:pPr marL="0" lvl="0" indent="0" algn="r" rtl="1">
              <a:lnSpc>
                <a:spcPct val="100000"/>
              </a:lnSpc>
              <a:spcBef>
                <a:spcPts val="0"/>
              </a:spcBef>
              <a:spcAft>
                <a:spcPts val="0"/>
              </a:spcAft>
              <a:buSzPts val="1600"/>
              <a:buNone/>
            </a:pPr>
            <a:r>
              <a:rPr lang="iw-IL"/>
              <a:t>מערכות ספרתיות</a:t>
            </a:r>
            <a:endParaRPr/>
          </a:p>
        </p:txBody>
      </p:sp>
      <p:sp>
        <p:nvSpPr>
          <p:cNvPr id="362" name="Google Shape;362;p6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3"/>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t>צוות הקורס מערכות ספרתיות</a:t>
            </a:r>
            <a:endParaRPr/>
          </a:p>
        </p:txBody>
      </p:sp>
      <p:sp>
        <p:nvSpPr>
          <p:cNvPr id="368" name="Google Shape;368;p63"/>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indent="-319088" algn="r" rtl="1">
              <a:buSzPts val="2560"/>
            </a:pPr>
            <a:r>
              <a:rPr lang="iw-IL"/>
              <a:t>מרצה: ד"ר עמיר קולאמן</a:t>
            </a:r>
          </a:p>
          <a:p>
            <a:pPr marL="438150" indent="-319088" algn="r" rtl="1">
              <a:buSzPts val="2560"/>
            </a:pPr>
            <a:r>
              <a:rPr lang="iw-IL"/>
              <a:t>משרד: זום / בסוף השיעור במעבדת המחשבים 10002</a:t>
            </a:r>
          </a:p>
          <a:p>
            <a:pPr marL="438150" indent="-319088" algn="r" rtl="1">
              <a:buSzPts val="2560"/>
            </a:pPr>
            <a:r>
              <a:rPr lang="iw-IL"/>
              <a:t>שעת קבלה: בתיאום מראש בזום / מייד בתום מפגש המעבדה</a:t>
            </a:r>
          </a:p>
          <a:p>
            <a:pPr marL="438150" indent="-319088" algn="r" rtl="1">
              <a:buSzPts val="2560"/>
            </a:pPr>
            <a:r>
              <a:rPr lang="iw-IL"/>
              <a:t>פרטי התקשרות: </a:t>
            </a:r>
            <a:r>
              <a:rPr lang="en-US"/>
              <a:t>kolaman@mail.sapir.ac.il</a:t>
            </a:r>
          </a:p>
          <a:p>
            <a:pPr marL="438150" indent="-319088" algn="r" rtl="1">
              <a:buSzPts val="2560"/>
            </a:pPr>
            <a:r>
              <a:rPr lang="iw-IL"/>
              <a:t>בודק תרגילים: ניר חזן</a:t>
            </a:r>
            <a:endParaRPr/>
          </a:p>
        </p:txBody>
      </p:sp>
      <p:sp>
        <p:nvSpPr>
          <p:cNvPr id="369" name="Google Shape;369;p6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0"/>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latin typeface="David"/>
                <a:ea typeface="David"/>
                <a:cs typeface="David"/>
                <a:sym typeface="David"/>
              </a:rPr>
              <a:t>דרישות פורמליות</a:t>
            </a:r>
            <a:endParaRPr/>
          </a:p>
        </p:txBody>
      </p:sp>
      <p:sp>
        <p:nvSpPr>
          <p:cNvPr id="375" name="Google Shape;375;p20"/>
          <p:cNvSpPr txBox="1">
            <a:spLocks noGrp="1"/>
          </p:cNvSpPr>
          <p:nvPr>
            <p:ph type="body" idx="1"/>
          </p:nvPr>
        </p:nvSpPr>
        <p:spPr>
          <a:xfrm>
            <a:off x="457200" y="1371254"/>
            <a:ext cx="8686800" cy="4625975"/>
          </a:xfrm>
          <a:prstGeom prst="rect">
            <a:avLst/>
          </a:prstGeom>
          <a:noFill/>
          <a:ln>
            <a:noFill/>
          </a:ln>
        </p:spPr>
        <p:txBody>
          <a:bodyPr spcFirstLastPara="1" wrap="square" lIns="54850" tIns="91425" rIns="91425" bIns="45700" anchor="t" anchorCtr="0">
            <a:noAutofit/>
          </a:bodyPr>
          <a:lstStyle/>
          <a:p>
            <a:pPr marL="438150" indent="-319088" algn="r" rtl="1">
              <a:buSzPts val="2560"/>
            </a:pPr>
            <a:r>
              <a:rPr lang="iw-IL">
                <a:latin typeface="David"/>
                <a:ea typeface="David"/>
                <a:cs typeface="David"/>
                <a:sym typeface="David"/>
              </a:rPr>
              <a:t>לפני כל מפגש –</a:t>
            </a:r>
          </a:p>
          <a:p>
            <a:pPr marL="895350" lvl="1" indent="-319088" algn="r" rtl="1">
              <a:spcBef>
                <a:spcPts val="0"/>
              </a:spcBef>
              <a:buSzPts val="2560"/>
              <a:buChar char="◼"/>
            </a:pPr>
            <a:r>
              <a:rPr lang="iw-IL">
                <a:latin typeface="David"/>
                <a:ea typeface="David"/>
                <a:cs typeface="David"/>
                <a:sym typeface="David"/>
              </a:rPr>
              <a:t>צפייה בהרצאה המוקלטת ומענה על שאלות הכנה</a:t>
            </a:r>
          </a:p>
          <a:p>
            <a:pPr marL="438150" indent="-319088" algn="r" rtl="1">
              <a:buSzPts val="2560"/>
            </a:pPr>
            <a:r>
              <a:rPr lang="iw-IL">
                <a:latin typeface="David"/>
                <a:ea typeface="David"/>
                <a:cs typeface="David"/>
                <a:sym typeface="David"/>
              </a:rPr>
              <a:t>בכל מפגש –</a:t>
            </a:r>
          </a:p>
          <a:p>
            <a:pPr marL="895350" lvl="1" indent="-319088" algn="r" rtl="1">
              <a:spcBef>
                <a:spcPts val="0"/>
              </a:spcBef>
              <a:buSzPts val="2560"/>
              <a:buChar char="◼"/>
            </a:pPr>
            <a:r>
              <a:rPr lang="iw-IL">
                <a:latin typeface="David"/>
                <a:ea typeface="David"/>
                <a:cs typeface="David"/>
                <a:sym typeface="David"/>
              </a:rPr>
              <a:t>בוחן כניסה ב-10 הדקות הראשונות</a:t>
            </a:r>
          </a:p>
          <a:p>
            <a:pPr marL="895350" lvl="1" indent="-319088" algn="r" rtl="1">
              <a:spcBef>
                <a:spcPts val="0"/>
              </a:spcBef>
              <a:buSzPts val="2560"/>
              <a:buChar char="◼"/>
            </a:pPr>
            <a:r>
              <a:rPr lang="iw-IL">
                <a:latin typeface="David"/>
                <a:ea typeface="David"/>
                <a:cs typeface="David"/>
                <a:sym typeface="David"/>
              </a:rPr>
              <a:t>עבודה על הפרויקט ועבודה בכיתה (הגשה בסוף השיעור)</a:t>
            </a:r>
          </a:p>
          <a:p>
            <a:pPr marL="438150" indent="-319088" algn="r" rtl="1">
              <a:buSzPts val="2560"/>
            </a:pPr>
            <a:r>
              <a:rPr lang="iw-IL">
                <a:latin typeface="David"/>
                <a:ea typeface="David"/>
                <a:cs typeface="David"/>
                <a:sym typeface="David"/>
              </a:rPr>
              <a:t>בוחן מסכם – 11/1/27 (המפגש האחרון)</a:t>
            </a:r>
          </a:p>
          <a:p>
            <a:pPr marL="438150" indent="-319088" algn="r" rtl="1">
              <a:buSzPts val="2560"/>
            </a:pPr>
            <a:r>
              <a:rPr lang="iw-IL">
                <a:latin typeface="David"/>
                <a:ea typeface="David"/>
                <a:cs typeface="David"/>
                <a:sym typeface="David"/>
              </a:rPr>
              <a:t>מינימום הכרחי כדי לעבור את הקורס: הבוחן המסכם, הפרויקט ולפחות בוחן כניסה אחד.</a:t>
            </a:r>
            <a:endParaRPr/>
          </a:p>
        </p:txBody>
      </p:sp>
      <p:sp>
        <p:nvSpPr>
          <p:cNvPr id="376" name="Google Shape;376;p20"/>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64"/>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t>קורס מערכות ספרתיות</a:t>
            </a:r>
            <a:endParaRPr/>
          </a:p>
        </p:txBody>
      </p:sp>
      <p:sp>
        <p:nvSpPr>
          <p:cNvPr id="382" name="Google Shape;382;p64"/>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lvl="0" indent="-319088" algn="r" rtl="1">
              <a:lnSpc>
                <a:spcPct val="100000"/>
              </a:lnSpc>
              <a:spcBef>
                <a:spcPts val="0"/>
              </a:spcBef>
              <a:spcAft>
                <a:spcPts val="0"/>
              </a:spcAft>
              <a:buSzPts val="2560"/>
              <a:buChar char="◼"/>
            </a:pPr>
            <a:r>
              <a:rPr lang="iw-IL"/>
              <a:t>אתר הקורס במודל</a:t>
            </a:r>
            <a:endParaRPr/>
          </a:p>
          <a:p>
            <a:pPr marL="730250" lvl="1" indent="-273050" algn="r" rtl="1">
              <a:lnSpc>
                <a:spcPct val="100000"/>
              </a:lnSpc>
              <a:spcBef>
                <a:spcPts val="560"/>
              </a:spcBef>
              <a:spcAft>
                <a:spcPts val="0"/>
              </a:spcAft>
              <a:buSzPts val="2520"/>
              <a:buChar char="▪"/>
            </a:pPr>
            <a:r>
              <a:rPr lang="iw-IL" u="sng">
                <a:solidFill>
                  <a:schemeClr val="hlink"/>
                </a:solidFill>
                <a:hlinkClick r:id="rId3"/>
              </a:rPr>
              <a:t>https://</a:t>
            </a:r>
            <a:r>
              <a:rPr lang="en-US" u="sng">
                <a:solidFill>
                  <a:schemeClr val="hlink"/>
                </a:solidFill>
              </a:rPr>
              <a:t>moodle.sapir.ac.il/2026/</a:t>
            </a:r>
            <a:endParaRPr/>
          </a:p>
          <a:p>
            <a:pPr marL="273050" lvl="0" indent="-273050" algn="r" rtl="1">
              <a:lnSpc>
                <a:spcPct val="100000"/>
              </a:lnSpc>
              <a:spcBef>
                <a:spcPts val="560"/>
              </a:spcBef>
              <a:spcAft>
                <a:spcPts val="0"/>
              </a:spcAft>
              <a:buSzPts val="2520"/>
              <a:buChar char="▪"/>
            </a:pPr>
            <a:r>
              <a:rPr lang="iw-IL"/>
              <a:t>מה באתר:</a:t>
            </a:r>
            <a:endParaRPr/>
          </a:p>
          <a:p>
            <a:pPr marL="273050" lvl="0" indent="-273050" algn="r" rtl="1">
              <a:lnSpc>
                <a:spcPct val="100000"/>
              </a:lnSpc>
              <a:spcBef>
                <a:spcPts val="560"/>
              </a:spcBef>
              <a:spcAft>
                <a:spcPts val="0"/>
              </a:spcAft>
              <a:buSzPts val="2520"/>
              <a:buChar char="▪"/>
            </a:pPr>
            <a:r>
              <a:rPr lang="iw-IL"/>
              <a:t>1. עבודות הכנה לפני מפגש פרונטלי.</a:t>
            </a:r>
            <a:endParaRPr/>
          </a:p>
          <a:p>
            <a:pPr marL="273050" lvl="0" indent="-273050" algn="r" rtl="1">
              <a:lnSpc>
                <a:spcPct val="100000"/>
              </a:lnSpc>
              <a:spcBef>
                <a:spcPts val="560"/>
              </a:spcBef>
              <a:spcAft>
                <a:spcPts val="0"/>
              </a:spcAft>
              <a:buSzPts val="2520"/>
              <a:buChar char="▪"/>
            </a:pPr>
            <a:r>
              <a:rPr lang="iw-IL"/>
              <a:t>2. בוחן כניסה למפגש פרונטלי.</a:t>
            </a:r>
            <a:endParaRPr/>
          </a:p>
          <a:p>
            <a:pPr marL="273050" lvl="0" indent="-273050" algn="r" rtl="1">
              <a:lnSpc>
                <a:spcPct val="100000"/>
              </a:lnSpc>
              <a:spcBef>
                <a:spcPts val="560"/>
              </a:spcBef>
              <a:spcAft>
                <a:spcPts val="0"/>
              </a:spcAft>
              <a:buSzPts val="2520"/>
              <a:buChar char="▪"/>
            </a:pPr>
            <a:r>
              <a:rPr lang="iw-IL"/>
              <a:t>3. קישורים לסרטוני הדרכה לפני המפגש הפרונטלי.</a:t>
            </a:r>
            <a:endParaRPr/>
          </a:p>
          <a:p>
            <a:pPr marL="273050" lvl="0" indent="-113030" algn="r" rtl="1">
              <a:lnSpc>
                <a:spcPct val="100000"/>
              </a:lnSpc>
              <a:spcBef>
                <a:spcPts val="560"/>
              </a:spcBef>
              <a:spcAft>
                <a:spcPts val="0"/>
              </a:spcAft>
              <a:buSzPts val="2520"/>
              <a:buNone/>
            </a:pPr>
            <a:endParaRPr/>
          </a:p>
        </p:txBody>
      </p:sp>
      <p:sp>
        <p:nvSpPr>
          <p:cNvPr id="383" name="Google Shape;383;p6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1"/>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latin typeface="David"/>
                <a:ea typeface="David"/>
                <a:cs typeface="David"/>
                <a:sym typeface="David"/>
              </a:rPr>
              <a:t>דרישות פורמליות</a:t>
            </a:r>
            <a:endParaRPr/>
          </a:p>
        </p:txBody>
      </p:sp>
      <p:sp>
        <p:nvSpPr>
          <p:cNvPr id="389" name="Google Shape;389;p2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indent="-319088" algn="r" rtl="1">
              <a:buSzPts val="2560"/>
            </a:pPr>
            <a:r>
              <a:rPr lang="iw-IL">
                <a:latin typeface="David"/>
                <a:ea typeface="David"/>
                <a:cs typeface="David"/>
                <a:sym typeface="David"/>
              </a:rPr>
              <a:t>בתחילת כל מפגש יתקיים בוחן כניסה קצר על חומר ההכנה (הסרטונים).</a:t>
            </a:r>
          </a:p>
          <a:p>
            <a:pPr marL="438150" indent="-319088" algn="r" rtl="1">
              <a:buSzPts val="2560"/>
            </a:pPr>
            <a:r>
              <a:rPr lang="iw-IL">
                <a:latin typeface="David"/>
                <a:ea typeface="David"/>
                <a:cs typeface="David"/>
                <a:sym typeface="David"/>
              </a:rPr>
              <a:t>איחור לכיתה לאחר זמן סיום הבוחן – 0 בבוחן ובמטלת ההכנה.</a:t>
            </a:r>
          </a:p>
          <a:p>
            <a:pPr marL="438150" indent="-319088" algn="r" rtl="1">
              <a:buSzPts val="2560"/>
            </a:pPr>
            <a:r>
              <a:rPr lang="iw-IL">
                <a:latin typeface="David"/>
                <a:ea typeface="David"/>
                <a:cs typeface="David"/>
                <a:sym typeface="David"/>
              </a:rPr>
              <a:t>לא ניתן להגיש באיחור.</a:t>
            </a:r>
          </a:p>
          <a:p>
            <a:pPr marL="438150" indent="-319088" algn="r" rtl="1">
              <a:buSzPts val="2560"/>
            </a:pPr>
            <a:r>
              <a:rPr lang="iw-IL">
                <a:latin typeface="David"/>
                <a:ea typeface="David"/>
                <a:cs typeface="David"/>
                <a:sym typeface="David"/>
              </a:rPr>
              <a:t>היעדרות מסיבה מוצדקת (על פי נהלי המכללה) – המטלה תבוטל ותתווסף במשקל למטלות האחרות.</a:t>
            </a:r>
          </a:p>
          <a:p>
            <a:pPr marL="438150" indent="-319088" algn="r" rtl="1">
              <a:buSzPts val="2560"/>
            </a:pPr>
            <a:r>
              <a:rPr lang="iw-IL">
                <a:latin typeface="David"/>
                <a:ea typeface="David"/>
                <a:cs typeface="David"/>
                <a:sym typeface="David"/>
              </a:rPr>
              <a:t>נוכחות חובה – לפחות 70% מהמפגשים.</a:t>
            </a:r>
            <a:endParaRPr/>
          </a:p>
        </p:txBody>
      </p:sp>
      <p:sp>
        <p:nvSpPr>
          <p:cNvPr id="390" name="Google Shape;390;p2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2"/>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t>דרישות הקורס</a:t>
            </a:r>
            <a:endParaRPr/>
          </a:p>
        </p:txBody>
      </p:sp>
      <p:sp>
        <p:nvSpPr>
          <p:cNvPr id="396" name="Google Shape;396;p22"/>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lvl="0" indent="-319088" algn="r" rtl="1">
              <a:lnSpc>
                <a:spcPct val="100000"/>
              </a:lnSpc>
              <a:spcBef>
                <a:spcPts val="0"/>
              </a:spcBef>
              <a:spcAft>
                <a:spcPts val="0"/>
              </a:spcAft>
              <a:buSzPts val="2560"/>
              <a:buChar char="◼"/>
            </a:pPr>
            <a:r>
              <a:rPr lang="iw-IL"/>
              <a:t>עבור כל אחת מיחידות הקורס 10 יחידות</a:t>
            </a:r>
            <a:endParaRPr/>
          </a:p>
          <a:p>
            <a:pPr marL="730250" lvl="1" indent="-273050" algn="r" rtl="1">
              <a:lnSpc>
                <a:spcPct val="100000"/>
              </a:lnSpc>
              <a:spcBef>
                <a:spcPts val="560"/>
              </a:spcBef>
              <a:spcAft>
                <a:spcPts val="0"/>
              </a:spcAft>
              <a:buSzPts val="2520"/>
              <a:buChar char="▪"/>
            </a:pPr>
            <a:r>
              <a:rPr lang="iw-IL"/>
              <a:t>פרויקט 	           </a:t>
            </a:r>
            <a:endParaRPr/>
          </a:p>
          <a:p>
            <a:pPr marL="730250" lvl="1" indent="-273050" algn="r" rtl="1">
              <a:lnSpc>
                <a:spcPct val="100000"/>
              </a:lnSpc>
              <a:spcBef>
                <a:spcPts val="560"/>
              </a:spcBef>
              <a:spcAft>
                <a:spcPts val="0"/>
              </a:spcAft>
              <a:buSzPts val="2520"/>
              <a:buChar char="▪"/>
            </a:pPr>
            <a:r>
              <a:rPr lang="iw-IL"/>
              <a:t>השתתפות במשוב</a:t>
            </a:r>
            <a:endParaRPr/>
          </a:p>
          <a:p>
            <a:pPr marL="730250" lvl="1" indent="-273050" algn="r" rtl="1">
              <a:lnSpc>
                <a:spcPct val="100000"/>
              </a:lnSpc>
              <a:spcBef>
                <a:spcPts val="560"/>
              </a:spcBef>
              <a:spcAft>
                <a:spcPts val="0"/>
              </a:spcAft>
              <a:buSzPts val="2520"/>
              <a:buChar char="▪"/>
            </a:pPr>
            <a:r>
              <a:rPr lang="iw-IL"/>
              <a:t>מטלות הכנה</a:t>
            </a:r>
            <a:endParaRPr/>
          </a:p>
          <a:p>
            <a:pPr marL="730250" lvl="1" indent="-273050" algn="r" rtl="1">
              <a:lnSpc>
                <a:spcPct val="100000"/>
              </a:lnSpc>
              <a:spcBef>
                <a:spcPts val="560"/>
              </a:spcBef>
              <a:spcAft>
                <a:spcPts val="0"/>
              </a:spcAft>
              <a:buSzPts val="2520"/>
              <a:buChar char="▪"/>
            </a:pPr>
            <a:r>
              <a:rPr lang="iw-IL"/>
              <a:t>בוחן כניסה	 </a:t>
            </a:r>
            <a:endParaRPr/>
          </a:p>
          <a:p>
            <a:pPr marL="438150" lvl="0" indent="-319088" algn="r" rtl="1">
              <a:lnSpc>
                <a:spcPct val="100000"/>
              </a:lnSpc>
              <a:spcBef>
                <a:spcPts val="0"/>
              </a:spcBef>
              <a:spcAft>
                <a:spcPts val="0"/>
              </a:spcAft>
              <a:buSzPts val="2560"/>
              <a:buChar char="◼"/>
            </a:pPr>
            <a:r>
              <a:rPr lang="iw-IL"/>
              <a:t>בוחן מסכם    	      			      	</a:t>
            </a:r>
            <a:endParaRPr/>
          </a:p>
          <a:p>
            <a:pPr marL="119062" lvl="0" indent="0" algn="r" rtl="1">
              <a:lnSpc>
                <a:spcPct val="100000"/>
              </a:lnSpc>
              <a:spcBef>
                <a:spcPts val="0"/>
              </a:spcBef>
              <a:spcAft>
                <a:spcPts val="0"/>
              </a:spcAft>
              <a:buSzPts val="2560"/>
              <a:buNone/>
            </a:pPr>
            <a:endParaRPr/>
          </a:p>
        </p:txBody>
      </p:sp>
      <p:sp>
        <p:nvSpPr>
          <p:cNvPr id="397" name="Google Shape;397;p2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3"/>
          <p:cNvSpPr txBox="1">
            <a:spLocks noGrp="1"/>
          </p:cNvSpPr>
          <p:nvPr>
            <p:ph type="title"/>
          </p:nvPr>
        </p:nvSpPr>
        <p:spPr>
          <a:xfrm>
            <a:off x="-491490" y="-336042"/>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מבנה הציון</a:t>
            </a:r>
            <a:endParaRPr/>
          </a:p>
        </p:txBody>
      </p:sp>
      <p:sp>
        <p:nvSpPr>
          <p:cNvPr id="403" name="Google Shape;403;p2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36</a:t>
            </a:fld>
            <a:endParaRPr/>
          </a:p>
        </p:txBody>
      </p:sp>
      <p:sp>
        <p:nvSpPr>
          <p:cNvPr id="404" name="Google Shape;404;p23"/>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57200" lvl="0" indent="-228600" algn="l" rtl="0">
              <a:lnSpc>
                <a:spcPct val="100000"/>
              </a:lnSpc>
              <a:spcBef>
                <a:spcPts val="0"/>
              </a:spcBef>
              <a:spcAft>
                <a:spcPts val="0"/>
              </a:spcAft>
              <a:buSzPts val="1440"/>
              <a:buNone/>
            </a:pPr>
            <a:endParaRPr/>
          </a:p>
        </p:txBody>
      </p:sp>
      <p:graphicFrame>
        <p:nvGraphicFramePr>
          <p:cNvPr id="405" name="Google Shape;405;p23"/>
          <p:cNvGraphicFramePr/>
          <p:nvPr>
            <p:extLst>
              <p:ext uri="{D42A27DB-BD31-4B8C-83A1-F6EECF244321}">
                <p14:modId xmlns:p14="http://schemas.microsoft.com/office/powerpoint/2010/main" val="3320943222"/>
              </p:ext>
            </p:extLst>
          </p:nvPr>
        </p:nvGraphicFramePr>
        <p:xfrm>
          <a:off x="206375" y="682010"/>
          <a:ext cx="3000000" cy="3000000"/>
        </p:xfrm>
        <a:graphic>
          <a:graphicData uri="http://schemas.openxmlformats.org/drawingml/2006/table">
            <a:tbl>
              <a:tblPr bandRow="1">
                <a:noFill/>
                <a:tableStyleId>{B8C3AE85-FB49-4CD0-B045-2F34A34AC5DA}</a:tableStyleId>
              </a:tblPr>
              <a:tblGrid>
                <a:gridCol w="887150">
                  <a:extLst>
                    <a:ext uri="{9D8B030D-6E8A-4147-A177-3AD203B41FA5}">
                      <a16:colId xmlns:a16="http://schemas.microsoft.com/office/drawing/2014/main" val="20000"/>
                    </a:ext>
                  </a:extLst>
                </a:gridCol>
                <a:gridCol w="4404925">
                  <a:extLst>
                    <a:ext uri="{9D8B030D-6E8A-4147-A177-3AD203B41FA5}">
                      <a16:colId xmlns:a16="http://schemas.microsoft.com/office/drawing/2014/main" val="20001"/>
                    </a:ext>
                  </a:extLst>
                </a:gridCol>
                <a:gridCol w="2249250">
                  <a:extLst>
                    <a:ext uri="{9D8B030D-6E8A-4147-A177-3AD203B41FA5}">
                      <a16:colId xmlns:a16="http://schemas.microsoft.com/office/drawing/2014/main" val="20002"/>
                    </a:ext>
                  </a:extLst>
                </a:gridCol>
                <a:gridCol w="1099100">
                  <a:extLst>
                    <a:ext uri="{9D8B030D-6E8A-4147-A177-3AD203B41FA5}">
                      <a16:colId xmlns:a16="http://schemas.microsoft.com/office/drawing/2014/main" val="20003"/>
                    </a:ext>
                  </a:extLst>
                </a:gridCol>
              </a:tblGrid>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מטלה</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משימת עבודה</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מועד הגשה</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 מהציון הסופי</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0"/>
                  </a:ext>
                </a:extLst>
              </a:tr>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1</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מטלות הכנה בבית (10%) + בחני כניסה בתחילת המעבדה (20%)    </a:t>
                      </a:r>
                      <a:endParaRPr sz="2400" u="none" strike="noStrike" cap="none"/>
                    </a:p>
                    <a:p>
                      <a:pPr marL="0" marR="0" lvl="0" indent="0" algn="ctr" rtl="1">
                        <a:lnSpc>
                          <a:spcPct val="107000"/>
                        </a:lnSpc>
                        <a:spcBef>
                          <a:spcPts val="0"/>
                        </a:spcBef>
                        <a:spcAft>
                          <a:spcPts val="0"/>
                        </a:spcAft>
                        <a:buClr>
                          <a:srgbClr val="000000"/>
                        </a:buClr>
                        <a:buSzPts val="2400"/>
                        <a:buFont typeface="Arial"/>
                        <a:buNone/>
                      </a:pPr>
                      <a:r>
                        <a:rPr lang="iw-IL" sz="2400" u="none" strike="noStrike" cap="none"/>
                        <a:t>(ללא הגשה של כל אחד מהם הציון הוא 0)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10 מפגשים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30</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1"/>
                  </a:ext>
                </a:extLst>
              </a:tr>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2</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השתתפות במשוב עמיתים/משוב למרצה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10 מפגשים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1</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2"/>
                  </a:ext>
                </a:extLst>
              </a:tr>
              <a:tr h="16702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3</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בוחן מסכם</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מפגש האחרון של  הסמסטר 11/1/27</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29</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3"/>
                  </a:ext>
                </a:extLst>
              </a:tr>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4</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פרויקט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10 מפגשים</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40</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25"/>
          <p:cNvSpPr txBox="1"/>
          <p:nvPr/>
        </p:nvSpPr>
        <p:spPr>
          <a:xfrm>
            <a:off x="488927" y="554038"/>
            <a:ext cx="8070850" cy="817562"/>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000000"/>
              </a:buClr>
              <a:buSzPts val="4500"/>
              <a:buFont typeface="Arial"/>
              <a:buNone/>
            </a:pPr>
            <a:r>
              <a:rPr lang="iw-IL" sz="4500" b="1" i="0" u="none" strike="noStrike" cap="none">
                <a:solidFill>
                  <a:srgbClr val="FFC800"/>
                </a:solidFill>
                <a:latin typeface="Corbel"/>
                <a:ea typeface="Corbel"/>
                <a:cs typeface="Corbel"/>
                <a:sym typeface="Corbel"/>
              </a:rPr>
              <a:t>ביבליוגרפיה</a:t>
            </a:r>
            <a:endParaRPr sz="4500" b="1" i="0" u="none" strike="noStrike" cap="none">
              <a:solidFill>
                <a:srgbClr val="FFC800"/>
              </a:solidFill>
              <a:latin typeface="Corbel"/>
              <a:ea typeface="Corbel"/>
              <a:cs typeface="Corbel"/>
              <a:sym typeface="Corbel"/>
            </a:endParaRPr>
          </a:p>
        </p:txBody>
      </p:sp>
      <p:sp>
        <p:nvSpPr>
          <p:cNvPr id="411" name="Google Shape;411;p25"/>
          <p:cNvSpPr txBox="1"/>
          <p:nvPr/>
        </p:nvSpPr>
        <p:spPr>
          <a:xfrm>
            <a:off x="571500" y="1748791"/>
            <a:ext cx="7852410" cy="2173544"/>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rgbClr val="000000"/>
              </a:buClr>
              <a:buSzPts val="3200"/>
              <a:buFont typeface="Arial"/>
              <a:buNone/>
            </a:pPr>
            <a:r>
              <a:rPr lang="iw-IL" sz="3200" b="0" i="0" u="none" strike="noStrike" cap="none">
                <a:solidFill>
                  <a:srgbClr val="000000"/>
                </a:solidFill>
                <a:latin typeface="Arial"/>
                <a:ea typeface="Arial"/>
                <a:cs typeface="Arial"/>
                <a:sym typeface="Arial"/>
              </a:rPr>
              <a:t>Harris, Sarah, and David Harris. </a:t>
            </a:r>
            <a:r>
              <a:rPr lang="iw-IL" sz="3200" b="0" i="1" u="none" strike="noStrike" cap="none">
                <a:solidFill>
                  <a:srgbClr val="000000"/>
                </a:solidFill>
                <a:latin typeface="Arial"/>
                <a:ea typeface="Arial"/>
                <a:cs typeface="Arial"/>
                <a:sym typeface="Arial"/>
              </a:rPr>
              <a:t>Digital Design and Computer Architecture, RISC-V Edition</a:t>
            </a:r>
            <a:r>
              <a:rPr lang="iw-IL" sz="3200" b="0" i="0" u="none" strike="noStrike" cap="none">
                <a:solidFill>
                  <a:srgbClr val="000000"/>
                </a:solidFill>
                <a:latin typeface="Arial"/>
                <a:ea typeface="Arial"/>
                <a:cs typeface="Arial"/>
                <a:sym typeface="Arial"/>
              </a:rPr>
              <a:t>. Morgan Kaufmann, 2021. Chapters 1-5</a:t>
            </a: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1089</Words>
  <Application>Microsoft Office PowerPoint</Application>
  <PresentationFormat>‫הצגה על המסך (4:3)</PresentationFormat>
  <Paragraphs>202</Paragraphs>
  <Slides>37</Slides>
  <Notes>37</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37</vt:i4>
      </vt:variant>
    </vt:vector>
  </HeadingPairs>
  <TitlesOfParts>
    <vt:vector size="44" baseType="lpstr">
      <vt:lpstr>Verdana</vt:lpstr>
      <vt:lpstr>David</vt:lpstr>
      <vt:lpstr>Arial</vt:lpstr>
      <vt:lpstr>Calibri</vt:lpstr>
      <vt:lpstr>Corbel</vt:lpstr>
      <vt:lpstr>Noto Sans Symbols</vt:lpstr>
      <vt:lpstr>Module</vt:lpstr>
      <vt:lpstr>מצגת של PowerPoint‏</vt:lpstr>
      <vt:lpstr>מצגת של PowerPoint‏</vt:lpstr>
      <vt:lpstr>Numerical Systems מערכות ספרתיות</vt:lpstr>
      <vt:lpstr>תוכן עניינים  </vt:lpstr>
      <vt:lpstr>למה צריך את זה?</vt:lpstr>
      <vt:lpstr>למה צריך את זה?</vt:lpstr>
      <vt:lpstr>מה עובד יותר מהר?</vt:lpstr>
      <vt:lpstr>למה?</vt:lpstr>
      <vt:lpstr>מה עובד יותר מהר?</vt:lpstr>
      <vt:lpstr>למה?</vt:lpstr>
      <vt:lpstr>מה עובד יותר מהר?</vt:lpstr>
      <vt:lpstr>מה עובד יותר מהר?</vt:lpstr>
      <vt:lpstr>האם זה נכון?</vt:lpstr>
      <vt:lpstr>למה?</vt:lpstr>
      <vt:lpstr>הסיפור העצוב של הטיל אריאן 5</vt:lpstr>
      <vt:lpstr>10 חידות שנפתור במהלך הקורס</vt:lpstr>
      <vt:lpstr>איך המחשב עובד?</vt:lpstr>
      <vt:lpstr>במה נתמקד במדעי המחשב?</vt:lpstr>
      <vt:lpstr>במה נתמקד בקורס זה?</vt:lpstr>
      <vt:lpstr>במה נתמקד בקורס זה?</vt:lpstr>
      <vt:lpstr>מה נלמד בקורס?</vt:lpstr>
      <vt:lpstr>במה נתמקד בקורס זה?  1. מתמטיקה בינארית ופעולות בסיסיות</vt:lpstr>
      <vt:lpstr>במה נתמקד בקורס זה?  3. מכונות מצבים</vt:lpstr>
      <vt:lpstr>במה נתמקד בקורס זה?  4. אבני הבניין הבסיסים ליצירת מחשב</vt:lpstr>
      <vt:lpstr>מטרות הקורס</vt:lpstr>
      <vt:lpstr>מה תדעו בסוף הקורס?</vt:lpstr>
      <vt:lpstr>מה תדעו בסוף הקורס?</vt:lpstr>
      <vt:lpstr>איך נלמד את החומר? </vt:lpstr>
      <vt:lpstr>עקרונות הלימוד בקורס</vt:lpstr>
      <vt:lpstr>דרישות ונושאים פורמליים</vt:lpstr>
      <vt:lpstr>צוות הקורס מערכות ספרתיות</vt:lpstr>
      <vt:lpstr>דרישות פורמליות</vt:lpstr>
      <vt:lpstr>קורס מערכות ספרתיות</vt:lpstr>
      <vt:lpstr>דרישות פורמליות</vt:lpstr>
      <vt:lpstr>דרישות הקורס</vt:lpstr>
      <vt:lpstr>מבנה הציון</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Amdocs</dc:creator>
  <cp:lastModifiedBy>Amir Kolaman</cp:lastModifiedBy>
  <cp:revision>6</cp:revision>
  <dcterms:created xsi:type="dcterms:W3CDTF">2011-02-14T10:41:16Z</dcterms:created>
  <dcterms:modified xsi:type="dcterms:W3CDTF">2026-10-14T13:25:04Z</dcterms:modified>
</cp:coreProperties>
</file>