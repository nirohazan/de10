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סקירה" id="{b543fda0-55cc-45d1-3e7a-3be90ae7657d}">
          <p14:sldIdLst>
            <p14:sldId id="256"/>
          </p14:sldIdLst>
        </p14:section>
        <p14:section name="שבוע 2" id="{ae5ea97b-2e3d-863f-c109-99b06c1ebf76}">
          <p14:sldIdLst>
            <p14:sldId id="257"/>
            <p14:sldId id="258"/>
          </p14:sldIdLst>
        </p14:section>
        <p14:section name="שבוע 3" id="{cdead170-a2b8-af67-0df2-2283ff00ab43}">
          <p14:sldIdLst>
            <p14:sldId id="259"/>
            <p14:sldId id="260"/>
          </p14:sldIdLst>
        </p14:section>
        <p14:section name="שבוע 4" id="{435b5a90-3d57-e98b-f71a-a9f1c0f95c8a}">
          <p14:sldIdLst>
            <p14:sldId id="261"/>
            <p14:sldId id="262"/>
          </p14:sldIdLst>
        </p14:section>
        <p14:section name="שבוע 5" id="{81c69032-b6fc-05e5-0bda-5d6cdf1bbed2}">
          <p14:sldIdLst>
            <p14:sldId id="263"/>
            <p14:sldId id="264"/>
          </p14:sldIdLst>
        </p14:section>
        <p14:section name="שבוע 6" id="{2294de3e-64c9-e4cb-0a4e-3d01137723a7}">
          <p14:sldIdLst>
            <p14:sldId id="265"/>
            <p14:sldId id="266"/>
          </p14:sldIdLst>
        </p14:section>
        <p14:section name="שבוע 7" id="{cb2c0cc4-c246-db0b-593f-6f7ee29f1e99}">
          <p14:sldIdLst>
            <p14:sldId id="267"/>
            <p14:sldId id="268"/>
          </p14:sldIdLst>
        </p14:section>
        <p14:section name="שבוע 8" id="{3d3587aa-cc84-c1a2-7e34-0c4395a19d55}">
          <p14:sldIdLst>
            <p14:sldId id="269"/>
            <p14:sldId id="270"/>
          </p14:sldIdLst>
        </p14:section>
        <p14:section name="שבוע 9" id="{4a343991-d898-ed75-5511-09075239be7c}">
          <p14:sldIdLst>
            <p14:sldId id="271"/>
            <p14:sldId id="272"/>
          </p14:sldIdLst>
        </p14:section>
        <p14:section name="שבוע 10" id="{b68a5f55-4f91-824a-b6b8-ed7c269eaee3}">
          <p14:sldIdLst>
            <p14:sldId id="273"/>
            <p14:sldId id="274"/>
          </p14:sldIdLst>
        </p14:section>
        <p14:section name="שבוע 11" id="{a3844c72-ffb3-0820-f2ce-3bc7fee1ed3d}">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week has two slides: the news story with a question (show it in that week), and the answer with the reason (show it at the start of the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Hailo quantization scheme (hailo.ai): weights are signed int4/int8/int16, activations unsigned uint8/uint16 with a zero point. Microchip completed the acquisition of Hailo on 21.9.2026 (Nasdaq / Microchip press release, https://www.nasdaq.com/articles/microchip-technology-completes-acquisition-hailo). The answer is on the next slide; show it at the start of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the start of week 3. Hailo quantization scheme (hailo.ai): weights are signed int4/int8/int16, activations unsigned uint8/uint16 with a zero point. Microchip completed the acquisition of Hailo on 21.9.2026 (Nasdaq / Microchip press release, https://www.nasdaq.com/articles/microchip-technology-completes-acquisition-hailo). The answer is on the next slide; show it at the start of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SiliconANGLE 30.7.2026: more than $300M at a $2.8B valuation; X2 switch 12.8 Tb/s under 200 W with a 'reprogrammable data plane' that can be 'reconfigured for different network applications on the fly'. That a few configuration bits choose the function is OUR teaching link, not a claim about how X2 is built. Lab 1: SW9..SW7 pick one of 8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the start of week 4. SiliconANGLE 30.7.2026: more than $300M at a $2.8B valuation; X2 switch 12.8 Tb/s under 200 W with a 'reprogrammable data plane' that can be 'reconfigured for different network applications on the fly'. That a few configuration bits choose the function is OUR teaching link, not a claim about how X2 is built. Lab 1: SW9..SW7 pick one of 8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NextSilicon blog and ServeTheHome (https://www.servethehome.com/nextsilicon-maverick-2-brings-dataflow-and-hbm3e-to-hpc-customers/), October 2025: dataflow architecture, no program counter, software maps hot code onto an ALU grid and re-optimizes at run time. ServeTheHome compares it to an FPGA but it is not one. The HPCG figure (GPU-class performance at about half the power) is a company claim. Note: an earlier draft said Maverick-2 'avoids division by using shifts' - that was wrong and is not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the start of week 5. NextSilicon blog and ServeTheHome (https://www.servethehome.com/nextsilicon-maverick-2-brings-dataflow-and-hbm3e-to-hpc-customers/), October 2025: dataflow architecture, no program counter, software maps hot code onto an ALU grid and re-optimizes at run time. ServeTheHome compares it to an FPGA but it is not one. The HPCG figure (GPU-class performance at about half the power) is a company claim. Note: an earlier draft said Maverick-2 'avoids division by using shifts' - that was wrong and is not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GF press release 2.9.2026: joint development and test chip on 22FDX; GCRAM up to 40% smaller area and up to 60% lower power than SRAM. Series A $17.5M led by NXP, November 2025 (Calcalist, https://www.calcalistech.com/ctechnews/article/sjjv3pp1bg). RAAAM says 2-3 transistors per bit vs 6-8 for SRAM (https://alientt.com/client/raaam/). Gain cell = charge storage needing refresh, SRAM = cross-coupled inverters: EPFL (https://infoscience.epfl.ch/handle/20.500.14299/252284).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the start of week 6. GF press release 2.9.2026: joint development and test chip on 22FDX; GCRAM up to 40% smaller area and up to 60% lower power than SRAM. Series A $17.5M led by NXP, November 2025 (Calcalist, https://www.calcalistech.com/ctechnews/article/sjjv3pp1bg). RAAAM says 2-3 transistors per bit vs 6-8 for SRAM (https://alientt.com/client/raaam/). Gain cell = charge storage needing refresh, SRAM = cross-coupled inverters: EPFL (https://infoscience.epfl.ch/handle/20.500.14299/252284).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Particula support page: magnetic sensors under each square detect presence only; the board knows the pieces because the game starts from the standard position and it tracks every move. $15M round: Calcalist, September 2026 (https://www.calcalistech.com/ctechnews/article/bkj3znn00ze).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the start of week 7. Particula support page: magnetic sensors under each square detect presence only; the board knows the pieces because the game starts from the standard position and it tracks every move. $15M round: Calcalist, September 2026 (https://www.calcalistech.com/ctechnews/article/bkj3znn00ze).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Computing Report, 8.10.2026: QS-LINK, memory-assisted photonic interconnect. About 1% success per attempt, about 1 in 10,000 for two coincident photons; an atom stores the first and waits; about 60x fewer attempts. These numbers are from the company's modeling, not a demonstration. The Moore/Mealy link is our teaching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the start of week 8. Quantum Computing Report, 8.10.2026: QS-LINK, memory-assisted photonic interconnect. About 1% success per attempt, about 1 in 10,000 for two coincident photons; an atom stores the first and waits; about 60x fewer attempts. These numbers are from the company's modeling, not a demonstration. The Moore/Mealy link is our teaching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proteanTecs press release, 4.3.2026: strategic investment from TOPPAN Group's venture arm (TGVP). Timing-margin agents in real paths: Semiconductor Engineering (https://semiengineering.com/navigating-timing-margins-like-waze).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the start of week 9. proteanTecs press release, 4.3.2026: strategic investment from TOPPAN Group's venture arm (TGVP). Timing-margin agents in real paths: Semiconductor Engineering (https://semiengineering.com/navigating-timing-margins-like-waze).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 Reaction, EL3CTRUM launch, 6.10.2025 (8 days more than a year ago). SHA-256 uses 32-bit additions mod 2^32; the adders set the critical path: Dadda et al., DATE 2004 (https://past.date-conference.com/proceedings-archive/2017/pyear/PAPERS/2004/DATE04/DF_FILES/04D_5.PDF); carry-lookahead / carry-reduced adders in SHA-256 ASICs: https://bitslog.com/2015/02/17/faster-sha-256-asics-using-carry-reduced-adders/ . We do not know which adder EL3CTRUM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the start of week 10. Chain Reaction, EL3CTRUM launch, 6.10.2025 (8 days more than a year ago). SHA-256 uses 32-bit additions mod 2^32; the adders set the critical path: Dadda et al., DATE 2004 (https://past.date-conference.com/proceedings-archive/2017/pyear/PAPERS/2004/DATE04/DF_FILES/04D_5.PDF); carry-lookahead / carry-reduced adders in SHA-256 ASICs: https://bitslog.com/2015/02/17/faster-sha-256-asics-using-carry-reduced-adders/ . We do not know which adder EL3CTRUM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NextSilicon, 10.6.2026: Arbel RISC-V core productized into a 64/128-core enterprise CPU, 10-wide issue, RVA23 profile, 3.4 GHz, expected 2028. RV32I has no multiply/divide; the M extension adds them (https://arxiv.org/pdf/2010.16171). Second NextSilicon story in the deck (also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the start of week 11. NextSilicon, 10.6.2026: Arbel RISC-V core productized into a 64/128-core enterprise CPU, 10-wide issue, RVA23 profile, 3.4 GHz, expected 2028. RV32I has no multiply/divide; the M extension adds them (https://arxiv.org/pdf/2010.16171). Second NextSilicon story in the deck (also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Credo announced the acquisition 13.4.2026 (https://www.businesswire.com/news/home/20260413933103/en/) and completed it 28.5.2026. DustPhotonics: silicon-photonics PICs for 800G to 1.6T optical transceivers; Credo combines them with its SerDes and DSPs. Serializer = shift register is textbook, not a company claim. The question is about the riddle, not the company. 0.1 with 8 fraction bits, truncated: 25/256 = 0.09765625; x10 = 0.977.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the start of week 12. Credo announced the acquisition 13.4.2026 (https://www.businesswire.com/news/home/20260413933103/en/) and completed it 28.5.2026. DustPhotonics: silicon-photonics PICs for 800G to 1.6T optical transceivers; Credo combines them with its SerDes and DSPs. Serializer = shift register is textbook, not a company claim. The question is about the riddle, not the company. 0.1 with 8 fraction bits, truncated: 25/256 = 0.09765625; x10 = 0.977.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EWS">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9144000" cy="1371600"/>
          </a:xfrm>
          <a:prstGeom prst="rect">
            <a:avLst/>
          </a:prstGeom>
          <a:solidFill>
            <a:schemeClr val="tx1"/>
          </a:solidFill>
          <a:ln/>
        </p:spPr>
      </p:sp>
      <p:sp>
        <p:nvSpPr>
          <p:cNvPr id="3" name="Text 1"/>
          <p:cNvSpPr/>
          <p:nvPr>
            <p:ph idx="101" type="body" hasCustomPrompt="1"/>
          </p:nvPr>
        </p:nvSpPr>
        <p:spPr>
          <a:xfrm>
            <a:off x="457200" y="164592"/>
            <a:ext cx="8229600" cy="365760"/>
          </a:xfrm>
          <a:prstGeom prst="rect">
            <a:avLst/>
          </a:prstGeom>
          <a:noFill/>
          <a:ln/>
        </p:spPr>
        <p:txBody>
          <a:bodyPr wrap="square" rtlCol="0"/>
          <a:lstStyle>
            <a:lvl1pPr rtl="1" algn="r" indent="0" marL="0">
              <a:buNone/>
              <a:defRPr lang="en-US" sz="1400" dirty="0">
                <a:solidFill>
                  <a:schemeClr val="bg1"/>
                </a:solidFill>
              </a:defRPr>
            </a:lvl1pPr>
          </a:lstStyle>
          <a:p>
            <a:pPr algn="r" indent="0" marL="0">
              <a:buNone/>
            </a:pPr>
            <a:endParaRPr lang="en-US" sz="1400" dirty="0"/>
          </a:p>
        </p:txBody>
      </p:sp>
      <p:sp>
        <p:nvSpPr>
          <p:cNvPr id="4" name="Text 1"/>
          <p:cNvSpPr/>
          <p:nvPr>
            <p:ph idx="102" type="title" hasCustomPrompt="1"/>
          </p:nvPr>
        </p:nvSpPr>
        <p:spPr>
          <a:xfrm>
            <a:off x="457200" y="502920"/>
            <a:ext cx="8229600" cy="731520"/>
          </a:xfrm>
          <a:prstGeom prst="rect">
            <a:avLst/>
          </a:prstGeom>
          <a:noFill/>
          <a:ln/>
        </p:spPr>
        <p:txBody>
          <a:bodyPr wrap="square" rtlCol="0"/>
          <a:lstStyle>
            <a:lvl1pPr rtl="1" algn="r" indent="0" marL="0">
              <a:buNone/>
              <a:defRPr lang="en-US" sz="3000" b="1" dirty="0">
                <a:solidFill>
                  <a:schemeClr val="accent1"/>
                </a:solidFill>
              </a:defRPr>
            </a:lvl1pPr>
          </a:lstStyle>
          <a:p>
            <a:pPr algn="r" indent="0" marL="0">
              <a:buNone/>
            </a:pPr>
            <a:endParaRPr lang="en-US" sz="30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hailo.ai/de/developer-zone/training-and-support/hailo-quantization-scheme-2/"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siliconangle.com/2026/07/30/programmable-networking-chip-startup-xsight-labs-raises-300m/" TargetMode="Externa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nextsilicon.com/insights/elads-blog-Maverick2-launch/"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f.com/news-and-events/news/gf-and-raaam-memory-technologies-announce-the-joint-development-of-next-generation-gcram-technology-and-test-chip-on-fdx-platform/"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upport.particula-tech.com/hc/en-us/articles/16135035627164-How-does-the-GoChess-board-know-if-it-s-arranged-correctly" TargetMode="Externa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quantumcomputingreport.com/quantum-source-introduces-memory-assisted-photonic-interconnect-to-unify-multi-modal-quantum-computing/"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proteantecs.com/news/proteantecs-receives-strategic-investment-from-toppan-group-venture-arm-tgvp"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hain-reaction.io/news-medias/el3ctrum-e31-industry-leading-bitcoin-mining-platform/"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nextsilicon.com/insights/nextsilicon-productize-arbel-risc-v-core-into-64core-enterprise-processor-for-ai-hpc/" TargetMode="Externa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s205.q4cdn.com/511065572/files/doc_news/Credo-Completes-Acquisition-of-DustPhotonics-2026.pdf" TargetMode="Externa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חדשות מסטארטאפים ישראליים</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he-IL" altLang="en-US" sz="3000" b="1" dirty="0">
                <a:solidFill>
                  <a:schemeClr val="accent1"/>
                </a:solidFill>
              </a:rPr>
              <a:t>10 חברות, 10 שבועות, 10 חידות</a:t>
            </a:r>
            <a:endParaRPr lang="he-IL" sz="3000" dirty="0"/>
          </a:p>
        </p:txBody>
      </p:sp>
      <p:graphicFrame>
        <p:nvGraphicFramePr>
          <p:cNvPr id="2" name="overview table"/>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4846320"/>
                <a:gridCol w="2194560"/>
                <a:gridCol w="1188720"/>
              </a:tblGrid>
              <a:tr h="429768">
                <a:tc>
                  <a:txBody>
                    <a:bodyPr/>
                    <a:lstStyle/>
                    <a:p>
                      <a:pPr rtl="1" algn="r" indent="0" marL="0">
                        <a:buNone/>
                      </a:pPr>
                      <a:r>
                        <a:rPr lang="he-IL" altLang="en-US" sz="1400" dirty="0">
                          <a:solidFill>
                            <a:srgbClr val="000000"/>
                          </a:solidFill>
                        </a:rPr>
                        <a:t>בינארי, מספרים עם סימן, שערים וטרנזיסטורים</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algn="l" indent="0" marL="0">
                        <a:buNone/>
                      </a:pPr>
                      <a:r>
                        <a:rPr lang="he-IL" altLang="en-US" sz="1400" b="1" dirty="0">
                          <a:solidFill>
                            <a:srgbClr val="000000"/>
                          </a:solidFill>
                        </a:rPr>
                        <a:t>Hailo</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rtl="1" algn="r" indent="0" marL="0">
                        <a:buNone/>
                      </a:pPr>
                      <a:r>
                        <a:rPr lang="he-IL" altLang="en-US" sz="1400" b="1" dirty="0">
                          <a:solidFill>
                            <a:schemeClr val="tx1"/>
                          </a:solidFill>
                        </a:rPr>
                        <a:t>שבוע 2</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r>
              <a:tr h="429768">
                <a:tc>
                  <a:txBody>
                    <a:bodyPr/>
                    <a:lstStyle/>
                    <a:p>
                      <a:pPr rtl="1" algn="r" indent="0" marL="0">
                        <a:buNone/>
                      </a:pPr>
                      <a:r>
                        <a:rPr lang="he-IL" altLang="en-US" sz="1400" dirty="0">
                          <a:solidFill>
                            <a:srgbClr val="000000"/>
                          </a:solidFill>
                        </a:rPr>
                        <a:t>טבלאות אמת, דה מורגן, רכיבי בנייה</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algn="l" indent="0" marL="0">
                        <a:buNone/>
                      </a:pPr>
                      <a:r>
                        <a:rPr lang="he-IL" altLang="en-US" sz="1400" b="1" dirty="0">
                          <a:solidFill>
                            <a:srgbClr val="000000"/>
                          </a:solidFill>
                        </a:rPr>
                        <a:t>Xsight Labs</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rtl="1" algn="r" indent="0" marL="0">
                        <a:buNone/>
                      </a:pPr>
                      <a:r>
                        <a:rPr lang="he-IL" altLang="en-US" sz="1400" b="1" dirty="0">
                          <a:solidFill>
                            <a:schemeClr val="tx1"/>
                          </a:solidFill>
                        </a:rPr>
                        <a:t>שבוע 3</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r>
              <a:tr h="429768">
                <a:tc>
                  <a:txBody>
                    <a:bodyPr/>
                    <a:lstStyle/>
                    <a:p>
                      <a:pPr rtl="1" algn="r" indent="0" marL="0">
                        <a:buNone/>
                      </a:pPr>
                      <a:r>
                        <a:rPr lang="he-IL" altLang="en-US" sz="1400" dirty="0">
                          <a:solidFill>
                            <a:srgbClr val="000000"/>
                          </a:solidFill>
                        </a:rPr>
                        <a:t>מפות קרנו, השהיות, תיאור חומרה</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algn="l" indent="0" marL="0">
                        <a:buNone/>
                      </a:pPr>
                      <a:r>
                        <a:rPr lang="he-IL" altLang="en-US" sz="1400" b="1" dirty="0">
                          <a:solidFill>
                            <a:srgbClr val="000000"/>
                          </a:solidFill>
                        </a:rPr>
                        <a:t>NextSilicon</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rtl="1" algn="r" indent="0" marL="0">
                        <a:buNone/>
                      </a:pPr>
                      <a:r>
                        <a:rPr lang="he-IL" altLang="en-US" sz="1400" b="1" dirty="0">
                          <a:solidFill>
                            <a:schemeClr val="tx1"/>
                          </a:solidFill>
                        </a:rPr>
                        <a:t>שבוע 4</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r>
              <a:tr h="429768">
                <a:tc>
                  <a:txBody>
                    <a:bodyPr/>
                    <a:lstStyle/>
                    <a:p>
                      <a:pPr rtl="1" algn="r" indent="0" marL="0">
                        <a:buNone/>
                      </a:pPr>
                      <a:r>
                        <a:rPr lang="he-IL" altLang="en-US" sz="1400" dirty="0">
                          <a:solidFill>
                            <a:srgbClr val="000000"/>
                          </a:solidFill>
                        </a:rPr>
                        <a:t>תפסנים, דלגלגים ואוגרים</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algn="l" indent="0" marL="0">
                        <a:buNone/>
                      </a:pPr>
                      <a:r>
                        <a:rPr lang="he-IL" altLang="en-US" sz="1400" b="1" dirty="0">
                          <a:solidFill>
                            <a:srgbClr val="000000"/>
                          </a:solidFill>
                        </a:rPr>
                        <a:t>RAAAM</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rtl="1" algn="r" indent="0" marL="0">
                        <a:buNone/>
                      </a:pPr>
                      <a:r>
                        <a:rPr lang="he-IL" altLang="en-US" sz="1400" b="1" dirty="0">
                          <a:solidFill>
                            <a:schemeClr val="tx1"/>
                          </a:solidFill>
                        </a:rPr>
                        <a:t>שבוע 5</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r>
              <a:tr h="429768">
                <a:tc>
                  <a:txBody>
                    <a:bodyPr/>
                    <a:lstStyle/>
                    <a:p>
                      <a:pPr rtl="1" algn="r" indent="0" marL="0">
                        <a:buNone/>
                      </a:pPr>
                      <a:r>
                        <a:rPr lang="he-IL" altLang="en-US" sz="1400" dirty="0">
                          <a:solidFill>
                            <a:srgbClr val="000000"/>
                          </a:solidFill>
                        </a:rPr>
                        <a:t>מכונות מצבים ובקר הרמזור</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algn="l" indent="0" marL="0">
                        <a:buNone/>
                      </a:pPr>
                      <a:r>
                        <a:rPr lang="he-IL" altLang="en-US" sz="1400" b="1" dirty="0">
                          <a:solidFill>
                            <a:srgbClr val="000000"/>
                          </a:solidFill>
                        </a:rPr>
                        <a:t>Particula</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rtl="1" algn="r" indent="0" marL="0">
                        <a:buNone/>
                      </a:pPr>
                      <a:r>
                        <a:rPr lang="he-IL" altLang="en-US" sz="1400" b="1" dirty="0">
                          <a:solidFill>
                            <a:schemeClr val="tx1"/>
                          </a:solidFill>
                        </a:rPr>
                        <a:t>שבוע 6</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r>
              <a:tr h="429768">
                <a:tc>
                  <a:txBody>
                    <a:bodyPr/>
                    <a:lstStyle/>
                    <a:p>
                      <a:pPr rtl="1" algn="r" indent="0" marL="0">
                        <a:buNone/>
                      </a:pPr>
                      <a:r>
                        <a:rPr lang="he-IL" altLang="en-US" sz="1400" dirty="0">
                          <a:solidFill>
                            <a:srgbClr val="000000"/>
                          </a:solidFill>
                        </a:rPr>
                        <a:t>מור ומילי, תכנון מכונות מצבים</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algn="l" indent="0" marL="0">
                        <a:buNone/>
                      </a:pPr>
                      <a:r>
                        <a:rPr lang="he-IL" altLang="en-US" sz="1400" b="1" dirty="0">
                          <a:solidFill>
                            <a:srgbClr val="000000"/>
                          </a:solidFill>
                        </a:rPr>
                        <a:t>Quantum Source</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rtl="1" algn="r" indent="0" marL="0">
                        <a:buNone/>
                      </a:pPr>
                      <a:r>
                        <a:rPr lang="he-IL" altLang="en-US" sz="1400" b="1" dirty="0">
                          <a:solidFill>
                            <a:schemeClr val="tx1"/>
                          </a:solidFill>
                        </a:rPr>
                        <a:t>שבוע 7</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r>
              <a:tr h="429768">
                <a:tc>
                  <a:txBody>
                    <a:bodyPr/>
                    <a:lstStyle/>
                    <a:p>
                      <a:pPr rtl="1" algn="r" indent="0" marL="0">
                        <a:buNone/>
                      </a:pPr>
                      <a:r>
                        <a:rPr lang="he-IL" altLang="en-US" sz="1400" dirty="0">
                          <a:solidFill>
                            <a:srgbClr val="000000"/>
                          </a:solidFill>
                        </a:rPr>
                        <a:t>זמני התקנה והחזקה, הטיית שעון, מסנכרנים</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algn="l" indent="0" marL="0">
                        <a:buNone/>
                      </a:pPr>
                      <a:r>
                        <a:rPr lang="he-IL" altLang="en-US" sz="1400" b="1" dirty="0">
                          <a:solidFill>
                            <a:srgbClr val="000000"/>
                          </a:solidFill>
                        </a:rPr>
                        <a:t>proteanTecs</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rtl="1" algn="r" indent="0" marL="0">
                        <a:buNone/>
                      </a:pPr>
                      <a:r>
                        <a:rPr lang="he-IL" altLang="en-US" sz="1400" b="1" dirty="0">
                          <a:solidFill>
                            <a:schemeClr val="tx1"/>
                          </a:solidFill>
                        </a:rPr>
                        <a:t>שבוע 8</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r>
              <a:tr h="429768">
                <a:tc>
                  <a:txBody>
                    <a:bodyPr/>
                    <a:lstStyle/>
                    <a:p>
                      <a:pPr rtl="1" algn="r" indent="0" marL="0">
                        <a:buNone/>
                      </a:pPr>
                      <a:r>
                        <a:rPr lang="he-IL" altLang="en-US" sz="1400" dirty="0">
                          <a:solidFill>
                            <a:srgbClr val="000000"/>
                          </a:solidFill>
                        </a:rPr>
                        <a:t>מחברים, הצצה קדימה, משווים</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algn="l" indent="0" marL="0">
                        <a:buNone/>
                      </a:pPr>
                      <a:r>
                        <a:rPr lang="he-IL" altLang="en-US" sz="1400" b="1" dirty="0">
                          <a:solidFill>
                            <a:srgbClr val="000000"/>
                          </a:solidFill>
                        </a:rPr>
                        <a:t>Chain Reaction</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rtl="1" algn="r" indent="0" marL="0">
                        <a:buNone/>
                      </a:pPr>
                      <a:r>
                        <a:rPr lang="he-IL" altLang="en-US" sz="1400" b="1" dirty="0">
                          <a:solidFill>
                            <a:schemeClr val="tx1"/>
                          </a:solidFill>
                        </a:rPr>
                        <a:t>שבוע 9</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r>
              <a:tr h="429768">
                <a:tc>
                  <a:txBody>
                    <a:bodyPr/>
                    <a:lstStyle/>
                    <a:p>
                      <a:pPr rtl="1" algn="r" indent="0" marL="0">
                        <a:buNone/>
                      </a:pPr>
                      <a:r>
                        <a:rPr lang="en-US" altLang="en-US" sz="1400" dirty="0">
                          <a:solidFill>
                            <a:srgbClr val="000000"/>
                          </a:solidFill>
                        </a:rPr>
                        <a:t>ALU</a:t>
                      </a:r>
                      <a:r>
                        <a:rPr lang="he-IL" altLang="en-US" sz="1400" dirty="0">
                          <a:solidFill>
                            <a:srgbClr val="000000"/>
                          </a:solidFill>
                        </a:rPr>
                        <a:t>, הזזות, כפל וחילוק</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algn="l" indent="0" marL="0">
                        <a:buNone/>
                      </a:pPr>
                      <a:r>
                        <a:rPr lang="he-IL" altLang="en-US" sz="1400" b="1" dirty="0">
                          <a:solidFill>
                            <a:srgbClr val="000000"/>
                          </a:solidFill>
                        </a:rPr>
                        <a:t>NextSilicon</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rtl="1" algn="r" indent="0" marL="0">
                        <a:buNone/>
                      </a:pPr>
                      <a:r>
                        <a:rPr lang="he-IL" altLang="en-US" sz="1400" b="1" dirty="0">
                          <a:solidFill>
                            <a:schemeClr val="tx1"/>
                          </a:solidFill>
                        </a:rPr>
                        <a:t>שבוע 10</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r>
              <a:tr h="429768">
                <a:tc>
                  <a:txBody>
                    <a:bodyPr/>
                    <a:lstStyle/>
                    <a:p>
                      <a:pPr rtl="1" algn="r" indent="0" marL="0">
                        <a:buNone/>
                      </a:pPr>
                      <a:r>
                        <a:rPr lang="he-IL" altLang="en-US" sz="1400" dirty="0">
                          <a:solidFill>
                            <a:srgbClr val="000000"/>
                          </a:solidFill>
                        </a:rPr>
                        <a:t>נקודה קבועה וצפה, מונים ואוגרי הזזה, זיכרונות</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algn="l" indent="0" marL="0">
                        <a:buNone/>
                      </a:pPr>
                      <a:r>
                        <a:rPr lang="he-IL" altLang="en-US" sz="1400" b="1" dirty="0">
                          <a:solidFill>
                            <a:srgbClr val="000000"/>
                          </a:solidFill>
                        </a:rPr>
                        <a:t>DustPhotonics</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c>
                  <a:txBody>
                    <a:bodyPr/>
                    <a:lstStyle/>
                    <a:p>
                      <a:pPr rtl="1" algn="r" indent="0" marL="0">
                        <a:buNone/>
                      </a:pPr>
                      <a:r>
                        <a:rPr lang="he-IL" altLang="en-US" sz="1400" b="1" dirty="0">
                          <a:solidFill>
                            <a:schemeClr val="tx1"/>
                          </a:solidFill>
                        </a:rPr>
                        <a:t>שבוע 11</a:t>
                      </a:r>
                      <a:endParaRPr lang="he-IL" sz="1400" dirty="0"/>
                    </a:p>
                  </a:txBody>
                  <a:tcPr marL="91440" marR="91440" marT="45720" marB="45720" anchor="ctr">
                    <a:lnL w="9525" cap="flat" cmpd="sng" algn="ctr">
                      <a:solidFill>
                        <a:srgbClr val="D4D4D6"/>
                      </a:solidFill>
                      <a:prstDash val="solid"/>
                      <a:round/>
                      <a:headEnd type="none" w="med" len="med"/>
                      <a:tailEnd type="none" w="med" len="med"/>
                    </a:lnL>
                    <a:lnR w="9525" cap="flat" cmpd="sng" algn="ctr">
                      <a:solidFill>
                        <a:srgbClr val="D4D4D6"/>
                      </a:solidFill>
                      <a:prstDash val="solid"/>
                      <a:round/>
                      <a:headEnd type="none" w="med" len="med"/>
                      <a:tailEnd type="none" w="med" len="med"/>
                    </a:lnR>
                    <a:lnT w="9525" cap="flat" cmpd="sng" algn="ctr">
                      <a:solidFill>
                        <a:srgbClr val="D4D4D6"/>
                      </a:solidFill>
                      <a:prstDash val="solid"/>
                      <a:round/>
                      <a:headEnd type="none" w="med" len="med"/>
                      <a:tailEnd type="none" w="med" len="med"/>
                    </a:lnT>
                    <a:lnB w="9525" cap="flat" cmpd="sng" algn="ctr">
                      <a:solidFill>
                        <a:srgbClr val="D4D4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שבוע 2 · בינארי, מספרים עם סימן, שערים וטרנזיסטורים</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en-US" altLang="en-US" sz="3000" b="1" dirty="0">
                <a:solidFill>
                  <a:schemeClr val="accent1"/>
                </a:solidFill>
              </a:rPr>
              <a:t>Hailo</a:t>
            </a:r>
            <a:r>
              <a:rPr lang="he-IL" altLang="en-US" sz="3000" b="1" dirty="0">
                <a:solidFill>
                  <a:schemeClr val="accent1"/>
                </a:solidFill>
              </a:rPr>
              <a:t>: אותם 8 ביטים, שתי משמעויות</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2: </a:t>
            </a:r>
            <a:pPr algn="r" indent="0" marL="0">
              <a:buNone/>
            </a:pPr>
            <a:r>
              <a:rPr lang="he-IL" altLang="en-US" sz="1400" dirty="0">
                <a:solidFill>
                  <a:schemeClr val="tx1"/>
                </a:solidFill>
              </a:rPr>
              <a:t>63 ועוד 1 יוצא מינוס 64. איך?</a:t>
            </a:r>
            <a:endParaRPr lang="he-IL" sz="1400" dirty="0"/>
          </a:p>
        </p:txBody>
      </p:sp>
      <p:sp>
        <p:nvSpPr>
          <p:cNvPr id="6" name="what happened"/>
          <p:cNvSpPr txBox="1"/>
          <p:nvPr/>
        </p:nvSpPr>
        <p:spPr>
          <a:xfrm>
            <a:off x="3200400" y="2011680"/>
            <a:ext cx="5486400" cy="2148840"/>
          </a:xfrm>
          <a:prstGeom prst="rect">
            <a:avLst/>
          </a:prstGeom>
          <a:noFill/>
          <a:ln/>
        </p:spPr>
        <p:txBody>
          <a:bodyPr wrap="square" lIns="0" tIns="0" rIns="0" bIns="0" rtlCol="0" anchor="t"/>
          <a:lstStyle/>
          <a:p>
            <a:pPr rtl="1" algn="r" indent="0" marL="0">
              <a:spcAft>
                <a:spcPts val="400"/>
              </a:spcAft>
              <a:buNone/>
            </a:pPr>
            <a:r>
              <a:rPr lang="he-IL" altLang="en-US" sz="1700" b="1" dirty="0">
                <a:solidFill>
                  <a:schemeClr val="tx1"/>
                </a:solidFill>
              </a:rPr>
              <a:t>מה קרה?</a:t>
            </a:r>
            <a:endParaRPr lang="he-IL" sz="1700" dirty="0"/>
          </a:p>
          <a:p>
            <a:pPr rtl="1" algn="r" indent="0" marL="0">
              <a:spcAft>
                <a:spcPts val="400"/>
              </a:spcAft>
              <a:buNone/>
            </a:pPr>
            <a:r>
              <a:rPr lang="en-US" altLang="en-US" sz="1400" dirty="0">
                <a:solidFill>
                  <a:schemeClr val="tx1"/>
                </a:solidFill>
              </a:rPr>
              <a:t>Microchip</a:t>
            </a:r>
            <a:r>
              <a:rPr lang="he-IL" altLang="en-US" sz="1400" dirty="0">
                <a:solidFill>
                  <a:schemeClr val="tx1"/>
                </a:solidFill>
              </a:rPr>
              <a:t> השלימה בספטמבר 2026 את רכישת </a:t>
            </a:r>
            <a:r>
              <a:rPr lang="en-US" altLang="en-US" sz="1400" dirty="0">
                <a:solidFill>
                  <a:schemeClr val="tx1"/>
                </a:solidFill>
              </a:rPr>
              <a:t>Hailo</a:t>
            </a:r>
            <a:r>
              <a:rPr lang="he-IL" altLang="en-US" sz="1400" dirty="0">
                <a:solidFill>
                  <a:schemeClr val="tx1"/>
                </a:solidFill>
              </a:rPr>
              <a:t> הישראלית, שמפתחת שבבי בינה מלאכותית למצלמות ולרכבים. השבבים של </a:t>
            </a:r>
            <a:r>
              <a:rPr lang="en-US" altLang="en-US" sz="1400" dirty="0">
                <a:solidFill>
                  <a:schemeClr val="tx1"/>
                </a:solidFill>
              </a:rPr>
              <a:t>Hailo</a:t>
            </a:r>
            <a:r>
              <a:rPr lang="he-IL" altLang="en-US" sz="1400" dirty="0">
                <a:solidFill>
                  <a:schemeClr val="tx1"/>
                </a:solidFill>
              </a:rPr>
              <a:t> מחשבים במספרים שלמים קטנים: המשקלים של הרשת נשמרים כמספרים עם סימן, והערכים שעוברים בין השכבות כמספרים בלי סימן.</a:t>
            </a:r>
            <a:endParaRPr lang="he-IL" sz="1700" dirty="0"/>
          </a:p>
        </p:txBody>
      </p:sp>
      <p:sp>
        <p:nvSpPr>
          <p:cNvPr id="7" name="stat card"/>
          <p:cNvSpPr/>
          <p:nvPr/>
        </p:nvSpPr>
        <p:spPr>
          <a:xfrm>
            <a:off x="457200" y="2057400"/>
            <a:ext cx="2514600" cy="2057400"/>
          </a:xfrm>
          <a:prstGeom prst="roundRect">
            <a:avLst>
              <a:gd name="adj" fmla="val 5333"/>
            </a:avLst>
          </a:prstGeom>
          <a:solidFill>
            <a:schemeClr val="tx2"/>
          </a:solidFill>
          <a:ln/>
        </p:spPr>
      </p:sp>
      <p:sp>
        <p:nvSpPr>
          <p:cNvPr id="8" name="stat"/>
          <p:cNvSpPr txBox="1"/>
          <p:nvPr/>
        </p:nvSpPr>
        <p:spPr>
          <a:xfrm>
            <a:off x="548640" y="2148840"/>
            <a:ext cx="2331720" cy="1051560"/>
          </a:xfrm>
          <a:prstGeom prst="rect">
            <a:avLst/>
          </a:prstGeom>
          <a:noFill/>
          <a:ln/>
        </p:spPr>
        <p:txBody>
          <a:bodyPr wrap="square" rtlCol="0" anchor="ctr"/>
          <a:lstStyle/>
          <a:p>
            <a:pPr algn="ctr" indent="0" marL="0">
              <a:buNone/>
            </a:pPr>
            <a:r>
              <a:rPr lang="en-US" sz="4000" b="1" dirty="0">
                <a:solidFill>
                  <a:schemeClr val="accent1"/>
                </a:solidFill>
              </a:rPr>
              <a:t>INT8</a:t>
            </a:r>
            <a:endParaRPr lang="en-US" sz="4000" dirty="0"/>
          </a:p>
        </p:txBody>
      </p:sp>
      <p:sp>
        <p:nvSpPr>
          <p:cNvPr id="9" name="stat label"/>
          <p:cNvSpPr txBox="1"/>
          <p:nvPr/>
        </p:nvSpPr>
        <p:spPr>
          <a:xfrm>
            <a:off x="594360" y="3200400"/>
            <a:ext cx="2240280" cy="822960"/>
          </a:xfrm>
          <a:prstGeom prst="rect">
            <a:avLst/>
          </a:prstGeom>
          <a:noFill/>
          <a:ln/>
        </p:spPr>
        <p:txBody>
          <a:bodyPr wrap="square" rtlCol="0" anchor="t"/>
          <a:lstStyle/>
          <a:p>
            <a:pPr rtl="1" algn="ctr" indent="0" marL="0">
              <a:buNone/>
            </a:pPr>
            <a:r>
              <a:rPr lang="he-IL" altLang="en-US" sz="1200" dirty="0">
                <a:solidFill>
                  <a:schemeClr val="bg1"/>
                </a:solidFill>
              </a:rPr>
              <a:t>משקלים עם סימן, ערכים בלי סימן (מסמכי </a:t>
            </a:r>
            <a:r>
              <a:rPr lang="en-US" altLang="en-US" sz="1200" dirty="0">
                <a:solidFill>
                  <a:schemeClr val="bg1"/>
                </a:solidFill>
              </a:rPr>
              <a:t>Hailo</a:t>
            </a:r>
            <a:r>
              <a:rPr lang="he-IL" altLang="en-US" sz="1200" dirty="0">
                <a:solidFill>
                  <a:schemeClr val="bg1"/>
                </a:solidFill>
              </a:rPr>
              <a:t>)</a:t>
            </a:r>
            <a:endParaRPr lang="he-IL" sz="1200" dirty="0"/>
          </a:p>
        </p:txBody>
      </p:sp>
      <p:sp>
        <p:nvSpPr>
          <p:cNvPr id="10" name="link card"/>
          <p:cNvSpPr/>
          <p:nvPr/>
        </p:nvSpPr>
        <p:spPr>
          <a:xfrm>
            <a:off x="457200" y="4297680"/>
            <a:ext cx="8229600" cy="2011680"/>
          </a:xfrm>
          <a:prstGeom prst="roundRect">
            <a:avLst>
              <a:gd name="adj" fmla="val 5455"/>
            </a:avLst>
          </a:prstGeom>
          <a:solidFill>
            <a:schemeClr val="bg2"/>
          </a:solidFill>
          <a:ln/>
        </p:spPr>
      </p:sp>
      <p:sp>
        <p:nvSpPr>
          <p:cNvPr id="11" name="link text"/>
          <p:cNvSpPr txBox="1"/>
          <p:nvPr/>
        </p:nvSpPr>
        <p:spPr>
          <a:xfrm>
            <a:off x="685800" y="4389120"/>
            <a:ext cx="7772400" cy="1828800"/>
          </a:xfrm>
          <a:prstGeom prst="rect">
            <a:avLst/>
          </a:prstGeom>
          <a:noFill/>
          <a:ln/>
        </p:spPr>
        <p:txBody>
          <a:bodyPr wrap="square" lIns="0" tIns="0" rIns="0" bIns="0" rtlCol="0" anchor="t"/>
          <a:lstStyle/>
          <a:p>
            <a:pPr rtl="1" algn="r" indent="0" marL="0">
              <a:spcAft>
                <a:spcPts val="500"/>
              </a:spcAft>
              <a:buNone/>
            </a:pPr>
            <a:r>
              <a:rPr lang="he-IL" altLang="en-US" sz="1500" b="1" dirty="0">
                <a:solidFill>
                  <a:schemeClr val="tx1"/>
                </a:solidFill>
              </a:rPr>
              <a:t>ומה זה קשור לשבוע 2?</a:t>
            </a:r>
            <a:endParaRPr lang="he-IL" sz="1500" dirty="0"/>
          </a:p>
          <a:p>
            <a:pPr rtl="1" algn="r" indent="0" marL="0">
              <a:spcAft>
                <a:spcPts val="500"/>
              </a:spcAft>
              <a:buNone/>
            </a:pPr>
            <a:r>
              <a:rPr lang="he-IL" altLang="en-US" sz="1400" dirty="0">
                <a:solidFill>
                  <a:schemeClr val="tx1"/>
                </a:solidFill>
              </a:rPr>
              <a:t>השבוע: מספרים בינאריים עם סימן ובלי סימן. אותם 8 ביטים הם 0 עד 255 כמספר בלי סימן, או מינוס 128 עד 127 כמספר עם סימן. החומרה לא יודעת מה הם, רק הדרך שבה קוראים אותם קובעת.</a:t>
            </a:r>
            <a:endParaRPr lang="he-IL" sz="1500" dirty="0"/>
          </a:p>
          <a:p>
            <a:pPr rtl="1" algn="r" indent="0" marL="0">
              <a:spcAft>
                <a:spcPts val="500"/>
              </a:spcAft>
              <a:buNone/>
            </a:pPr>
            <a:r>
              <a:rPr lang="he-IL" altLang="en-US" sz="1400" b="1" dirty="0">
                <a:solidFill>
                  <a:schemeClr val="tx1"/>
                </a:solidFill>
              </a:rPr>
              <a:t>שאלה: </a:t>
            </a:r>
            <a:pPr algn="r" indent="0" marL="0">
              <a:spcAft>
                <a:spcPts val="500"/>
              </a:spcAft>
              <a:buNone/>
            </a:pPr>
            <a:r>
              <a:rPr lang="he-IL" altLang="en-US" sz="1500" dirty="0">
                <a:solidFill>
                  <a:schemeClr val="tx1"/>
                </a:solidFill>
              </a:rPr>
              <a:t>מה הערך של 11111111 כמספר בלי סימן? ומה כמספר עם סימן?</a:t>
            </a:r>
            <a:endParaRPr lang="he-IL" sz="1500" dirty="0"/>
          </a:p>
        </p:txBody>
      </p:sp>
      <p:sp>
        <p:nvSpPr>
          <p:cNvPr id="12" name="source">
            <a:hlinkClick r:id="rId1" tooltip=""/>
          </p:cNvPr>
          <p:cNvSpPr txBox="1"/>
          <p:nvPr/>
        </p:nvSpPr>
        <p:spPr>
          <a:xfrm>
            <a:off x="457200" y="6382512"/>
            <a:ext cx="7772400" cy="274320"/>
          </a:xfrm>
          <a:prstGeom prst="rect">
            <a:avLst/>
          </a:prstGeom>
          <a:noFill/>
          <a:ln/>
        </p:spPr>
        <p:txBody>
          <a:bodyPr wrap="square" lIns="0" tIns="0" rIns="0" bIns="0" rtlCol="0" anchor="ctr"/>
          <a:lstStyle/>
          <a:p>
            <a:pPr algn="l" indent="0" marL="0">
              <a:buNone/>
            </a:pPr>
            <a:r>
              <a:rPr lang="en-US" sz="8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https://hailo.ai/de/developer-zone/training-and-support/hailo-quantization-scheme-2/</a:t>
            </a:r>
            <a:endParaRPr lang="en-US" sz="8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תשובה לשאלה של שבוע 2 · </a:t>
            </a:r>
            <a:r>
              <a:rPr lang="en-US" altLang="en-US" sz="1400" dirty="0">
                <a:solidFill>
                  <a:schemeClr val="bg1"/>
                </a:solidFill>
              </a:rPr>
              <a:t>Hailo</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he-IL" altLang="en-US" sz="3000" b="1" dirty="0">
                <a:solidFill>
                  <a:schemeClr val="accent1"/>
                </a:solidFill>
              </a:rPr>
              <a:t>השאלה מהשבוע שעבר</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2: </a:t>
            </a:r>
            <a:pPr algn="r" indent="0" marL="0">
              <a:buNone/>
            </a:pPr>
            <a:r>
              <a:rPr lang="he-IL" altLang="en-US" sz="1400" dirty="0">
                <a:solidFill>
                  <a:schemeClr val="tx1"/>
                </a:solidFill>
              </a:rPr>
              <a:t>63 ועוד 1 יוצא מינוס 64. איך?</a:t>
            </a:r>
            <a:endParaRPr lang="he-IL" sz="1400" dirty="0"/>
          </a:p>
        </p:txBody>
      </p:sp>
      <p:sp>
        <p:nvSpPr>
          <p:cNvPr id="6" name="question card"/>
          <p:cNvSpPr/>
          <p:nvPr/>
        </p:nvSpPr>
        <p:spPr>
          <a:xfrm>
            <a:off x="457200" y="2011680"/>
            <a:ext cx="8229600" cy="868680"/>
          </a:xfrm>
          <a:prstGeom prst="roundRect">
            <a:avLst>
              <a:gd name="adj" fmla="val 12632"/>
            </a:avLst>
          </a:prstGeom>
          <a:solidFill>
            <a:schemeClr val="bg2"/>
          </a:solidFill>
          <a:ln/>
        </p:spPr>
      </p:sp>
      <p:sp>
        <p:nvSpPr>
          <p:cNvPr id="7" name="question"/>
          <p:cNvSpPr txBox="1"/>
          <p:nvPr/>
        </p:nvSpPr>
        <p:spPr>
          <a:xfrm>
            <a:off x="685800" y="2011680"/>
            <a:ext cx="7772400" cy="868680"/>
          </a:xfrm>
          <a:prstGeom prst="rect">
            <a:avLst/>
          </a:prstGeom>
          <a:noFill/>
          <a:ln/>
        </p:spPr>
        <p:txBody>
          <a:bodyPr wrap="square" lIns="0" tIns="0" rIns="0" bIns="0" rtlCol="0" anchor="ctr"/>
          <a:lstStyle/>
          <a:p>
            <a:pPr rtl="1" algn="r" indent="0" marL="0">
              <a:buNone/>
            </a:pPr>
            <a:r>
              <a:rPr lang="he-IL" altLang="en-US" sz="1600" b="1" dirty="0">
                <a:solidFill>
                  <a:schemeClr val="tx1"/>
                </a:solidFill>
              </a:rPr>
              <a:t>שאלה: </a:t>
            </a:r>
            <a:pPr algn="r" indent="0" marL="0">
              <a:buNone/>
            </a:pPr>
            <a:r>
              <a:rPr lang="he-IL" altLang="en-US" sz="1600" dirty="0">
                <a:solidFill>
                  <a:schemeClr val="tx1"/>
                </a:solidFill>
              </a:rPr>
              <a:t>מה הערך של 11111111 כמספר בלי סימן? ומה כמספר עם סימן?</a:t>
            </a:r>
            <a:endParaRPr lang="he-IL" sz="1600" dirty="0"/>
          </a:p>
        </p:txBody>
      </p:sp>
      <p:sp>
        <p:nvSpPr>
          <p:cNvPr id="8" name="answer card"/>
          <p:cNvSpPr/>
          <p:nvPr/>
        </p:nvSpPr>
        <p:spPr>
          <a:xfrm>
            <a:off x="457200" y="3017520"/>
            <a:ext cx="8229600" cy="914400"/>
          </a:xfrm>
          <a:prstGeom prst="roundRect">
            <a:avLst>
              <a:gd name="adj" fmla="val 12000"/>
            </a:avLst>
          </a:prstGeom>
          <a:solidFill>
            <a:schemeClr val="tx2"/>
          </a:solidFill>
          <a:ln/>
        </p:spPr>
      </p:sp>
      <p:sp>
        <p:nvSpPr>
          <p:cNvPr id="9" name="answer"/>
          <p:cNvSpPr txBox="1"/>
          <p:nvPr/>
        </p:nvSpPr>
        <p:spPr>
          <a:xfrm>
            <a:off x="685800" y="3017520"/>
            <a:ext cx="7772400" cy="914400"/>
          </a:xfrm>
          <a:prstGeom prst="rect">
            <a:avLst/>
          </a:prstGeom>
          <a:noFill/>
          <a:ln/>
        </p:spPr>
        <p:txBody>
          <a:bodyPr wrap="square" lIns="0" tIns="0" rIns="0" bIns="0" rtlCol="0" anchor="ctr"/>
          <a:lstStyle/>
          <a:p>
            <a:pPr rtl="1" algn="r" indent="0" marL="0">
              <a:buNone/>
            </a:pPr>
            <a:r>
              <a:rPr lang="he-IL" altLang="en-US" sz="1700" b="1" dirty="0">
                <a:solidFill>
                  <a:schemeClr val="accent1"/>
                </a:solidFill>
              </a:rPr>
              <a:t>תשובה: </a:t>
            </a:r>
            <a:pPr algn="r" indent="0" marL="0">
              <a:buNone/>
            </a:pPr>
            <a:r>
              <a:rPr lang="he-IL" altLang="en-US" sz="1700" dirty="0">
                <a:solidFill>
                  <a:schemeClr val="accent1"/>
                </a:solidFill>
              </a:rPr>
              <a:t>255 בלי סימן, ומינוס 1 עם סימן.</a:t>
            </a:r>
            <a:endParaRPr lang="he-IL" sz="1700" dirty="0"/>
          </a:p>
        </p:txBody>
      </p:sp>
      <p:sp>
        <p:nvSpPr>
          <p:cNvPr id="10" name="why"/>
          <p:cNvSpPr txBox="1"/>
          <p:nvPr/>
        </p:nvSpPr>
        <p:spPr>
          <a:xfrm>
            <a:off x="457200" y="4114800"/>
            <a:ext cx="8229600" cy="2286000"/>
          </a:xfrm>
          <a:prstGeom prst="rect">
            <a:avLst/>
          </a:prstGeom>
          <a:noFill/>
          <a:ln/>
        </p:spPr>
        <p:txBody>
          <a:bodyPr wrap="square" lIns="0" tIns="0" rIns="0" bIns="0" rtlCol="0" anchor="t"/>
          <a:lstStyle/>
          <a:p>
            <a:pPr rtl="1" algn="r" indent="0" marL="0">
              <a:spcAft>
                <a:spcPts val="500"/>
              </a:spcAft>
              <a:buNone/>
            </a:pPr>
            <a:r>
              <a:rPr lang="he-IL" altLang="en-US" sz="1700" b="1" dirty="0">
                <a:solidFill>
                  <a:schemeClr val="tx1"/>
                </a:solidFill>
              </a:rPr>
              <a:t>למה?</a:t>
            </a:r>
            <a:endParaRPr lang="he-IL" sz="1700" dirty="0"/>
          </a:p>
          <a:p>
            <a:pPr rtl="1" algn="r" indent="0" marL="0">
              <a:spcAft>
                <a:spcPts val="500"/>
              </a:spcAft>
              <a:buNone/>
            </a:pPr>
            <a:r>
              <a:rPr lang="he-IL" altLang="en-US" sz="1600" dirty="0">
                <a:solidFill>
                  <a:schemeClr val="tx1"/>
                </a:solidFill>
              </a:rPr>
              <a:t>בלי סימן, כל ביט שווה חזקה של 2: 128 + 64 + ... + 1 = 255. במשלים ל 2 לביט העליון יש משקל שלילי: מינוס 128 ועוד 127 = מינוס 1. אותו מעגל מחבר את שניהם, רק הפירוש שונה, ולכן </a:t>
            </a:r>
            <a:r>
              <a:rPr lang="en-US" altLang="en-US" sz="1600" dirty="0">
                <a:solidFill>
                  <a:schemeClr val="tx1"/>
                </a:solidFill>
              </a:rPr>
              <a:t>Hailo</a:t>
            </a:r>
            <a:r>
              <a:rPr lang="he-IL" altLang="en-US" sz="1600" dirty="0">
                <a:solidFill>
                  <a:schemeClr val="tx1"/>
                </a:solidFill>
              </a:rPr>
              <a:t> רושמת ליד כל מספר אם הוא עם סימן. וזו גם החידה: ב 7 ביטים עם סימן, 0111111 ועוד 1 = 1000000, וזה מינוס 64.</a:t>
            </a:r>
            <a:endParaRPr lang="he-IL" sz="17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שבוע 3 · טבלאות אמת, דה מורגן, רכיבי בנייה</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en-US" altLang="en-US" sz="3000" b="1" dirty="0">
                <a:solidFill>
                  <a:schemeClr val="accent1"/>
                </a:solidFill>
              </a:rPr>
              <a:t>Xsight Labs</a:t>
            </a:r>
            <a:r>
              <a:rPr lang="he-IL" altLang="en-US" sz="3000" b="1" dirty="0">
                <a:solidFill>
                  <a:schemeClr val="accent1"/>
                </a:solidFill>
              </a:rPr>
              <a:t>: מתג שמשנה תפקיד</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3: </a:t>
            </a:r>
            <a:pPr algn="r" indent="0" marL="0">
              <a:buNone/>
            </a:pPr>
            <a:r>
              <a:rPr lang="he-IL" altLang="en-US" sz="1400" dirty="0">
                <a:solidFill>
                  <a:schemeClr val="tx1"/>
                </a:solidFill>
              </a:rPr>
              <a:t>שלושה מתגים הופכים שבב אחד למכונות שונות. איך?</a:t>
            </a:r>
            <a:endParaRPr lang="he-IL" sz="1400" dirty="0"/>
          </a:p>
        </p:txBody>
      </p:sp>
      <p:sp>
        <p:nvSpPr>
          <p:cNvPr id="6" name="what happened"/>
          <p:cNvSpPr txBox="1"/>
          <p:nvPr/>
        </p:nvSpPr>
        <p:spPr>
          <a:xfrm>
            <a:off x="3200400" y="2011680"/>
            <a:ext cx="5486400" cy="2148840"/>
          </a:xfrm>
          <a:prstGeom prst="rect">
            <a:avLst/>
          </a:prstGeom>
          <a:noFill/>
          <a:ln/>
        </p:spPr>
        <p:txBody>
          <a:bodyPr wrap="square" lIns="0" tIns="0" rIns="0" bIns="0" rtlCol="0" anchor="t"/>
          <a:lstStyle/>
          <a:p>
            <a:pPr rtl="1" algn="r" indent="0" marL="0">
              <a:spcAft>
                <a:spcPts val="400"/>
              </a:spcAft>
              <a:buNone/>
            </a:pPr>
            <a:r>
              <a:rPr lang="he-IL" altLang="en-US" sz="1700" b="1" dirty="0">
                <a:solidFill>
                  <a:schemeClr val="tx1"/>
                </a:solidFill>
              </a:rPr>
              <a:t>מה קרה?</a:t>
            </a:r>
            <a:endParaRPr lang="he-IL" sz="1700" dirty="0"/>
          </a:p>
          <a:p>
            <a:pPr rtl="1" algn="r" indent="0" marL="0">
              <a:spcAft>
                <a:spcPts val="400"/>
              </a:spcAft>
              <a:buNone/>
            </a:pPr>
            <a:r>
              <a:rPr lang="en-US" altLang="en-US" sz="1400" dirty="0">
                <a:solidFill>
                  <a:schemeClr val="tx1"/>
                </a:solidFill>
              </a:rPr>
              <a:t>Xsight Labs</a:t>
            </a:r>
            <a:r>
              <a:rPr lang="he-IL" altLang="en-US" sz="1400" dirty="0">
                <a:solidFill>
                  <a:schemeClr val="tx1"/>
                </a:solidFill>
              </a:rPr>
              <a:t> הישראלית גייסה ביולי 2026 יותר מ 300 מיליון דולר, לפי שווי של 2.8 מיליארד דולר. המתג שלה, </a:t>
            </a:r>
            <a:r>
              <a:rPr lang="en-US" altLang="en-US" sz="1400" dirty="0">
                <a:solidFill>
                  <a:schemeClr val="tx1"/>
                </a:solidFill>
              </a:rPr>
              <a:t>X2</a:t>
            </a:r>
            <a:r>
              <a:rPr lang="he-IL" altLang="en-US" sz="1400" dirty="0">
                <a:solidFill>
                  <a:schemeClr val="tx1"/>
                </a:solidFill>
              </a:rPr>
              <a:t>, מעביר 12.8 טרה ביט בשנייה בפחות מ 200 וואט, ויש לו נתיב נתונים שאפשר לתכנת מחדש ולהתאים ליישומי רשת שונים תוך כדי עבודה.</a:t>
            </a:r>
            <a:endParaRPr lang="he-IL" sz="1700" dirty="0"/>
          </a:p>
        </p:txBody>
      </p:sp>
      <p:sp>
        <p:nvSpPr>
          <p:cNvPr id="7" name="stat card"/>
          <p:cNvSpPr/>
          <p:nvPr/>
        </p:nvSpPr>
        <p:spPr>
          <a:xfrm>
            <a:off x="457200" y="2057400"/>
            <a:ext cx="2514600" cy="2057400"/>
          </a:xfrm>
          <a:prstGeom prst="roundRect">
            <a:avLst>
              <a:gd name="adj" fmla="val 5333"/>
            </a:avLst>
          </a:prstGeom>
          <a:solidFill>
            <a:schemeClr val="tx2"/>
          </a:solidFill>
          <a:ln/>
        </p:spPr>
      </p:sp>
      <p:sp>
        <p:nvSpPr>
          <p:cNvPr id="8" name="stat"/>
          <p:cNvSpPr txBox="1"/>
          <p:nvPr/>
        </p:nvSpPr>
        <p:spPr>
          <a:xfrm>
            <a:off x="548640" y="2148840"/>
            <a:ext cx="2331720" cy="1051560"/>
          </a:xfrm>
          <a:prstGeom prst="rect">
            <a:avLst/>
          </a:prstGeom>
          <a:noFill/>
          <a:ln/>
        </p:spPr>
        <p:txBody>
          <a:bodyPr wrap="square" rtlCol="0" anchor="ctr"/>
          <a:lstStyle/>
          <a:p>
            <a:pPr algn="ctr" indent="0" marL="0">
              <a:buNone/>
            </a:pPr>
            <a:r>
              <a:rPr lang="en-US" sz="4000" b="1" dirty="0">
                <a:solidFill>
                  <a:schemeClr val="accent1"/>
                </a:solidFill>
              </a:rPr>
              <a:t>$2.8B</a:t>
            </a:r>
            <a:endParaRPr lang="en-US" sz="4000" dirty="0"/>
          </a:p>
        </p:txBody>
      </p:sp>
      <p:sp>
        <p:nvSpPr>
          <p:cNvPr id="9" name="stat label"/>
          <p:cNvSpPr txBox="1"/>
          <p:nvPr/>
        </p:nvSpPr>
        <p:spPr>
          <a:xfrm>
            <a:off x="594360" y="3200400"/>
            <a:ext cx="2240280" cy="822960"/>
          </a:xfrm>
          <a:prstGeom prst="rect">
            <a:avLst/>
          </a:prstGeom>
          <a:noFill/>
          <a:ln/>
        </p:spPr>
        <p:txBody>
          <a:bodyPr wrap="square" rtlCol="0" anchor="t"/>
          <a:lstStyle/>
          <a:p>
            <a:pPr rtl="1" algn="ctr" indent="0" marL="0">
              <a:buNone/>
            </a:pPr>
            <a:r>
              <a:rPr lang="he-IL" altLang="en-US" sz="1200" dirty="0">
                <a:solidFill>
                  <a:schemeClr val="bg1"/>
                </a:solidFill>
              </a:rPr>
              <a:t>שווי, יולי 2026</a:t>
            </a:r>
            <a:endParaRPr lang="he-IL" sz="1200" dirty="0"/>
          </a:p>
        </p:txBody>
      </p:sp>
      <p:sp>
        <p:nvSpPr>
          <p:cNvPr id="10" name="link card"/>
          <p:cNvSpPr/>
          <p:nvPr/>
        </p:nvSpPr>
        <p:spPr>
          <a:xfrm>
            <a:off x="457200" y="4297680"/>
            <a:ext cx="8229600" cy="2011680"/>
          </a:xfrm>
          <a:prstGeom prst="roundRect">
            <a:avLst>
              <a:gd name="adj" fmla="val 5455"/>
            </a:avLst>
          </a:prstGeom>
          <a:solidFill>
            <a:schemeClr val="bg2"/>
          </a:solidFill>
          <a:ln/>
        </p:spPr>
      </p:sp>
      <p:sp>
        <p:nvSpPr>
          <p:cNvPr id="11" name="link text"/>
          <p:cNvSpPr txBox="1"/>
          <p:nvPr/>
        </p:nvSpPr>
        <p:spPr>
          <a:xfrm>
            <a:off x="685800" y="4389120"/>
            <a:ext cx="7772400" cy="1828800"/>
          </a:xfrm>
          <a:prstGeom prst="rect">
            <a:avLst/>
          </a:prstGeom>
          <a:noFill/>
          <a:ln/>
        </p:spPr>
        <p:txBody>
          <a:bodyPr wrap="square" lIns="0" tIns="0" rIns="0" bIns="0" rtlCol="0" anchor="t"/>
          <a:lstStyle/>
          <a:p>
            <a:pPr rtl="1" algn="r" indent="0" marL="0">
              <a:spcAft>
                <a:spcPts val="500"/>
              </a:spcAft>
              <a:buNone/>
            </a:pPr>
            <a:r>
              <a:rPr lang="he-IL" altLang="en-US" sz="1500" b="1" dirty="0">
                <a:solidFill>
                  <a:schemeClr val="tx1"/>
                </a:solidFill>
              </a:rPr>
              <a:t>ומה זה קשור לשבוע 3?</a:t>
            </a:r>
            <a:endParaRPr lang="he-IL" sz="1500" dirty="0"/>
          </a:p>
          <a:p>
            <a:pPr rtl="1" algn="r" indent="0" marL="0">
              <a:spcAft>
                <a:spcPts val="500"/>
              </a:spcAft>
              <a:buNone/>
            </a:pPr>
            <a:r>
              <a:rPr lang="he-IL" altLang="en-US" sz="1400" dirty="0">
                <a:solidFill>
                  <a:schemeClr val="tx1"/>
                </a:solidFill>
              </a:rPr>
              <a:t>השבוע: טבלאות אמת ורכיבי בנייה כמו הבורר (מרבב). כמה ביטים של בחירה מחליטים איזה מעגל מחובר ליציאה. כך שלושה מתגים בלוח שלכם הופכים את אותו שבב למכונות שונות.</a:t>
            </a:r>
            <a:endParaRPr lang="he-IL" sz="1500" dirty="0"/>
          </a:p>
          <a:p>
            <a:pPr rtl="1" algn="r" indent="0" marL="0">
              <a:spcAft>
                <a:spcPts val="500"/>
              </a:spcAft>
              <a:buNone/>
            </a:pPr>
            <a:r>
              <a:rPr lang="he-IL" altLang="en-US" sz="1400" b="1" dirty="0">
                <a:solidFill>
                  <a:schemeClr val="tx1"/>
                </a:solidFill>
              </a:rPr>
              <a:t>שאלה: </a:t>
            </a:r>
            <a:pPr algn="r" indent="0" marL="0">
              <a:spcAft>
                <a:spcPts val="500"/>
              </a:spcAft>
              <a:buNone/>
            </a:pPr>
            <a:r>
              <a:rPr lang="he-IL" altLang="en-US" sz="1500" dirty="0">
                <a:solidFill>
                  <a:schemeClr val="tx1"/>
                </a:solidFill>
              </a:rPr>
              <a:t>לבורר יש 3 קווי בחירה. בין כמה כניסות הוא יכול לבחור?</a:t>
            </a:r>
            <a:endParaRPr lang="he-IL" sz="1500" dirty="0"/>
          </a:p>
        </p:txBody>
      </p:sp>
      <p:sp>
        <p:nvSpPr>
          <p:cNvPr id="12" name="source">
            <a:hlinkClick r:id="rId1" tooltip=""/>
          </p:cNvPr>
          <p:cNvSpPr txBox="1"/>
          <p:nvPr/>
        </p:nvSpPr>
        <p:spPr>
          <a:xfrm>
            <a:off x="457200" y="6382512"/>
            <a:ext cx="7772400" cy="274320"/>
          </a:xfrm>
          <a:prstGeom prst="rect">
            <a:avLst/>
          </a:prstGeom>
          <a:noFill/>
          <a:ln/>
        </p:spPr>
        <p:txBody>
          <a:bodyPr wrap="square" lIns="0" tIns="0" rIns="0" bIns="0" rtlCol="0" anchor="ctr"/>
          <a:lstStyle/>
          <a:p>
            <a:pPr algn="l" indent="0" marL="0">
              <a:buNone/>
            </a:pPr>
            <a:r>
              <a:rPr lang="en-US" sz="8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https://siliconangle.com/2026/07/30/programmable-networking-chip-startup-xsight-labs-raises-300m/</a:t>
            </a:r>
            <a:endParaRPr lang="en-US" sz="8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תשובה לשאלה של שבוע 3 · </a:t>
            </a:r>
            <a:r>
              <a:rPr lang="en-US" altLang="en-US" sz="1400" dirty="0">
                <a:solidFill>
                  <a:schemeClr val="bg1"/>
                </a:solidFill>
              </a:rPr>
              <a:t>Xsight Labs</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he-IL" altLang="en-US" sz="3000" b="1" dirty="0">
                <a:solidFill>
                  <a:schemeClr val="accent1"/>
                </a:solidFill>
              </a:rPr>
              <a:t>השאלה מהשבוע שעבר</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3: </a:t>
            </a:r>
            <a:pPr algn="r" indent="0" marL="0">
              <a:buNone/>
            </a:pPr>
            <a:r>
              <a:rPr lang="he-IL" altLang="en-US" sz="1400" dirty="0">
                <a:solidFill>
                  <a:schemeClr val="tx1"/>
                </a:solidFill>
              </a:rPr>
              <a:t>שלושה מתגים הופכים שבב אחד למכונות שונות. איך?</a:t>
            </a:r>
            <a:endParaRPr lang="he-IL" sz="1400" dirty="0"/>
          </a:p>
        </p:txBody>
      </p:sp>
      <p:sp>
        <p:nvSpPr>
          <p:cNvPr id="6" name="question card"/>
          <p:cNvSpPr/>
          <p:nvPr/>
        </p:nvSpPr>
        <p:spPr>
          <a:xfrm>
            <a:off x="457200" y="2011680"/>
            <a:ext cx="8229600" cy="868680"/>
          </a:xfrm>
          <a:prstGeom prst="roundRect">
            <a:avLst>
              <a:gd name="adj" fmla="val 12632"/>
            </a:avLst>
          </a:prstGeom>
          <a:solidFill>
            <a:schemeClr val="bg2"/>
          </a:solidFill>
          <a:ln/>
        </p:spPr>
      </p:sp>
      <p:sp>
        <p:nvSpPr>
          <p:cNvPr id="7" name="question"/>
          <p:cNvSpPr txBox="1"/>
          <p:nvPr/>
        </p:nvSpPr>
        <p:spPr>
          <a:xfrm>
            <a:off x="685800" y="2011680"/>
            <a:ext cx="7772400" cy="868680"/>
          </a:xfrm>
          <a:prstGeom prst="rect">
            <a:avLst/>
          </a:prstGeom>
          <a:noFill/>
          <a:ln/>
        </p:spPr>
        <p:txBody>
          <a:bodyPr wrap="square" lIns="0" tIns="0" rIns="0" bIns="0" rtlCol="0" anchor="ctr"/>
          <a:lstStyle/>
          <a:p>
            <a:pPr rtl="1" algn="r" indent="0" marL="0">
              <a:buNone/>
            </a:pPr>
            <a:r>
              <a:rPr lang="he-IL" altLang="en-US" sz="1600" b="1" dirty="0">
                <a:solidFill>
                  <a:schemeClr val="tx1"/>
                </a:solidFill>
              </a:rPr>
              <a:t>שאלה: </a:t>
            </a:r>
            <a:pPr algn="r" indent="0" marL="0">
              <a:buNone/>
            </a:pPr>
            <a:r>
              <a:rPr lang="he-IL" altLang="en-US" sz="1600" dirty="0">
                <a:solidFill>
                  <a:schemeClr val="tx1"/>
                </a:solidFill>
              </a:rPr>
              <a:t>לבורר יש 3 קווי בחירה. בין כמה כניסות הוא יכול לבחור?</a:t>
            </a:r>
            <a:endParaRPr lang="he-IL" sz="1600" dirty="0"/>
          </a:p>
        </p:txBody>
      </p:sp>
      <p:sp>
        <p:nvSpPr>
          <p:cNvPr id="8" name="answer card"/>
          <p:cNvSpPr/>
          <p:nvPr/>
        </p:nvSpPr>
        <p:spPr>
          <a:xfrm>
            <a:off x="457200" y="3017520"/>
            <a:ext cx="8229600" cy="914400"/>
          </a:xfrm>
          <a:prstGeom prst="roundRect">
            <a:avLst>
              <a:gd name="adj" fmla="val 12000"/>
            </a:avLst>
          </a:prstGeom>
          <a:solidFill>
            <a:schemeClr val="tx2"/>
          </a:solidFill>
          <a:ln/>
        </p:spPr>
      </p:sp>
      <p:sp>
        <p:nvSpPr>
          <p:cNvPr id="9" name="answer"/>
          <p:cNvSpPr txBox="1"/>
          <p:nvPr/>
        </p:nvSpPr>
        <p:spPr>
          <a:xfrm>
            <a:off x="685800" y="3017520"/>
            <a:ext cx="7772400" cy="914400"/>
          </a:xfrm>
          <a:prstGeom prst="rect">
            <a:avLst/>
          </a:prstGeom>
          <a:noFill/>
          <a:ln/>
        </p:spPr>
        <p:txBody>
          <a:bodyPr wrap="square" lIns="0" tIns="0" rIns="0" bIns="0" rtlCol="0" anchor="ctr"/>
          <a:lstStyle/>
          <a:p>
            <a:pPr rtl="1" algn="r" indent="0" marL="0">
              <a:buNone/>
            </a:pPr>
            <a:r>
              <a:rPr lang="he-IL" altLang="en-US" sz="1700" b="1" dirty="0">
                <a:solidFill>
                  <a:schemeClr val="accent1"/>
                </a:solidFill>
              </a:rPr>
              <a:t>תשובה: </a:t>
            </a:r>
            <a:pPr algn="r" indent="0" marL="0">
              <a:buNone/>
            </a:pPr>
            <a:r>
              <a:rPr lang="he-IL" altLang="en-US" sz="1700" dirty="0">
                <a:solidFill>
                  <a:schemeClr val="accent1"/>
                </a:solidFill>
              </a:rPr>
              <a:t>בין 8 כניסות.</a:t>
            </a:r>
            <a:endParaRPr lang="he-IL" sz="1700" dirty="0"/>
          </a:p>
        </p:txBody>
      </p:sp>
      <p:sp>
        <p:nvSpPr>
          <p:cNvPr id="10" name="why"/>
          <p:cNvSpPr txBox="1"/>
          <p:nvPr/>
        </p:nvSpPr>
        <p:spPr>
          <a:xfrm>
            <a:off x="457200" y="4114800"/>
            <a:ext cx="8229600" cy="2286000"/>
          </a:xfrm>
          <a:prstGeom prst="rect">
            <a:avLst/>
          </a:prstGeom>
          <a:noFill/>
          <a:ln/>
        </p:spPr>
        <p:txBody>
          <a:bodyPr wrap="square" lIns="0" tIns="0" rIns="0" bIns="0" rtlCol="0" anchor="t"/>
          <a:lstStyle/>
          <a:p>
            <a:pPr rtl="1" algn="r" indent="0" marL="0">
              <a:spcAft>
                <a:spcPts val="500"/>
              </a:spcAft>
              <a:buNone/>
            </a:pPr>
            <a:r>
              <a:rPr lang="he-IL" altLang="en-US" sz="1700" b="1" dirty="0">
                <a:solidFill>
                  <a:schemeClr val="tx1"/>
                </a:solidFill>
              </a:rPr>
              <a:t>למה?</a:t>
            </a:r>
            <a:endParaRPr lang="he-IL" sz="1700" dirty="0"/>
          </a:p>
          <a:p>
            <a:pPr rtl="1" algn="r" indent="0" marL="0">
              <a:spcAft>
                <a:spcPts val="500"/>
              </a:spcAft>
              <a:buNone/>
            </a:pPr>
            <a:r>
              <a:rPr lang="he-IL" altLang="en-US" sz="1600" dirty="0">
                <a:solidFill>
                  <a:schemeClr val="tx1"/>
                </a:solidFill>
              </a:rPr>
              <a:t>כל קו בחירה הוא ביט, ו 3 ביטים נותנים 2 בחזקת 3 = 8 צירופים. כל צירוף מחבר כניסה אחרת ליציאה, ושורה אחרת בטבלת האמת. זו התשובה לחידה: </a:t>
            </a:r>
            <a:r>
              <a:rPr lang="en-US" altLang="en-US" sz="1600" dirty="0">
                <a:solidFill>
                  <a:schemeClr val="tx1"/>
                </a:solidFill>
              </a:rPr>
              <a:t>SW9</a:t>
            </a:r>
            <a:r>
              <a:rPr lang="he-IL" altLang="en-US" sz="1600" dirty="0">
                <a:solidFill>
                  <a:schemeClr val="tx1"/>
                </a:solidFill>
              </a:rPr>
              <a:t>, </a:t>
            </a:r>
            <a:r>
              <a:rPr lang="en-US" altLang="en-US" sz="1600" dirty="0">
                <a:solidFill>
                  <a:schemeClr val="tx1"/>
                </a:solidFill>
              </a:rPr>
              <a:t>SW8</a:t>
            </a:r>
            <a:r>
              <a:rPr lang="he-IL" altLang="en-US" sz="1600" dirty="0">
                <a:solidFill>
                  <a:schemeClr val="tx1"/>
                </a:solidFill>
              </a:rPr>
              <a:t>, </a:t>
            </a:r>
            <a:r>
              <a:rPr lang="en-US" altLang="en-US" sz="1600" dirty="0">
                <a:solidFill>
                  <a:schemeClr val="tx1"/>
                </a:solidFill>
              </a:rPr>
              <a:t>SW7</a:t>
            </a:r>
            <a:r>
              <a:rPr lang="he-IL" altLang="en-US" sz="1600" dirty="0">
                <a:solidFill>
                  <a:schemeClr val="tx1"/>
                </a:solidFill>
              </a:rPr>
              <a:t> הם 3 קווי בחירה, ולכן בלוח של מעבדה 1 יש 8 קלפים, 8 מעגלים שהבורר בוחר ביניהם. ביט בחירה רביעי היה מכפיל את המספר ל 16.</a:t>
            </a:r>
            <a:endParaRPr lang="he-IL" sz="17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שבוע 4 · מפות קרנו, השהיות, תיאור חומרה</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en-US" altLang="en-US" sz="3000" b="1" dirty="0">
                <a:solidFill>
                  <a:schemeClr val="accent1"/>
                </a:solidFill>
              </a:rPr>
              <a:t>NextSilicon</a:t>
            </a:r>
            <a:r>
              <a:rPr lang="he-IL" altLang="en-US" sz="3000" b="1" dirty="0">
                <a:solidFill>
                  <a:schemeClr val="accent1"/>
                </a:solidFill>
              </a:rPr>
              <a:t>: שבב שמתארגן לפי התוכנית</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4: </a:t>
            </a:r>
            <a:pPr algn="r" indent="0" marL="0">
              <a:buNone/>
            </a:pPr>
            <a:r>
              <a:rPr lang="he-IL" altLang="en-US" sz="1400" dirty="0">
                <a:solidFill>
                  <a:schemeClr val="tx1"/>
                </a:solidFill>
              </a:rPr>
              <a:t>אותו שבב הפך למשחק. איך הוא נהיה מעגל אחר?</a:t>
            </a:r>
            <a:endParaRPr lang="he-IL" sz="1400" dirty="0"/>
          </a:p>
        </p:txBody>
      </p:sp>
      <p:sp>
        <p:nvSpPr>
          <p:cNvPr id="6" name="what happened"/>
          <p:cNvSpPr txBox="1"/>
          <p:nvPr/>
        </p:nvSpPr>
        <p:spPr>
          <a:xfrm>
            <a:off x="3200400" y="2011680"/>
            <a:ext cx="5486400" cy="2148840"/>
          </a:xfrm>
          <a:prstGeom prst="rect">
            <a:avLst/>
          </a:prstGeom>
          <a:noFill/>
          <a:ln/>
        </p:spPr>
        <p:txBody>
          <a:bodyPr wrap="square" lIns="0" tIns="0" rIns="0" bIns="0" rtlCol="0" anchor="t"/>
          <a:lstStyle/>
          <a:p>
            <a:pPr rtl="1" algn="r" indent="0" marL="0">
              <a:spcAft>
                <a:spcPts val="400"/>
              </a:spcAft>
              <a:buNone/>
            </a:pPr>
            <a:r>
              <a:rPr lang="he-IL" altLang="en-US" sz="1700" b="1" dirty="0">
                <a:solidFill>
                  <a:schemeClr val="tx1"/>
                </a:solidFill>
              </a:rPr>
              <a:t>מה קרה?</a:t>
            </a:r>
            <a:endParaRPr lang="he-IL" sz="1700" dirty="0"/>
          </a:p>
          <a:p>
            <a:pPr rtl="1" algn="r" indent="0" marL="0">
              <a:spcAft>
                <a:spcPts val="400"/>
              </a:spcAft>
              <a:buNone/>
            </a:pPr>
            <a:r>
              <a:rPr lang="en-US" altLang="en-US" sz="1400" dirty="0">
                <a:solidFill>
                  <a:schemeClr val="tx1"/>
                </a:solidFill>
              </a:rPr>
              <a:t>NextSilicon</a:t>
            </a:r>
            <a:r>
              <a:rPr lang="he-IL" altLang="en-US" sz="1400" dirty="0">
                <a:solidFill>
                  <a:schemeClr val="tx1"/>
                </a:solidFill>
              </a:rPr>
              <a:t> הישראלית השיקה באוקטובר 2025 את </a:t>
            </a:r>
            <a:r>
              <a:rPr lang="en-US" altLang="en-US" sz="1400" dirty="0">
                <a:solidFill>
                  <a:schemeClr val="tx1"/>
                </a:solidFill>
              </a:rPr>
              <a:t>Maverick-2</a:t>
            </a:r>
            <a:r>
              <a:rPr lang="he-IL" altLang="en-US" sz="1400" dirty="0">
                <a:solidFill>
                  <a:schemeClr val="tx1"/>
                </a:solidFill>
              </a:rPr>
              <a:t>. אין בו מונה תוכנית שמריץ פקודה אחרי פקודה: התוכנה של החברה ממפה את החלקים העמוסים של התוכנית על רשת של יחידות חישוב, ומשנה את המיפוי בזמן ריצה. לפי החברה, בבדיקה </a:t>
            </a:r>
            <a:r>
              <a:rPr lang="en-US" altLang="en-US" sz="1400" dirty="0">
                <a:solidFill>
                  <a:schemeClr val="tx1"/>
                </a:solidFill>
              </a:rPr>
              <a:t>HPCG</a:t>
            </a:r>
            <a:r>
              <a:rPr lang="he-IL" altLang="en-US" sz="1400" dirty="0">
                <a:solidFill>
                  <a:schemeClr val="tx1"/>
                </a:solidFill>
              </a:rPr>
              <a:t> הוא מגיע לביצועים של מעבד גרפי בערך בחצי מההספק.</a:t>
            </a:r>
            <a:endParaRPr lang="he-IL" sz="1700" dirty="0"/>
          </a:p>
        </p:txBody>
      </p:sp>
      <p:sp>
        <p:nvSpPr>
          <p:cNvPr id="7" name="stat card"/>
          <p:cNvSpPr/>
          <p:nvPr/>
        </p:nvSpPr>
        <p:spPr>
          <a:xfrm>
            <a:off x="457200" y="2057400"/>
            <a:ext cx="2514600" cy="2057400"/>
          </a:xfrm>
          <a:prstGeom prst="roundRect">
            <a:avLst>
              <a:gd name="adj" fmla="val 5333"/>
            </a:avLst>
          </a:prstGeom>
          <a:solidFill>
            <a:schemeClr val="tx2"/>
          </a:solidFill>
          <a:ln/>
        </p:spPr>
      </p:sp>
      <p:sp>
        <p:nvSpPr>
          <p:cNvPr id="8" name="stat"/>
          <p:cNvSpPr txBox="1"/>
          <p:nvPr/>
        </p:nvSpPr>
        <p:spPr>
          <a:xfrm>
            <a:off x="548640" y="2148840"/>
            <a:ext cx="2331720" cy="1051560"/>
          </a:xfrm>
          <a:prstGeom prst="rect">
            <a:avLst/>
          </a:prstGeom>
          <a:noFill/>
          <a:ln/>
        </p:spPr>
        <p:txBody>
          <a:bodyPr wrap="square" rtlCol="0" anchor="ctr"/>
          <a:lstStyle/>
          <a:p>
            <a:pPr algn="ctr" indent="0" marL="0">
              <a:buNone/>
            </a:pPr>
            <a:r>
              <a:rPr lang="en-US" sz="4000" b="1" dirty="0">
                <a:solidFill>
                  <a:schemeClr val="accent1"/>
                </a:solidFill>
              </a:rPr>
              <a:t>½</a:t>
            </a:r>
            <a:endParaRPr lang="en-US" sz="4000" dirty="0"/>
          </a:p>
        </p:txBody>
      </p:sp>
      <p:sp>
        <p:nvSpPr>
          <p:cNvPr id="9" name="stat label"/>
          <p:cNvSpPr txBox="1"/>
          <p:nvPr/>
        </p:nvSpPr>
        <p:spPr>
          <a:xfrm>
            <a:off x="594360" y="3200400"/>
            <a:ext cx="2240280" cy="822960"/>
          </a:xfrm>
          <a:prstGeom prst="rect">
            <a:avLst/>
          </a:prstGeom>
          <a:noFill/>
          <a:ln/>
        </p:spPr>
        <p:txBody>
          <a:bodyPr wrap="square" rtlCol="0" anchor="t"/>
          <a:lstStyle/>
          <a:p>
            <a:pPr rtl="1" algn="ctr" indent="0" marL="0">
              <a:buNone/>
            </a:pPr>
            <a:r>
              <a:rPr lang="he-IL" altLang="en-US" sz="1200" dirty="0">
                <a:solidFill>
                  <a:schemeClr val="bg1"/>
                </a:solidFill>
              </a:rPr>
              <a:t>מההספק של מעבד גרפי, לפי החברה, אוקטובר 2025</a:t>
            </a:r>
            <a:endParaRPr lang="he-IL" sz="1200" dirty="0"/>
          </a:p>
        </p:txBody>
      </p:sp>
      <p:sp>
        <p:nvSpPr>
          <p:cNvPr id="10" name="link card"/>
          <p:cNvSpPr/>
          <p:nvPr/>
        </p:nvSpPr>
        <p:spPr>
          <a:xfrm>
            <a:off x="457200" y="4297680"/>
            <a:ext cx="8229600" cy="2011680"/>
          </a:xfrm>
          <a:prstGeom prst="roundRect">
            <a:avLst>
              <a:gd name="adj" fmla="val 5455"/>
            </a:avLst>
          </a:prstGeom>
          <a:solidFill>
            <a:schemeClr val="bg2"/>
          </a:solidFill>
          <a:ln/>
        </p:spPr>
      </p:sp>
      <p:sp>
        <p:nvSpPr>
          <p:cNvPr id="11" name="link text"/>
          <p:cNvSpPr txBox="1"/>
          <p:nvPr/>
        </p:nvSpPr>
        <p:spPr>
          <a:xfrm>
            <a:off x="685800" y="4389120"/>
            <a:ext cx="7772400" cy="1828800"/>
          </a:xfrm>
          <a:prstGeom prst="rect">
            <a:avLst/>
          </a:prstGeom>
          <a:noFill/>
          <a:ln/>
        </p:spPr>
        <p:txBody>
          <a:bodyPr wrap="square" lIns="0" tIns="0" rIns="0" bIns="0" rtlCol="0" anchor="t"/>
          <a:lstStyle/>
          <a:p>
            <a:pPr rtl="1" algn="r" indent="0" marL="0">
              <a:spcAft>
                <a:spcPts val="500"/>
              </a:spcAft>
              <a:buNone/>
            </a:pPr>
            <a:r>
              <a:rPr lang="he-IL" altLang="en-US" sz="1500" b="1" dirty="0">
                <a:solidFill>
                  <a:schemeClr val="tx1"/>
                </a:solidFill>
              </a:rPr>
              <a:t>ומה זה קשור לשבוע 4?</a:t>
            </a:r>
            <a:endParaRPr lang="he-IL" sz="1500" dirty="0"/>
          </a:p>
          <a:p>
            <a:pPr rtl="1" algn="r" indent="0" marL="0">
              <a:spcAft>
                <a:spcPts val="500"/>
              </a:spcAft>
              <a:buNone/>
            </a:pPr>
            <a:r>
              <a:rPr lang="he-IL" altLang="en-US" sz="1400" dirty="0">
                <a:solidFill>
                  <a:schemeClr val="tx1"/>
                </a:solidFill>
              </a:rPr>
              <a:t>השבוע: תיאור חומרה בקוד. הקוד שתכתבו לא רץ על הלוח, הוא הופך לחיבורים בין שערים. כשטוענים קובץ אחר, אותו שבב נהיה מעגל אחר, כמו המשחק בשיעור הראשון.</a:t>
            </a:r>
            <a:endParaRPr lang="he-IL" sz="1500" dirty="0"/>
          </a:p>
          <a:p>
            <a:pPr rtl="1" algn="r" indent="0" marL="0">
              <a:spcAft>
                <a:spcPts val="500"/>
              </a:spcAft>
              <a:buNone/>
            </a:pPr>
            <a:r>
              <a:rPr lang="he-IL" altLang="en-US" sz="1400" b="1" dirty="0">
                <a:solidFill>
                  <a:schemeClr val="tx1"/>
                </a:solidFill>
              </a:rPr>
              <a:t>שאלה: </a:t>
            </a:r>
            <a:pPr algn="r" indent="0" marL="0">
              <a:spcAft>
                <a:spcPts val="500"/>
              </a:spcAft>
              <a:buNone/>
            </a:pPr>
            <a:r>
              <a:rPr lang="he-IL" altLang="en-US" sz="1500" dirty="0">
                <a:solidFill>
                  <a:schemeClr val="tx1"/>
                </a:solidFill>
              </a:rPr>
              <a:t>מה ההבדל בין מעבד שמריץ תוכנה לבין </a:t>
            </a:r>
            <a:r>
              <a:rPr lang="en-US" altLang="en-US" sz="1500" dirty="0">
                <a:solidFill>
                  <a:schemeClr val="tx1"/>
                </a:solidFill>
              </a:rPr>
              <a:t>FPGA</a:t>
            </a:r>
            <a:r>
              <a:rPr lang="he-IL" altLang="en-US" sz="1500" dirty="0">
                <a:solidFill>
                  <a:schemeClr val="tx1"/>
                </a:solidFill>
              </a:rPr>
              <a:t> שטוענים לתוכו מעגל חדש?</a:t>
            </a:r>
            <a:endParaRPr lang="he-IL" sz="1500" dirty="0"/>
          </a:p>
        </p:txBody>
      </p:sp>
      <p:sp>
        <p:nvSpPr>
          <p:cNvPr id="12" name="source">
            <a:hlinkClick r:id="rId1" tooltip=""/>
          </p:cNvPr>
          <p:cNvSpPr txBox="1"/>
          <p:nvPr/>
        </p:nvSpPr>
        <p:spPr>
          <a:xfrm>
            <a:off x="457200" y="6382512"/>
            <a:ext cx="7772400" cy="274320"/>
          </a:xfrm>
          <a:prstGeom prst="rect">
            <a:avLst/>
          </a:prstGeom>
          <a:noFill/>
          <a:ln/>
        </p:spPr>
        <p:txBody>
          <a:bodyPr wrap="square" lIns="0" tIns="0" rIns="0" bIns="0" rtlCol="0" anchor="ctr"/>
          <a:lstStyle/>
          <a:p>
            <a:pPr algn="l" indent="0" marL="0">
              <a:buNone/>
            </a:pPr>
            <a:r>
              <a:rPr lang="en-US" sz="8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https://www.nextsilicon.com/insights/elads-blog-Maverick2-launch/</a:t>
            </a:r>
            <a:endParaRPr lang="en-US" sz="8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תשובה לשאלה של שבוע 4 · </a:t>
            </a:r>
            <a:r>
              <a:rPr lang="en-US" altLang="en-US" sz="1400" dirty="0">
                <a:solidFill>
                  <a:schemeClr val="bg1"/>
                </a:solidFill>
              </a:rPr>
              <a:t>NextSilicon</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he-IL" altLang="en-US" sz="3000" b="1" dirty="0">
                <a:solidFill>
                  <a:schemeClr val="accent1"/>
                </a:solidFill>
              </a:rPr>
              <a:t>השאלה מהשבוע שעבר</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4: </a:t>
            </a:r>
            <a:pPr algn="r" indent="0" marL="0">
              <a:buNone/>
            </a:pPr>
            <a:r>
              <a:rPr lang="he-IL" altLang="en-US" sz="1400" dirty="0">
                <a:solidFill>
                  <a:schemeClr val="tx1"/>
                </a:solidFill>
              </a:rPr>
              <a:t>אותו שבב הפך למשחק. איך הוא נהיה מעגל אחר?</a:t>
            </a:r>
            <a:endParaRPr lang="he-IL" sz="1400" dirty="0"/>
          </a:p>
        </p:txBody>
      </p:sp>
      <p:sp>
        <p:nvSpPr>
          <p:cNvPr id="6" name="question card"/>
          <p:cNvSpPr/>
          <p:nvPr/>
        </p:nvSpPr>
        <p:spPr>
          <a:xfrm>
            <a:off x="457200" y="2011680"/>
            <a:ext cx="8229600" cy="868680"/>
          </a:xfrm>
          <a:prstGeom prst="roundRect">
            <a:avLst>
              <a:gd name="adj" fmla="val 12632"/>
            </a:avLst>
          </a:prstGeom>
          <a:solidFill>
            <a:schemeClr val="bg2"/>
          </a:solidFill>
          <a:ln/>
        </p:spPr>
      </p:sp>
      <p:sp>
        <p:nvSpPr>
          <p:cNvPr id="7" name="question"/>
          <p:cNvSpPr txBox="1"/>
          <p:nvPr/>
        </p:nvSpPr>
        <p:spPr>
          <a:xfrm>
            <a:off x="685800" y="2011680"/>
            <a:ext cx="7772400" cy="868680"/>
          </a:xfrm>
          <a:prstGeom prst="rect">
            <a:avLst/>
          </a:prstGeom>
          <a:noFill/>
          <a:ln/>
        </p:spPr>
        <p:txBody>
          <a:bodyPr wrap="square" lIns="0" tIns="0" rIns="0" bIns="0" rtlCol="0" anchor="ctr"/>
          <a:lstStyle/>
          <a:p>
            <a:pPr rtl="1" algn="r" indent="0" marL="0">
              <a:buNone/>
            </a:pPr>
            <a:r>
              <a:rPr lang="he-IL" altLang="en-US" sz="1600" b="1" dirty="0">
                <a:solidFill>
                  <a:schemeClr val="tx1"/>
                </a:solidFill>
              </a:rPr>
              <a:t>שאלה: </a:t>
            </a:r>
            <a:pPr algn="r" indent="0" marL="0">
              <a:buNone/>
            </a:pPr>
            <a:r>
              <a:rPr lang="he-IL" altLang="en-US" sz="1600" dirty="0">
                <a:solidFill>
                  <a:schemeClr val="tx1"/>
                </a:solidFill>
              </a:rPr>
              <a:t>מה ההבדל בין מעבד שמריץ תוכנה לבין </a:t>
            </a:r>
            <a:r>
              <a:rPr lang="en-US" altLang="en-US" sz="1600" dirty="0">
                <a:solidFill>
                  <a:schemeClr val="tx1"/>
                </a:solidFill>
              </a:rPr>
              <a:t>FPGA</a:t>
            </a:r>
            <a:r>
              <a:rPr lang="he-IL" altLang="en-US" sz="1600" dirty="0">
                <a:solidFill>
                  <a:schemeClr val="tx1"/>
                </a:solidFill>
              </a:rPr>
              <a:t> שטוענים לתוכו מעגל חדש?</a:t>
            </a:r>
            <a:endParaRPr lang="he-IL" sz="1600" dirty="0"/>
          </a:p>
        </p:txBody>
      </p:sp>
      <p:sp>
        <p:nvSpPr>
          <p:cNvPr id="8" name="answer card"/>
          <p:cNvSpPr/>
          <p:nvPr/>
        </p:nvSpPr>
        <p:spPr>
          <a:xfrm>
            <a:off x="457200" y="3017520"/>
            <a:ext cx="8229600" cy="914400"/>
          </a:xfrm>
          <a:prstGeom prst="roundRect">
            <a:avLst>
              <a:gd name="adj" fmla="val 12000"/>
            </a:avLst>
          </a:prstGeom>
          <a:solidFill>
            <a:schemeClr val="tx2"/>
          </a:solidFill>
          <a:ln/>
        </p:spPr>
      </p:sp>
      <p:sp>
        <p:nvSpPr>
          <p:cNvPr id="9" name="answer"/>
          <p:cNvSpPr txBox="1"/>
          <p:nvPr/>
        </p:nvSpPr>
        <p:spPr>
          <a:xfrm>
            <a:off x="685800" y="3017520"/>
            <a:ext cx="7772400" cy="914400"/>
          </a:xfrm>
          <a:prstGeom prst="rect">
            <a:avLst/>
          </a:prstGeom>
          <a:noFill/>
          <a:ln/>
        </p:spPr>
        <p:txBody>
          <a:bodyPr wrap="square" lIns="0" tIns="0" rIns="0" bIns="0" rtlCol="0" anchor="ctr"/>
          <a:lstStyle/>
          <a:p>
            <a:pPr rtl="1" algn="r" indent="0" marL="0">
              <a:buNone/>
            </a:pPr>
            <a:r>
              <a:rPr lang="he-IL" altLang="en-US" sz="1700" b="1" dirty="0">
                <a:solidFill>
                  <a:schemeClr val="accent1"/>
                </a:solidFill>
              </a:rPr>
              <a:t>תשובה: </a:t>
            </a:r>
            <a:pPr algn="r" indent="0" marL="0">
              <a:buNone/>
            </a:pPr>
            <a:r>
              <a:rPr lang="he-IL" altLang="en-US" sz="1700" dirty="0">
                <a:solidFill>
                  <a:schemeClr val="accent1"/>
                </a:solidFill>
              </a:rPr>
              <a:t>המעבד נשאר אותו מעגל ומבצע פקודות אחת אחרי השנייה. ב </a:t>
            </a:r>
            <a:r>
              <a:rPr lang="en-US" altLang="en-US" sz="1700" dirty="0">
                <a:solidFill>
                  <a:schemeClr val="accent1"/>
                </a:solidFill>
              </a:rPr>
              <a:t>FPGA</a:t>
            </a:r>
            <a:r>
              <a:rPr lang="he-IL" altLang="en-US" sz="1700" dirty="0">
                <a:solidFill>
                  <a:schemeClr val="accent1"/>
                </a:solidFill>
              </a:rPr>
              <a:t> המעגל עצמו משתנה.</a:t>
            </a:r>
            <a:endParaRPr lang="he-IL" sz="1700" dirty="0"/>
          </a:p>
        </p:txBody>
      </p:sp>
      <p:sp>
        <p:nvSpPr>
          <p:cNvPr id="10" name="why"/>
          <p:cNvSpPr txBox="1"/>
          <p:nvPr/>
        </p:nvSpPr>
        <p:spPr>
          <a:xfrm>
            <a:off x="457200" y="4114800"/>
            <a:ext cx="8229600" cy="2286000"/>
          </a:xfrm>
          <a:prstGeom prst="rect">
            <a:avLst/>
          </a:prstGeom>
          <a:noFill/>
          <a:ln/>
        </p:spPr>
        <p:txBody>
          <a:bodyPr wrap="square" lIns="0" tIns="0" rIns="0" bIns="0" rtlCol="0" anchor="t"/>
          <a:lstStyle/>
          <a:p>
            <a:pPr rtl="1" algn="r" indent="0" marL="0">
              <a:spcAft>
                <a:spcPts val="500"/>
              </a:spcAft>
              <a:buNone/>
            </a:pPr>
            <a:r>
              <a:rPr lang="he-IL" altLang="en-US" sz="1700" b="1" dirty="0">
                <a:solidFill>
                  <a:schemeClr val="tx1"/>
                </a:solidFill>
              </a:rPr>
              <a:t>למה?</a:t>
            </a:r>
            <a:endParaRPr lang="he-IL" sz="1700" dirty="0"/>
          </a:p>
          <a:p>
            <a:pPr rtl="1" algn="r" indent="0" marL="0">
              <a:spcAft>
                <a:spcPts val="500"/>
              </a:spcAft>
              <a:buNone/>
            </a:pPr>
            <a:r>
              <a:rPr lang="he-IL" altLang="en-US" sz="1600" dirty="0">
                <a:solidFill>
                  <a:schemeClr val="tx1"/>
                </a:solidFill>
              </a:rPr>
              <a:t>ב </a:t>
            </a:r>
            <a:r>
              <a:rPr lang="en-US" altLang="en-US" sz="1600" dirty="0">
                <a:solidFill>
                  <a:schemeClr val="tx1"/>
                </a:solidFill>
              </a:rPr>
              <a:t>FPGA</a:t>
            </a:r>
            <a:r>
              <a:rPr lang="he-IL" altLang="en-US" sz="1600" dirty="0">
                <a:solidFill>
                  <a:schemeClr val="tx1"/>
                </a:solidFill>
              </a:rPr>
              <a:t> יש עשרות אלפי טבלאות אמת קטנות (</a:t>
            </a:r>
            <a:r>
              <a:rPr lang="en-US" altLang="en-US" sz="1600" dirty="0">
                <a:solidFill>
                  <a:schemeClr val="tx1"/>
                </a:solidFill>
              </a:rPr>
              <a:t>LUT</a:t>
            </a:r>
            <a:r>
              <a:rPr lang="he-IL" altLang="en-US" sz="1600" dirty="0">
                <a:solidFill>
                  <a:schemeClr val="tx1"/>
                </a:solidFill>
              </a:rPr>
              <a:t>) ומתגים שמחברים ביניהן. קובץ ה </a:t>
            </a:r>
            <a:r>
              <a:rPr lang="en-US" altLang="en-US" sz="1600" dirty="0">
                <a:solidFill>
                  <a:schemeClr val="tx1"/>
                </a:solidFill>
              </a:rPr>
              <a:t>sof</a:t>
            </a:r>
            <a:r>
              <a:rPr lang="he-IL" altLang="en-US" sz="1600" dirty="0">
                <a:solidFill>
                  <a:schemeClr val="tx1"/>
                </a:solidFill>
              </a:rPr>
              <a:t> קובע מה כתוב בכל טבלה ומה מחובר למה, ולכן אחרי טעינה החיבורים עצמם אחרים: כך אותו שבב נהיה משחק. </a:t>
            </a:r>
            <a:r>
              <a:rPr lang="en-US" altLang="en-US" sz="1600" dirty="0">
                <a:solidFill>
                  <a:schemeClr val="tx1"/>
                </a:solidFill>
              </a:rPr>
              <a:t>Maverick-2</a:t>
            </a:r>
            <a:r>
              <a:rPr lang="he-IL" altLang="en-US" sz="1600" dirty="0">
                <a:solidFill>
                  <a:schemeClr val="tx1"/>
                </a:solidFill>
              </a:rPr>
              <a:t> באמצע הדרך: יחידות החישוב קבועות, אבל מה שכל אחת מחשבת והחיבורים ביניהן נקבעים לפי התוכנית.</a:t>
            </a:r>
            <a:endParaRPr lang="he-IL" sz="17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שבוע 5 · תפסנים, דלגלגים ואוגרים</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en-US" altLang="en-US" sz="3000" b="1" dirty="0">
                <a:solidFill>
                  <a:schemeClr val="accent1"/>
                </a:solidFill>
              </a:rPr>
              <a:t>RAAAM</a:t>
            </a:r>
            <a:r>
              <a:rPr lang="he-IL" altLang="en-US" sz="3000" b="1" dirty="0">
                <a:solidFill>
                  <a:schemeClr val="accent1"/>
                </a:solidFill>
              </a:rPr>
              <a:t>: איפה נשמר הביט?</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5: </a:t>
            </a:r>
            <a:pPr algn="r" indent="0" marL="0">
              <a:buNone/>
            </a:pPr>
            <a:r>
              <a:rPr lang="he-IL" altLang="en-US" sz="1400" dirty="0">
                <a:solidFill>
                  <a:schemeClr val="tx1"/>
                </a:solidFill>
              </a:rPr>
              <a:t>הנורה נשארת דולקת בלי שאף אחד לוחץ. איפה נשמר ה'דולק'?</a:t>
            </a:r>
            <a:endParaRPr lang="he-IL" sz="1400" dirty="0"/>
          </a:p>
        </p:txBody>
      </p:sp>
      <p:sp>
        <p:nvSpPr>
          <p:cNvPr id="6" name="what happened"/>
          <p:cNvSpPr txBox="1"/>
          <p:nvPr/>
        </p:nvSpPr>
        <p:spPr>
          <a:xfrm>
            <a:off x="3200400" y="2011680"/>
            <a:ext cx="5486400" cy="2148840"/>
          </a:xfrm>
          <a:prstGeom prst="rect">
            <a:avLst/>
          </a:prstGeom>
          <a:noFill/>
          <a:ln/>
        </p:spPr>
        <p:txBody>
          <a:bodyPr wrap="square" lIns="0" tIns="0" rIns="0" bIns="0" rtlCol="0" anchor="t"/>
          <a:lstStyle/>
          <a:p>
            <a:pPr rtl="1" algn="r" indent="0" marL="0">
              <a:spcAft>
                <a:spcPts val="400"/>
              </a:spcAft>
              <a:buNone/>
            </a:pPr>
            <a:r>
              <a:rPr lang="he-IL" altLang="en-US" sz="1700" b="1" dirty="0">
                <a:solidFill>
                  <a:schemeClr val="tx1"/>
                </a:solidFill>
              </a:rPr>
              <a:t>מה קרה?</a:t>
            </a:r>
            <a:endParaRPr lang="he-IL" sz="1700" dirty="0"/>
          </a:p>
          <a:p>
            <a:pPr rtl="1" algn="r" indent="0" marL="0">
              <a:spcAft>
                <a:spcPts val="400"/>
              </a:spcAft>
              <a:buNone/>
            </a:pPr>
            <a:r>
              <a:rPr lang="en-US" altLang="en-US" sz="1400" dirty="0">
                <a:solidFill>
                  <a:schemeClr val="tx1"/>
                </a:solidFill>
              </a:rPr>
              <a:t>RAAAM</a:t>
            </a:r>
            <a:r>
              <a:rPr lang="he-IL" altLang="en-US" sz="1400" dirty="0">
                <a:solidFill>
                  <a:schemeClr val="tx1"/>
                </a:solidFill>
              </a:rPr>
              <a:t> מפתח תקווה פיתחה זיכרון </a:t>
            </a:r>
            <a:r>
              <a:rPr lang="en-US" altLang="en-US" sz="1400" dirty="0">
                <a:solidFill>
                  <a:schemeClr val="tx1"/>
                </a:solidFill>
              </a:rPr>
              <a:t>GCRAM</a:t>
            </a:r>
            <a:r>
              <a:rPr lang="he-IL" altLang="en-US" sz="1400" dirty="0">
                <a:solidFill>
                  <a:schemeClr val="tx1"/>
                </a:solidFill>
              </a:rPr>
              <a:t>, שמחליף את זיכרון ה </a:t>
            </a:r>
            <a:r>
              <a:rPr lang="en-US" altLang="en-US" sz="1400" dirty="0">
                <a:solidFill>
                  <a:schemeClr val="tx1"/>
                </a:solidFill>
              </a:rPr>
              <a:t>SRAM</a:t>
            </a:r>
            <a:r>
              <a:rPr lang="he-IL" altLang="en-US" sz="1400" dirty="0">
                <a:solidFill>
                  <a:schemeClr val="tx1"/>
                </a:solidFill>
              </a:rPr>
              <a:t> שבתוך שבבים. בספטמבר 2026 הודיעו </a:t>
            </a:r>
            <a:r>
              <a:rPr lang="en-US" altLang="en-US" sz="1400" dirty="0">
                <a:solidFill>
                  <a:schemeClr val="tx1"/>
                </a:solidFill>
              </a:rPr>
              <a:t>GlobalFoundries</a:t>
            </a:r>
            <a:r>
              <a:rPr lang="he-IL" altLang="en-US" sz="1400" dirty="0">
                <a:solidFill>
                  <a:schemeClr val="tx1"/>
                </a:solidFill>
              </a:rPr>
              <a:t> ו </a:t>
            </a:r>
            <a:r>
              <a:rPr lang="en-US" altLang="en-US" sz="1400" dirty="0">
                <a:solidFill>
                  <a:schemeClr val="tx1"/>
                </a:solidFill>
              </a:rPr>
              <a:t>RAAAM</a:t>
            </a:r>
            <a:r>
              <a:rPr lang="he-IL" altLang="en-US" sz="1400" dirty="0">
                <a:solidFill>
                  <a:schemeClr val="tx1"/>
                </a:solidFill>
              </a:rPr>
              <a:t> על פיתוח משותף ועל שבב ניסוי. לפי </a:t>
            </a:r>
            <a:r>
              <a:rPr lang="en-US" altLang="en-US" sz="1400" dirty="0">
                <a:solidFill>
                  <a:schemeClr val="tx1"/>
                </a:solidFill>
              </a:rPr>
              <a:t>GlobalFoundries</a:t>
            </a:r>
            <a:r>
              <a:rPr lang="he-IL" altLang="en-US" sz="1400" dirty="0">
                <a:solidFill>
                  <a:schemeClr val="tx1"/>
                </a:solidFill>
              </a:rPr>
              <a:t>: 40% פחות שטח ועד 60% פחות הספק מ </a:t>
            </a:r>
            <a:r>
              <a:rPr lang="en-US" altLang="en-US" sz="1400" dirty="0">
                <a:solidFill>
                  <a:schemeClr val="tx1"/>
                </a:solidFill>
              </a:rPr>
              <a:t>SRAM</a:t>
            </a:r>
            <a:r>
              <a:rPr lang="he-IL" altLang="en-US" sz="1400" dirty="0">
                <a:solidFill>
                  <a:schemeClr val="tx1"/>
                </a:solidFill>
              </a:rPr>
              <a:t>. בנובמבר 2025 גייסה החברה 17.5 מיליון דולר בהובלת </a:t>
            </a:r>
            <a:r>
              <a:rPr lang="en-US" altLang="en-US" sz="1400" dirty="0">
                <a:solidFill>
                  <a:schemeClr val="tx1"/>
                </a:solidFill>
              </a:rPr>
              <a:t>NXP</a:t>
            </a:r>
            <a:r>
              <a:rPr lang="he-IL" altLang="en-US" sz="1400" dirty="0">
                <a:solidFill>
                  <a:schemeClr val="tx1"/>
                </a:solidFill>
              </a:rPr>
              <a:t>.</a:t>
            </a:r>
            <a:endParaRPr lang="he-IL" sz="1700" dirty="0"/>
          </a:p>
        </p:txBody>
      </p:sp>
      <p:sp>
        <p:nvSpPr>
          <p:cNvPr id="7" name="stat card"/>
          <p:cNvSpPr/>
          <p:nvPr/>
        </p:nvSpPr>
        <p:spPr>
          <a:xfrm>
            <a:off x="457200" y="2057400"/>
            <a:ext cx="2514600" cy="2057400"/>
          </a:xfrm>
          <a:prstGeom prst="roundRect">
            <a:avLst>
              <a:gd name="adj" fmla="val 5333"/>
            </a:avLst>
          </a:prstGeom>
          <a:solidFill>
            <a:schemeClr val="tx2"/>
          </a:solidFill>
          <a:ln/>
        </p:spPr>
      </p:sp>
      <p:sp>
        <p:nvSpPr>
          <p:cNvPr id="8" name="stat"/>
          <p:cNvSpPr txBox="1"/>
          <p:nvPr/>
        </p:nvSpPr>
        <p:spPr>
          <a:xfrm>
            <a:off x="548640" y="2148840"/>
            <a:ext cx="2331720" cy="1051560"/>
          </a:xfrm>
          <a:prstGeom prst="rect">
            <a:avLst/>
          </a:prstGeom>
          <a:noFill/>
          <a:ln/>
        </p:spPr>
        <p:txBody>
          <a:bodyPr wrap="square" rtlCol="0" anchor="ctr"/>
          <a:lstStyle/>
          <a:p>
            <a:pPr algn="ctr" indent="0" marL="0">
              <a:buNone/>
            </a:pPr>
            <a:r>
              <a:rPr lang="en-US" sz="4000" b="1" dirty="0">
                <a:solidFill>
                  <a:schemeClr val="accent1"/>
                </a:solidFill>
              </a:rPr>
              <a:t>40%</a:t>
            </a:r>
            <a:endParaRPr lang="en-US" sz="4000" dirty="0"/>
          </a:p>
        </p:txBody>
      </p:sp>
      <p:sp>
        <p:nvSpPr>
          <p:cNvPr id="9" name="stat label"/>
          <p:cNvSpPr txBox="1"/>
          <p:nvPr/>
        </p:nvSpPr>
        <p:spPr>
          <a:xfrm>
            <a:off x="594360" y="3200400"/>
            <a:ext cx="2240280" cy="822960"/>
          </a:xfrm>
          <a:prstGeom prst="rect">
            <a:avLst/>
          </a:prstGeom>
          <a:noFill/>
          <a:ln/>
        </p:spPr>
        <p:txBody>
          <a:bodyPr wrap="square" rtlCol="0" anchor="t"/>
          <a:lstStyle/>
          <a:p>
            <a:pPr rtl="1" algn="ctr" indent="0" marL="0">
              <a:buNone/>
            </a:pPr>
            <a:r>
              <a:rPr lang="he-IL" altLang="en-US" sz="1200" dirty="0">
                <a:solidFill>
                  <a:schemeClr val="bg1"/>
                </a:solidFill>
              </a:rPr>
              <a:t>פחות שטח מ </a:t>
            </a:r>
            <a:r>
              <a:rPr lang="en-US" altLang="en-US" sz="1200" dirty="0">
                <a:solidFill>
                  <a:schemeClr val="bg1"/>
                </a:solidFill>
              </a:rPr>
              <a:t>SRAM</a:t>
            </a:r>
            <a:r>
              <a:rPr lang="he-IL" altLang="en-US" sz="1200" dirty="0">
                <a:solidFill>
                  <a:schemeClr val="bg1"/>
                </a:solidFill>
              </a:rPr>
              <a:t>, לפי </a:t>
            </a:r>
            <a:r>
              <a:rPr lang="en-US" altLang="en-US" sz="1200" dirty="0">
                <a:solidFill>
                  <a:schemeClr val="bg1"/>
                </a:solidFill>
              </a:rPr>
              <a:t>GlobalFoundries</a:t>
            </a:r>
            <a:endParaRPr lang="he-IL" sz="1200" dirty="0"/>
          </a:p>
        </p:txBody>
      </p:sp>
      <p:sp>
        <p:nvSpPr>
          <p:cNvPr id="10" name="link card"/>
          <p:cNvSpPr/>
          <p:nvPr/>
        </p:nvSpPr>
        <p:spPr>
          <a:xfrm>
            <a:off x="457200" y="4297680"/>
            <a:ext cx="8229600" cy="2011680"/>
          </a:xfrm>
          <a:prstGeom prst="roundRect">
            <a:avLst>
              <a:gd name="adj" fmla="val 5455"/>
            </a:avLst>
          </a:prstGeom>
          <a:solidFill>
            <a:schemeClr val="bg2"/>
          </a:solidFill>
          <a:ln/>
        </p:spPr>
      </p:sp>
      <p:sp>
        <p:nvSpPr>
          <p:cNvPr id="11" name="link text"/>
          <p:cNvSpPr txBox="1"/>
          <p:nvPr/>
        </p:nvSpPr>
        <p:spPr>
          <a:xfrm>
            <a:off x="685800" y="4389120"/>
            <a:ext cx="7772400" cy="1828800"/>
          </a:xfrm>
          <a:prstGeom prst="rect">
            <a:avLst/>
          </a:prstGeom>
          <a:noFill/>
          <a:ln/>
        </p:spPr>
        <p:txBody>
          <a:bodyPr wrap="square" lIns="0" tIns="0" rIns="0" bIns="0" rtlCol="0" anchor="t"/>
          <a:lstStyle/>
          <a:p>
            <a:pPr rtl="1" algn="r" indent="0" marL="0">
              <a:spcAft>
                <a:spcPts val="500"/>
              </a:spcAft>
              <a:buNone/>
            </a:pPr>
            <a:r>
              <a:rPr lang="he-IL" altLang="en-US" sz="1500" b="1" dirty="0">
                <a:solidFill>
                  <a:schemeClr val="tx1"/>
                </a:solidFill>
              </a:rPr>
              <a:t>ומה זה קשור לשבוע 5?</a:t>
            </a:r>
            <a:endParaRPr lang="he-IL" sz="1500" dirty="0"/>
          </a:p>
          <a:p>
            <a:pPr rtl="1" algn="r" indent="0" marL="0">
              <a:spcAft>
                <a:spcPts val="500"/>
              </a:spcAft>
              <a:buNone/>
            </a:pPr>
            <a:r>
              <a:rPr lang="he-IL" altLang="en-US" sz="1400" dirty="0">
                <a:solidFill>
                  <a:schemeClr val="tx1"/>
                </a:solidFill>
              </a:rPr>
              <a:t>השבוע: תפסנים ודלגלגים. תא </a:t>
            </a:r>
            <a:r>
              <a:rPr lang="en-US" altLang="en-US" sz="1400" dirty="0">
                <a:solidFill>
                  <a:schemeClr val="tx1"/>
                </a:solidFill>
              </a:rPr>
              <a:t>SRAM</a:t>
            </a:r>
            <a:r>
              <a:rPr lang="he-IL" altLang="en-US" sz="1400" dirty="0">
                <a:solidFill>
                  <a:schemeClr val="tx1"/>
                </a:solidFill>
              </a:rPr>
              <a:t> שומר ביט בתפסן: שני מהפכים שמזינים זה את זה, כמו הנורה שנשארת דולקת. תא </a:t>
            </a:r>
            <a:r>
              <a:rPr lang="en-US" altLang="en-US" sz="1400" dirty="0">
                <a:solidFill>
                  <a:schemeClr val="tx1"/>
                </a:solidFill>
              </a:rPr>
              <a:t>GCRAM</a:t>
            </a:r>
            <a:r>
              <a:rPr lang="he-IL" altLang="en-US" sz="1400" dirty="0">
                <a:solidFill>
                  <a:schemeClr val="tx1"/>
                </a:solidFill>
              </a:rPr>
              <a:t> שומר את הביט כמטען חשמלי קטן, שדולף לאט, ולכן צריך לרענן אותו מדי פעם.</a:t>
            </a:r>
            <a:endParaRPr lang="he-IL" sz="1500" dirty="0"/>
          </a:p>
          <a:p>
            <a:pPr rtl="1" algn="r" indent="0" marL="0">
              <a:spcAft>
                <a:spcPts val="500"/>
              </a:spcAft>
              <a:buNone/>
            </a:pPr>
            <a:r>
              <a:rPr lang="he-IL" altLang="en-US" sz="1400" b="1" dirty="0">
                <a:solidFill>
                  <a:schemeClr val="tx1"/>
                </a:solidFill>
              </a:rPr>
              <a:t>שאלה: </a:t>
            </a:r>
            <a:pPr algn="r" indent="0" marL="0">
              <a:spcAft>
                <a:spcPts val="500"/>
              </a:spcAft>
              <a:buNone/>
            </a:pPr>
            <a:r>
              <a:rPr lang="he-IL" altLang="en-US" sz="1500" dirty="0">
                <a:solidFill>
                  <a:schemeClr val="tx1"/>
                </a:solidFill>
              </a:rPr>
              <a:t>למה תפסן לא צריך רענון, ומטען כן?</a:t>
            </a:r>
            <a:endParaRPr lang="he-IL" sz="1500" dirty="0"/>
          </a:p>
        </p:txBody>
      </p:sp>
      <p:sp>
        <p:nvSpPr>
          <p:cNvPr id="12" name="source">
            <a:hlinkClick r:id="rId1" tooltip=""/>
          </p:cNvPr>
          <p:cNvSpPr txBox="1"/>
          <p:nvPr/>
        </p:nvSpPr>
        <p:spPr>
          <a:xfrm>
            <a:off x="457200" y="6382512"/>
            <a:ext cx="7772400" cy="274320"/>
          </a:xfrm>
          <a:prstGeom prst="rect">
            <a:avLst/>
          </a:prstGeom>
          <a:noFill/>
          <a:ln/>
        </p:spPr>
        <p:txBody>
          <a:bodyPr wrap="square" lIns="0" tIns="0" rIns="0" bIns="0" rtlCol="0" anchor="ctr"/>
          <a:lstStyle/>
          <a:p>
            <a:pPr algn="l" indent="0" marL="0">
              <a:buNone/>
            </a:pPr>
            <a:r>
              <a:rPr lang="en-US" sz="8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https://gf.com/news-and-events/news/gf-and-raaam-memory-technologies-announce-the-joint-development-of-next-generation-gcram-technology-and-test-chip-on-fdx-platform/</a:t>
            </a:r>
            <a:endParaRPr lang="en-US" sz="8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תשובה לשאלה של שבוע 5 · </a:t>
            </a:r>
            <a:r>
              <a:rPr lang="en-US" altLang="en-US" sz="1400" dirty="0">
                <a:solidFill>
                  <a:schemeClr val="bg1"/>
                </a:solidFill>
              </a:rPr>
              <a:t>RAAAM</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he-IL" altLang="en-US" sz="3000" b="1" dirty="0">
                <a:solidFill>
                  <a:schemeClr val="accent1"/>
                </a:solidFill>
              </a:rPr>
              <a:t>השאלה מהשבוע שעבר</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5: </a:t>
            </a:r>
            <a:pPr algn="r" indent="0" marL="0">
              <a:buNone/>
            </a:pPr>
            <a:r>
              <a:rPr lang="he-IL" altLang="en-US" sz="1400" dirty="0">
                <a:solidFill>
                  <a:schemeClr val="tx1"/>
                </a:solidFill>
              </a:rPr>
              <a:t>הנורה נשארת דולקת בלי שאף אחד לוחץ. איפה נשמר ה'דולק'?</a:t>
            </a:r>
            <a:endParaRPr lang="he-IL" sz="1400" dirty="0"/>
          </a:p>
        </p:txBody>
      </p:sp>
      <p:sp>
        <p:nvSpPr>
          <p:cNvPr id="6" name="question card"/>
          <p:cNvSpPr/>
          <p:nvPr/>
        </p:nvSpPr>
        <p:spPr>
          <a:xfrm>
            <a:off x="457200" y="2011680"/>
            <a:ext cx="8229600" cy="868680"/>
          </a:xfrm>
          <a:prstGeom prst="roundRect">
            <a:avLst>
              <a:gd name="adj" fmla="val 12632"/>
            </a:avLst>
          </a:prstGeom>
          <a:solidFill>
            <a:schemeClr val="bg2"/>
          </a:solidFill>
          <a:ln/>
        </p:spPr>
      </p:sp>
      <p:sp>
        <p:nvSpPr>
          <p:cNvPr id="7" name="question"/>
          <p:cNvSpPr txBox="1"/>
          <p:nvPr/>
        </p:nvSpPr>
        <p:spPr>
          <a:xfrm>
            <a:off x="685800" y="2011680"/>
            <a:ext cx="7772400" cy="868680"/>
          </a:xfrm>
          <a:prstGeom prst="rect">
            <a:avLst/>
          </a:prstGeom>
          <a:noFill/>
          <a:ln/>
        </p:spPr>
        <p:txBody>
          <a:bodyPr wrap="square" lIns="0" tIns="0" rIns="0" bIns="0" rtlCol="0" anchor="ctr"/>
          <a:lstStyle/>
          <a:p>
            <a:pPr rtl="1" algn="r" indent="0" marL="0">
              <a:buNone/>
            </a:pPr>
            <a:r>
              <a:rPr lang="he-IL" altLang="en-US" sz="1600" b="1" dirty="0">
                <a:solidFill>
                  <a:schemeClr val="tx1"/>
                </a:solidFill>
              </a:rPr>
              <a:t>שאלה: </a:t>
            </a:r>
            <a:pPr algn="r" indent="0" marL="0">
              <a:buNone/>
            </a:pPr>
            <a:r>
              <a:rPr lang="he-IL" altLang="en-US" sz="1600" dirty="0">
                <a:solidFill>
                  <a:schemeClr val="tx1"/>
                </a:solidFill>
              </a:rPr>
              <a:t>למה תפסן לא צריך רענון, ומטען כן?</a:t>
            </a:r>
            <a:endParaRPr lang="he-IL" sz="1600" dirty="0"/>
          </a:p>
        </p:txBody>
      </p:sp>
      <p:sp>
        <p:nvSpPr>
          <p:cNvPr id="8" name="answer card"/>
          <p:cNvSpPr/>
          <p:nvPr/>
        </p:nvSpPr>
        <p:spPr>
          <a:xfrm>
            <a:off x="457200" y="3017520"/>
            <a:ext cx="8229600" cy="914400"/>
          </a:xfrm>
          <a:prstGeom prst="roundRect">
            <a:avLst>
              <a:gd name="adj" fmla="val 12000"/>
            </a:avLst>
          </a:prstGeom>
          <a:solidFill>
            <a:schemeClr val="tx2"/>
          </a:solidFill>
          <a:ln/>
        </p:spPr>
      </p:sp>
      <p:sp>
        <p:nvSpPr>
          <p:cNvPr id="9" name="answer"/>
          <p:cNvSpPr txBox="1"/>
          <p:nvPr/>
        </p:nvSpPr>
        <p:spPr>
          <a:xfrm>
            <a:off x="685800" y="3017520"/>
            <a:ext cx="7772400" cy="914400"/>
          </a:xfrm>
          <a:prstGeom prst="rect">
            <a:avLst/>
          </a:prstGeom>
          <a:noFill/>
          <a:ln/>
        </p:spPr>
        <p:txBody>
          <a:bodyPr wrap="square" lIns="0" tIns="0" rIns="0" bIns="0" rtlCol="0" anchor="ctr"/>
          <a:lstStyle/>
          <a:p>
            <a:pPr rtl="1" algn="r" indent="0" marL="0">
              <a:buNone/>
            </a:pPr>
            <a:r>
              <a:rPr lang="he-IL" altLang="en-US" sz="1700" b="1" dirty="0">
                <a:solidFill>
                  <a:schemeClr val="accent1"/>
                </a:solidFill>
              </a:rPr>
              <a:t>תשובה: </a:t>
            </a:r>
            <a:pPr algn="r" indent="0" marL="0">
              <a:buNone/>
            </a:pPr>
            <a:r>
              <a:rPr lang="he-IL" altLang="en-US" sz="1700" dirty="0">
                <a:solidFill>
                  <a:schemeClr val="accent1"/>
                </a:solidFill>
              </a:rPr>
              <a:t>בתפסן כל מהפך מחזק מחדש, כל הזמן, את הערך של השני. מטען רק דולף.</a:t>
            </a:r>
            <a:endParaRPr lang="he-IL" sz="1700" dirty="0"/>
          </a:p>
        </p:txBody>
      </p:sp>
      <p:sp>
        <p:nvSpPr>
          <p:cNvPr id="10" name="why"/>
          <p:cNvSpPr txBox="1"/>
          <p:nvPr/>
        </p:nvSpPr>
        <p:spPr>
          <a:xfrm>
            <a:off x="457200" y="4114800"/>
            <a:ext cx="8229600" cy="2286000"/>
          </a:xfrm>
          <a:prstGeom prst="rect">
            <a:avLst/>
          </a:prstGeom>
          <a:noFill/>
          <a:ln/>
        </p:spPr>
        <p:txBody>
          <a:bodyPr wrap="square" lIns="0" tIns="0" rIns="0" bIns="0" rtlCol="0" anchor="t"/>
          <a:lstStyle/>
          <a:p>
            <a:pPr rtl="1" algn="r" indent="0" marL="0">
              <a:spcAft>
                <a:spcPts val="500"/>
              </a:spcAft>
              <a:buNone/>
            </a:pPr>
            <a:r>
              <a:rPr lang="he-IL" altLang="en-US" sz="1700" b="1" dirty="0">
                <a:solidFill>
                  <a:schemeClr val="tx1"/>
                </a:solidFill>
              </a:rPr>
              <a:t>למה?</a:t>
            </a:r>
            <a:endParaRPr lang="he-IL" sz="1700" dirty="0"/>
          </a:p>
          <a:p>
            <a:pPr rtl="1" algn="r" indent="0" marL="0">
              <a:spcAft>
                <a:spcPts val="500"/>
              </a:spcAft>
              <a:buNone/>
            </a:pPr>
            <a:r>
              <a:rPr lang="he-IL" altLang="en-US" sz="1600" dirty="0">
                <a:solidFill>
                  <a:schemeClr val="tx1"/>
                </a:solidFill>
              </a:rPr>
              <a:t>בתפסן שני מהפכים מחוברים במעגל: 1 ביציאה של האחד מכריח 0 אצל השני, וה 0 מכריח 1 אצל הראשון. כל עוד יש חשמל הם משחזרים את הערך בעצמם, וזו התשובה לחידה: ה'דולק' נשמר בלולאת המשוב. בתא מטען אין משוב, המטען דולף, ולכן צריך לקרוא אותו ולכתוב אותו מחדש מדי פעם. המחיר של התפסן: יותר טרנזיסטורים לכל ביט.</a:t>
            </a:r>
            <a:endParaRPr lang="he-IL" sz="17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שבוע 6 · מכונות מצבים ובקר הרמזור</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en-US" altLang="en-US" sz="3000" b="1" dirty="0">
                <a:solidFill>
                  <a:schemeClr val="accent1"/>
                </a:solidFill>
              </a:rPr>
              <a:t>GoChess</a:t>
            </a:r>
            <a:r>
              <a:rPr lang="he-IL" altLang="en-US" sz="3000" b="1" dirty="0">
                <a:solidFill>
                  <a:schemeClr val="accent1"/>
                </a:solidFill>
              </a:rPr>
              <a:t>: לוח שזוכר את כל המשחק</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6: </a:t>
            </a:r>
            <a:pPr algn="r" indent="0" marL="0">
              <a:buNone/>
            </a:pPr>
            <a:r>
              <a:rPr lang="he-IL" altLang="en-US" sz="1400" dirty="0">
                <a:solidFill>
                  <a:schemeClr val="tx1"/>
                </a:solidFill>
              </a:rPr>
              <a:t>המחסום יודע ששילמת. איך הוא זוכר מה קרה?</a:t>
            </a:r>
            <a:endParaRPr lang="he-IL" sz="1400" dirty="0"/>
          </a:p>
        </p:txBody>
      </p:sp>
      <p:sp>
        <p:nvSpPr>
          <p:cNvPr id="6" name="what happened"/>
          <p:cNvSpPr txBox="1"/>
          <p:nvPr/>
        </p:nvSpPr>
        <p:spPr>
          <a:xfrm>
            <a:off x="3200400" y="2011680"/>
            <a:ext cx="5486400" cy="2148840"/>
          </a:xfrm>
          <a:prstGeom prst="rect">
            <a:avLst/>
          </a:prstGeom>
          <a:noFill/>
          <a:ln/>
        </p:spPr>
        <p:txBody>
          <a:bodyPr wrap="square" lIns="0" tIns="0" rIns="0" bIns="0" rtlCol="0" anchor="t"/>
          <a:lstStyle/>
          <a:p>
            <a:pPr rtl="1" algn="r" indent="0" marL="0">
              <a:spcAft>
                <a:spcPts val="400"/>
              </a:spcAft>
              <a:buNone/>
            </a:pPr>
            <a:r>
              <a:rPr lang="he-IL" altLang="en-US" sz="1700" b="1" dirty="0">
                <a:solidFill>
                  <a:schemeClr val="tx1"/>
                </a:solidFill>
              </a:rPr>
              <a:t>מה קרה?</a:t>
            </a:r>
            <a:endParaRPr lang="he-IL" sz="1700" dirty="0"/>
          </a:p>
          <a:p>
            <a:pPr rtl="1" algn="r" indent="0" marL="0">
              <a:spcAft>
                <a:spcPts val="400"/>
              </a:spcAft>
              <a:buNone/>
            </a:pPr>
            <a:r>
              <a:rPr lang="en-US" altLang="en-US" sz="1400" dirty="0">
                <a:solidFill>
                  <a:schemeClr val="tx1"/>
                </a:solidFill>
              </a:rPr>
              <a:t>Particula</a:t>
            </a:r>
            <a:r>
              <a:rPr lang="he-IL" altLang="en-US" sz="1400" dirty="0">
                <a:solidFill>
                  <a:schemeClr val="tx1"/>
                </a:solidFill>
              </a:rPr>
              <a:t> הישראלית גייסה 15 מיליון דולר בספטמבר 2026. הלוח שלה, </a:t>
            </a:r>
            <a:r>
              <a:rPr lang="en-US" altLang="en-US" sz="1400" dirty="0">
                <a:solidFill>
                  <a:schemeClr val="tx1"/>
                </a:solidFill>
              </a:rPr>
              <a:t>GoChess</a:t>
            </a:r>
            <a:r>
              <a:rPr lang="he-IL" altLang="en-US" sz="1400" dirty="0">
                <a:solidFill>
                  <a:schemeClr val="tx1"/>
                </a:solidFill>
              </a:rPr>
              <a:t>, מזהה בחיישנים מגנטיים אם יש כלי על כל משבצת, ומדליק נורות שמראות מהלכים. החיישנים לא יודעים איזה כלי עומד שם: הלוח יודע את העמדה רק כי המשחק מתחיל מהעמדה הרגילה, והוא עוקב אחרי כל מהלך מאז.</a:t>
            </a:r>
            <a:endParaRPr lang="he-IL" sz="1700" dirty="0"/>
          </a:p>
        </p:txBody>
      </p:sp>
      <p:sp>
        <p:nvSpPr>
          <p:cNvPr id="7" name="stat card"/>
          <p:cNvSpPr/>
          <p:nvPr/>
        </p:nvSpPr>
        <p:spPr>
          <a:xfrm>
            <a:off x="457200" y="2057400"/>
            <a:ext cx="2514600" cy="2057400"/>
          </a:xfrm>
          <a:prstGeom prst="roundRect">
            <a:avLst>
              <a:gd name="adj" fmla="val 5333"/>
            </a:avLst>
          </a:prstGeom>
          <a:solidFill>
            <a:schemeClr val="tx2"/>
          </a:solidFill>
          <a:ln/>
        </p:spPr>
      </p:sp>
      <p:sp>
        <p:nvSpPr>
          <p:cNvPr id="8" name="stat"/>
          <p:cNvSpPr txBox="1"/>
          <p:nvPr/>
        </p:nvSpPr>
        <p:spPr>
          <a:xfrm>
            <a:off x="548640" y="2148840"/>
            <a:ext cx="2331720" cy="1051560"/>
          </a:xfrm>
          <a:prstGeom prst="rect">
            <a:avLst/>
          </a:prstGeom>
          <a:noFill/>
          <a:ln/>
        </p:spPr>
        <p:txBody>
          <a:bodyPr wrap="square" rtlCol="0" anchor="ctr"/>
          <a:lstStyle/>
          <a:p>
            <a:pPr algn="ctr" indent="0" marL="0">
              <a:buNone/>
            </a:pPr>
            <a:r>
              <a:rPr lang="en-US" sz="4000" b="1" dirty="0">
                <a:solidFill>
                  <a:schemeClr val="accent1"/>
                </a:solidFill>
              </a:rPr>
              <a:t>$15M</a:t>
            </a:r>
            <a:endParaRPr lang="en-US" sz="4000" dirty="0"/>
          </a:p>
        </p:txBody>
      </p:sp>
      <p:sp>
        <p:nvSpPr>
          <p:cNvPr id="9" name="stat label"/>
          <p:cNvSpPr txBox="1"/>
          <p:nvPr/>
        </p:nvSpPr>
        <p:spPr>
          <a:xfrm>
            <a:off x="594360" y="3200400"/>
            <a:ext cx="2240280" cy="822960"/>
          </a:xfrm>
          <a:prstGeom prst="rect">
            <a:avLst/>
          </a:prstGeom>
          <a:noFill/>
          <a:ln/>
        </p:spPr>
        <p:txBody>
          <a:bodyPr wrap="square" rtlCol="0" anchor="t"/>
          <a:lstStyle/>
          <a:p>
            <a:pPr rtl="1" algn="ctr" indent="0" marL="0">
              <a:buNone/>
            </a:pPr>
            <a:r>
              <a:rPr lang="he-IL" altLang="en-US" sz="1200" dirty="0">
                <a:solidFill>
                  <a:schemeClr val="bg1"/>
                </a:solidFill>
              </a:rPr>
              <a:t>גיוס, ספטמבר 2026</a:t>
            </a:r>
            <a:endParaRPr lang="he-IL" sz="1200" dirty="0"/>
          </a:p>
        </p:txBody>
      </p:sp>
      <p:sp>
        <p:nvSpPr>
          <p:cNvPr id="10" name="link card"/>
          <p:cNvSpPr/>
          <p:nvPr/>
        </p:nvSpPr>
        <p:spPr>
          <a:xfrm>
            <a:off x="457200" y="4297680"/>
            <a:ext cx="8229600" cy="2011680"/>
          </a:xfrm>
          <a:prstGeom prst="roundRect">
            <a:avLst>
              <a:gd name="adj" fmla="val 5455"/>
            </a:avLst>
          </a:prstGeom>
          <a:solidFill>
            <a:schemeClr val="bg2"/>
          </a:solidFill>
          <a:ln/>
        </p:spPr>
      </p:sp>
      <p:sp>
        <p:nvSpPr>
          <p:cNvPr id="11" name="link text"/>
          <p:cNvSpPr txBox="1"/>
          <p:nvPr/>
        </p:nvSpPr>
        <p:spPr>
          <a:xfrm>
            <a:off x="685800" y="4389120"/>
            <a:ext cx="7772400" cy="1828800"/>
          </a:xfrm>
          <a:prstGeom prst="rect">
            <a:avLst/>
          </a:prstGeom>
          <a:noFill/>
          <a:ln/>
        </p:spPr>
        <p:txBody>
          <a:bodyPr wrap="square" lIns="0" tIns="0" rIns="0" bIns="0" rtlCol="0" anchor="t"/>
          <a:lstStyle/>
          <a:p>
            <a:pPr rtl="1" algn="r" indent="0" marL="0">
              <a:spcAft>
                <a:spcPts val="500"/>
              </a:spcAft>
              <a:buNone/>
            </a:pPr>
            <a:r>
              <a:rPr lang="he-IL" altLang="en-US" sz="1500" b="1" dirty="0">
                <a:solidFill>
                  <a:schemeClr val="tx1"/>
                </a:solidFill>
              </a:rPr>
              <a:t>ומה זה קשור לשבוע 6?</a:t>
            </a:r>
            <a:endParaRPr lang="he-IL" sz="1500" dirty="0"/>
          </a:p>
          <a:p>
            <a:pPr rtl="1" algn="r" indent="0" marL="0">
              <a:spcAft>
                <a:spcPts val="500"/>
              </a:spcAft>
              <a:buNone/>
            </a:pPr>
            <a:r>
              <a:rPr lang="he-IL" altLang="en-US" sz="1400" dirty="0">
                <a:solidFill>
                  <a:schemeClr val="tx1"/>
                </a:solidFill>
              </a:rPr>
              <a:t>השבוע: מכונות מצבים. המצב הוא הזיכרון של מה שקרה עד עכשיו. החיישנים של הלוח רואים רק 'יש כלי' או 'אין כלי', כמו שהחיישן של המחסום רואה רק מכונית. שניהם יודעים יותר, כי הם זוכרים.</a:t>
            </a:r>
            <a:endParaRPr lang="he-IL" sz="1500" dirty="0"/>
          </a:p>
          <a:p>
            <a:pPr rtl="1" algn="r" indent="0" marL="0">
              <a:spcAft>
                <a:spcPts val="500"/>
              </a:spcAft>
              <a:buNone/>
            </a:pPr>
            <a:r>
              <a:rPr lang="he-IL" altLang="en-US" sz="1400" b="1" dirty="0">
                <a:solidFill>
                  <a:schemeClr val="tx1"/>
                </a:solidFill>
              </a:rPr>
              <a:t>שאלה: </a:t>
            </a:r>
            <a:pPr algn="r" indent="0" marL="0">
              <a:spcAft>
                <a:spcPts val="500"/>
              </a:spcAft>
              <a:buNone/>
            </a:pPr>
            <a:r>
              <a:rPr lang="he-IL" altLang="en-US" sz="1500" dirty="0">
                <a:solidFill>
                  <a:schemeClr val="tx1"/>
                </a:solidFill>
              </a:rPr>
              <a:t>כלי זז ממשבצת אחת לאחרת. החיישנים רואים רק שמשבצת אחת התרוקנה ואחרת התמלאה. מה עוד הלוח צריך כדי לדעת איזה כלי זז?</a:t>
            </a:r>
            <a:endParaRPr lang="he-IL" sz="1500" dirty="0"/>
          </a:p>
        </p:txBody>
      </p:sp>
      <p:sp>
        <p:nvSpPr>
          <p:cNvPr id="12" name="source">
            <a:hlinkClick r:id="rId1" tooltip=""/>
          </p:cNvPr>
          <p:cNvSpPr txBox="1"/>
          <p:nvPr/>
        </p:nvSpPr>
        <p:spPr>
          <a:xfrm>
            <a:off x="457200" y="6382512"/>
            <a:ext cx="7772400" cy="274320"/>
          </a:xfrm>
          <a:prstGeom prst="rect">
            <a:avLst/>
          </a:prstGeom>
          <a:noFill/>
          <a:ln/>
        </p:spPr>
        <p:txBody>
          <a:bodyPr wrap="square" lIns="0" tIns="0" rIns="0" bIns="0" rtlCol="0" anchor="ctr"/>
          <a:lstStyle/>
          <a:p>
            <a:pPr algn="l" indent="0" marL="0">
              <a:buNone/>
            </a:pPr>
            <a:r>
              <a:rPr lang="en-US" sz="8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https://support.particula-tech.com/hc/en-us/articles/16135035627164-How-does-the-GoChess-board-know-if-it-s-arranged-correctly</a:t>
            </a:r>
            <a:endParaRPr lang="en-US" sz="8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תשובה לשאלה של שבוע 6 · </a:t>
            </a:r>
            <a:r>
              <a:rPr lang="en-US" altLang="en-US" sz="1400" dirty="0">
                <a:solidFill>
                  <a:schemeClr val="bg1"/>
                </a:solidFill>
              </a:rPr>
              <a:t>Particula</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he-IL" altLang="en-US" sz="3000" b="1" dirty="0">
                <a:solidFill>
                  <a:schemeClr val="accent1"/>
                </a:solidFill>
              </a:rPr>
              <a:t>השאלה מהשבוע שעבר</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6: </a:t>
            </a:r>
            <a:pPr algn="r" indent="0" marL="0">
              <a:buNone/>
            </a:pPr>
            <a:r>
              <a:rPr lang="he-IL" altLang="en-US" sz="1400" dirty="0">
                <a:solidFill>
                  <a:schemeClr val="tx1"/>
                </a:solidFill>
              </a:rPr>
              <a:t>המחסום יודע ששילמת. איך הוא זוכר מה קרה?</a:t>
            </a:r>
            <a:endParaRPr lang="he-IL" sz="1400" dirty="0"/>
          </a:p>
        </p:txBody>
      </p:sp>
      <p:sp>
        <p:nvSpPr>
          <p:cNvPr id="6" name="question card"/>
          <p:cNvSpPr/>
          <p:nvPr/>
        </p:nvSpPr>
        <p:spPr>
          <a:xfrm>
            <a:off x="457200" y="2011680"/>
            <a:ext cx="8229600" cy="868680"/>
          </a:xfrm>
          <a:prstGeom prst="roundRect">
            <a:avLst>
              <a:gd name="adj" fmla="val 12632"/>
            </a:avLst>
          </a:prstGeom>
          <a:solidFill>
            <a:schemeClr val="bg2"/>
          </a:solidFill>
          <a:ln/>
        </p:spPr>
      </p:sp>
      <p:sp>
        <p:nvSpPr>
          <p:cNvPr id="7" name="question"/>
          <p:cNvSpPr txBox="1"/>
          <p:nvPr/>
        </p:nvSpPr>
        <p:spPr>
          <a:xfrm>
            <a:off x="685800" y="2011680"/>
            <a:ext cx="7772400" cy="868680"/>
          </a:xfrm>
          <a:prstGeom prst="rect">
            <a:avLst/>
          </a:prstGeom>
          <a:noFill/>
          <a:ln/>
        </p:spPr>
        <p:txBody>
          <a:bodyPr wrap="square" lIns="0" tIns="0" rIns="0" bIns="0" rtlCol="0" anchor="ctr"/>
          <a:lstStyle/>
          <a:p>
            <a:pPr rtl="1" algn="r" indent="0" marL="0">
              <a:buNone/>
            </a:pPr>
            <a:r>
              <a:rPr lang="he-IL" altLang="en-US" sz="1600" b="1" dirty="0">
                <a:solidFill>
                  <a:schemeClr val="tx1"/>
                </a:solidFill>
              </a:rPr>
              <a:t>שאלה: </a:t>
            </a:r>
            <a:pPr algn="r" indent="0" marL="0">
              <a:buNone/>
            </a:pPr>
            <a:r>
              <a:rPr lang="he-IL" altLang="en-US" sz="1600" dirty="0">
                <a:solidFill>
                  <a:schemeClr val="tx1"/>
                </a:solidFill>
              </a:rPr>
              <a:t>כלי זז ממשבצת אחת לאחרת. החיישנים רואים רק שמשבצת אחת התרוקנה ואחרת התמלאה. מה עוד הלוח צריך כדי לדעת איזה כלי זז?</a:t>
            </a:r>
            <a:endParaRPr lang="he-IL" sz="1600" dirty="0"/>
          </a:p>
        </p:txBody>
      </p:sp>
      <p:sp>
        <p:nvSpPr>
          <p:cNvPr id="8" name="answer card"/>
          <p:cNvSpPr/>
          <p:nvPr/>
        </p:nvSpPr>
        <p:spPr>
          <a:xfrm>
            <a:off x="457200" y="3017520"/>
            <a:ext cx="8229600" cy="914400"/>
          </a:xfrm>
          <a:prstGeom prst="roundRect">
            <a:avLst>
              <a:gd name="adj" fmla="val 12000"/>
            </a:avLst>
          </a:prstGeom>
          <a:solidFill>
            <a:schemeClr val="tx2"/>
          </a:solidFill>
          <a:ln/>
        </p:spPr>
      </p:sp>
      <p:sp>
        <p:nvSpPr>
          <p:cNvPr id="9" name="answer"/>
          <p:cNvSpPr txBox="1"/>
          <p:nvPr/>
        </p:nvSpPr>
        <p:spPr>
          <a:xfrm>
            <a:off x="685800" y="3017520"/>
            <a:ext cx="7772400" cy="914400"/>
          </a:xfrm>
          <a:prstGeom prst="rect">
            <a:avLst/>
          </a:prstGeom>
          <a:noFill/>
          <a:ln/>
        </p:spPr>
        <p:txBody>
          <a:bodyPr wrap="square" lIns="0" tIns="0" rIns="0" bIns="0" rtlCol="0" anchor="ctr"/>
          <a:lstStyle/>
          <a:p>
            <a:pPr rtl="1" algn="r" indent="0" marL="0">
              <a:buNone/>
            </a:pPr>
            <a:r>
              <a:rPr lang="he-IL" altLang="en-US" sz="1700" b="1" dirty="0">
                <a:solidFill>
                  <a:schemeClr val="accent1"/>
                </a:solidFill>
              </a:rPr>
              <a:t>תשובה: </a:t>
            </a:r>
            <a:pPr algn="r" indent="0" marL="0">
              <a:buNone/>
            </a:pPr>
            <a:r>
              <a:rPr lang="he-IL" altLang="en-US" sz="1700" dirty="0">
                <a:solidFill>
                  <a:schemeClr val="accent1"/>
                </a:solidFill>
              </a:rPr>
              <a:t>את המצב הקודם: איזה כלי עמד במשבצת שהתרוקנה.</a:t>
            </a:r>
            <a:endParaRPr lang="he-IL" sz="1700" dirty="0"/>
          </a:p>
        </p:txBody>
      </p:sp>
      <p:sp>
        <p:nvSpPr>
          <p:cNvPr id="10" name="why"/>
          <p:cNvSpPr txBox="1"/>
          <p:nvPr/>
        </p:nvSpPr>
        <p:spPr>
          <a:xfrm>
            <a:off x="457200" y="4114800"/>
            <a:ext cx="8229600" cy="2286000"/>
          </a:xfrm>
          <a:prstGeom prst="rect">
            <a:avLst/>
          </a:prstGeom>
          <a:noFill/>
          <a:ln/>
        </p:spPr>
        <p:txBody>
          <a:bodyPr wrap="square" lIns="0" tIns="0" rIns="0" bIns="0" rtlCol="0" anchor="t"/>
          <a:lstStyle/>
          <a:p>
            <a:pPr rtl="1" algn="r" indent="0" marL="0">
              <a:spcAft>
                <a:spcPts val="500"/>
              </a:spcAft>
              <a:buNone/>
            </a:pPr>
            <a:r>
              <a:rPr lang="he-IL" altLang="en-US" sz="1700" b="1" dirty="0">
                <a:solidFill>
                  <a:schemeClr val="tx1"/>
                </a:solidFill>
              </a:rPr>
              <a:t>למה?</a:t>
            </a:r>
            <a:endParaRPr lang="he-IL" sz="1700" dirty="0"/>
          </a:p>
          <a:p>
            <a:pPr rtl="1" algn="r" indent="0" marL="0">
              <a:spcAft>
                <a:spcPts val="500"/>
              </a:spcAft>
              <a:buNone/>
            </a:pPr>
            <a:r>
              <a:rPr lang="he-IL" altLang="en-US" sz="1600" dirty="0">
                <a:solidFill>
                  <a:schemeClr val="tx1"/>
                </a:solidFill>
              </a:rPr>
              <a:t>זו מכונת מצבים: המצב הבא הוא פונקציה של המצב הנוכחי ושל הכניסה. הכניסה לבדה (יש כלי, אין כלי) לא מספיקה, צריך את הזיכרון של כל מה שקרה מההתחלה. לכן הלוח חייב להתחיל מעמדה ידועה, כמו שמכונת מצבים מתחילה ממצב </a:t>
            </a:r>
            <a:r>
              <a:rPr lang="en-US" altLang="en-US" sz="1600" dirty="0">
                <a:solidFill>
                  <a:schemeClr val="tx1"/>
                </a:solidFill>
              </a:rPr>
              <a:t>reset</a:t>
            </a:r>
            <a:r>
              <a:rPr lang="he-IL" altLang="en-US" sz="1600" dirty="0">
                <a:solidFill>
                  <a:schemeClr val="tx1"/>
                </a:solidFill>
              </a:rPr>
              <a:t>. וכך המחסום: החיישן רואה רק מכונית, והמצב 'שולם' זוכר את התשלום.</a:t>
            </a:r>
            <a:endParaRPr lang="he-IL" sz="17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שבוע 7 · מור ומילי, תכנון מכונות מצבים</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en-US" altLang="en-US" sz="3000" b="1" dirty="0">
                <a:solidFill>
                  <a:schemeClr val="accent1"/>
                </a:solidFill>
              </a:rPr>
              <a:t>Quantum Source</a:t>
            </a:r>
            <a:r>
              <a:rPr lang="he-IL" altLang="en-US" sz="3000" b="1" dirty="0">
                <a:solidFill>
                  <a:schemeClr val="accent1"/>
                </a:solidFill>
              </a:rPr>
              <a:t>: לזכור את הראשון, לחכות לשני</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7: </a:t>
            </a:r>
            <a:pPr algn="r" indent="0" marL="0">
              <a:buNone/>
            </a:pPr>
            <a:r>
              <a:rPr lang="he-IL" altLang="en-US" sz="1400" dirty="0">
                <a:solidFill>
                  <a:schemeClr val="tx1"/>
                </a:solidFill>
              </a:rPr>
              <a:t>אותו כפתור, שתי נורות: אחת מיד, אחת מחכה ולפעמים מפספסת. למה?</a:t>
            </a:r>
            <a:endParaRPr lang="he-IL" sz="1400" dirty="0"/>
          </a:p>
        </p:txBody>
      </p:sp>
      <p:sp>
        <p:nvSpPr>
          <p:cNvPr id="6" name="what happened"/>
          <p:cNvSpPr txBox="1"/>
          <p:nvPr/>
        </p:nvSpPr>
        <p:spPr>
          <a:xfrm>
            <a:off x="3200400" y="2011680"/>
            <a:ext cx="5486400" cy="2148840"/>
          </a:xfrm>
          <a:prstGeom prst="rect">
            <a:avLst/>
          </a:prstGeom>
          <a:noFill/>
          <a:ln/>
        </p:spPr>
        <p:txBody>
          <a:bodyPr wrap="square" lIns="0" tIns="0" rIns="0" bIns="0" rtlCol="0" anchor="t"/>
          <a:lstStyle/>
          <a:p>
            <a:pPr rtl="1" algn="r" indent="0" marL="0">
              <a:spcAft>
                <a:spcPts val="400"/>
              </a:spcAft>
              <a:buNone/>
            </a:pPr>
            <a:r>
              <a:rPr lang="he-IL" altLang="en-US" sz="1700" b="1" dirty="0">
                <a:solidFill>
                  <a:schemeClr val="tx1"/>
                </a:solidFill>
              </a:rPr>
              <a:t>מה קרה?</a:t>
            </a:r>
            <a:endParaRPr lang="he-IL" sz="1700" dirty="0"/>
          </a:p>
          <a:p>
            <a:pPr rtl="1" algn="r" indent="0" marL="0">
              <a:spcAft>
                <a:spcPts val="400"/>
              </a:spcAft>
              <a:buNone/>
            </a:pPr>
            <a:r>
              <a:rPr lang="en-US" altLang="en-US" sz="1400" dirty="0">
                <a:solidFill>
                  <a:schemeClr val="tx1"/>
                </a:solidFill>
              </a:rPr>
              <a:t>Quantum Source</a:t>
            </a:r>
            <a:r>
              <a:rPr lang="he-IL" altLang="en-US" sz="1400" dirty="0">
                <a:solidFill>
                  <a:schemeClr val="tx1"/>
                </a:solidFill>
              </a:rPr>
              <a:t> מרחובות הציגה באוקטובר 2026 את </a:t>
            </a:r>
            <a:r>
              <a:rPr lang="en-US" altLang="en-US" sz="1400" dirty="0">
                <a:solidFill>
                  <a:schemeClr val="tx1"/>
                </a:solidFill>
              </a:rPr>
              <a:t>QS-LINK</a:t>
            </a:r>
            <a:r>
              <a:rPr lang="he-IL" altLang="en-US" sz="1400" dirty="0">
                <a:solidFill>
                  <a:schemeClr val="tx1"/>
                </a:solidFill>
              </a:rPr>
              <a:t>, חיבור בין מחשבים קוונטיים. כל ניסיון לשלוח פוטון מצליח בערך פעם אחת מתוך 100, ולכן שני פוטונים שמגיעים יחד מצליחים בערך פעם אחת מתוך 10,000. </a:t>
            </a:r>
            <a:r>
              <a:rPr lang="en-US" altLang="en-US" sz="1400" dirty="0">
                <a:solidFill>
                  <a:schemeClr val="tx1"/>
                </a:solidFill>
              </a:rPr>
              <a:t>QS-LINK</a:t>
            </a:r>
            <a:r>
              <a:rPr lang="he-IL" altLang="en-US" sz="1400" dirty="0">
                <a:solidFill>
                  <a:schemeClr val="tx1"/>
                </a:solidFill>
              </a:rPr>
              <a:t> שומר את הראשון בזיכרון של אטום ומחכה לשני.</a:t>
            </a:r>
            <a:endParaRPr lang="he-IL" sz="1700" dirty="0"/>
          </a:p>
        </p:txBody>
      </p:sp>
      <p:sp>
        <p:nvSpPr>
          <p:cNvPr id="7" name="stat card"/>
          <p:cNvSpPr/>
          <p:nvPr/>
        </p:nvSpPr>
        <p:spPr>
          <a:xfrm>
            <a:off x="457200" y="2057400"/>
            <a:ext cx="2514600" cy="2057400"/>
          </a:xfrm>
          <a:prstGeom prst="roundRect">
            <a:avLst>
              <a:gd name="adj" fmla="val 5333"/>
            </a:avLst>
          </a:prstGeom>
          <a:solidFill>
            <a:schemeClr val="tx2"/>
          </a:solidFill>
          <a:ln/>
        </p:spPr>
      </p:sp>
      <p:sp>
        <p:nvSpPr>
          <p:cNvPr id="8" name="stat"/>
          <p:cNvSpPr txBox="1"/>
          <p:nvPr/>
        </p:nvSpPr>
        <p:spPr>
          <a:xfrm>
            <a:off x="548640" y="2148840"/>
            <a:ext cx="2331720" cy="1051560"/>
          </a:xfrm>
          <a:prstGeom prst="rect">
            <a:avLst/>
          </a:prstGeom>
          <a:noFill/>
          <a:ln/>
        </p:spPr>
        <p:txBody>
          <a:bodyPr wrap="square" rtlCol="0" anchor="ctr"/>
          <a:lstStyle/>
          <a:p>
            <a:pPr rtl="1" algn="ctr" indent="0" marL="0">
              <a:buNone/>
            </a:pPr>
            <a:r>
              <a:rPr lang="en-US" sz="4000" b="1" dirty="0">
                <a:solidFill>
                  <a:schemeClr val="accent1"/>
                </a:solidFill>
              </a:rPr>
              <a:t>פי 60</a:t>
            </a:r>
            <a:endParaRPr lang="en-US" sz="4000" dirty="0"/>
          </a:p>
        </p:txBody>
      </p:sp>
      <p:sp>
        <p:nvSpPr>
          <p:cNvPr id="9" name="stat label"/>
          <p:cNvSpPr txBox="1"/>
          <p:nvPr/>
        </p:nvSpPr>
        <p:spPr>
          <a:xfrm>
            <a:off x="594360" y="3200400"/>
            <a:ext cx="2240280" cy="822960"/>
          </a:xfrm>
          <a:prstGeom prst="rect">
            <a:avLst/>
          </a:prstGeom>
          <a:noFill/>
          <a:ln/>
        </p:spPr>
        <p:txBody>
          <a:bodyPr wrap="square" rtlCol="0" anchor="t"/>
          <a:lstStyle/>
          <a:p>
            <a:pPr rtl="1" algn="ctr" indent="0" marL="0">
              <a:buNone/>
            </a:pPr>
            <a:r>
              <a:rPr lang="he-IL" altLang="en-US" sz="1200" dirty="0">
                <a:solidFill>
                  <a:schemeClr val="bg1"/>
                </a:solidFill>
              </a:rPr>
              <a:t>פחות ניסיונות, לפי סימולציות של החברה</a:t>
            </a:r>
            <a:endParaRPr lang="he-IL" sz="1200" dirty="0"/>
          </a:p>
        </p:txBody>
      </p:sp>
      <p:sp>
        <p:nvSpPr>
          <p:cNvPr id="10" name="link card"/>
          <p:cNvSpPr/>
          <p:nvPr/>
        </p:nvSpPr>
        <p:spPr>
          <a:xfrm>
            <a:off x="457200" y="4297680"/>
            <a:ext cx="8229600" cy="2011680"/>
          </a:xfrm>
          <a:prstGeom prst="roundRect">
            <a:avLst>
              <a:gd name="adj" fmla="val 5455"/>
            </a:avLst>
          </a:prstGeom>
          <a:solidFill>
            <a:schemeClr val="bg2"/>
          </a:solidFill>
          <a:ln/>
        </p:spPr>
      </p:sp>
      <p:sp>
        <p:nvSpPr>
          <p:cNvPr id="11" name="link text"/>
          <p:cNvSpPr txBox="1"/>
          <p:nvPr/>
        </p:nvSpPr>
        <p:spPr>
          <a:xfrm>
            <a:off x="685800" y="4389120"/>
            <a:ext cx="7772400" cy="1828800"/>
          </a:xfrm>
          <a:prstGeom prst="rect">
            <a:avLst/>
          </a:prstGeom>
          <a:noFill/>
          <a:ln/>
        </p:spPr>
        <p:txBody>
          <a:bodyPr wrap="square" lIns="0" tIns="0" rIns="0" bIns="0" rtlCol="0" anchor="t"/>
          <a:lstStyle/>
          <a:p>
            <a:pPr rtl="1" algn="r" indent="0" marL="0">
              <a:spcAft>
                <a:spcPts val="500"/>
              </a:spcAft>
              <a:buNone/>
            </a:pPr>
            <a:r>
              <a:rPr lang="he-IL" altLang="en-US" sz="1500" b="1" dirty="0">
                <a:solidFill>
                  <a:schemeClr val="tx1"/>
                </a:solidFill>
              </a:rPr>
              <a:t>ומה זה קשור לשבוע 7?</a:t>
            </a:r>
            <a:endParaRPr lang="he-IL" sz="1500" dirty="0"/>
          </a:p>
          <a:p>
            <a:pPr rtl="1" algn="r" indent="0" marL="0">
              <a:spcAft>
                <a:spcPts val="500"/>
              </a:spcAft>
              <a:buNone/>
            </a:pPr>
            <a:r>
              <a:rPr lang="he-IL" altLang="en-US" sz="1400" dirty="0">
                <a:solidFill>
                  <a:schemeClr val="tx1"/>
                </a:solidFill>
              </a:rPr>
              <a:t>השבוע: מור ומילי. אירוע שצריך לקרות בדיוק יחד עם אירוע אחר כמעט תמיד מתפספס. מכונה שזוכרת שהראשון כבר קרה יכולה לחכות לשני. כך גם הנורה שמחכה לשעון: היא מפספסת לחיצה קצרה שלא נפלה על עליית שעון.</a:t>
            </a:r>
            <a:endParaRPr lang="he-IL" sz="1500" dirty="0"/>
          </a:p>
          <a:p>
            <a:pPr rtl="1" algn="r" indent="0" marL="0">
              <a:spcAft>
                <a:spcPts val="500"/>
              </a:spcAft>
              <a:buNone/>
            </a:pPr>
            <a:r>
              <a:rPr lang="he-IL" altLang="en-US" sz="1400" b="1" dirty="0">
                <a:solidFill>
                  <a:schemeClr val="tx1"/>
                </a:solidFill>
              </a:rPr>
              <a:t>שאלה: </a:t>
            </a:r>
            <a:pPr algn="r" indent="0" marL="0">
              <a:spcAft>
                <a:spcPts val="500"/>
              </a:spcAft>
              <a:buNone/>
            </a:pPr>
            <a:r>
              <a:rPr lang="he-IL" altLang="en-US" sz="1500" dirty="0">
                <a:solidFill>
                  <a:schemeClr val="tx1"/>
                </a:solidFill>
              </a:rPr>
              <a:t>איך נוודא שהנורה שמחכה לשעון לא תפספס לחיצה קצרה?</a:t>
            </a:r>
            <a:endParaRPr lang="he-IL" sz="1500" dirty="0"/>
          </a:p>
        </p:txBody>
      </p:sp>
      <p:sp>
        <p:nvSpPr>
          <p:cNvPr id="12" name="source">
            <a:hlinkClick r:id="rId1" tooltip=""/>
          </p:cNvPr>
          <p:cNvSpPr txBox="1"/>
          <p:nvPr/>
        </p:nvSpPr>
        <p:spPr>
          <a:xfrm>
            <a:off x="457200" y="6382512"/>
            <a:ext cx="7772400" cy="274320"/>
          </a:xfrm>
          <a:prstGeom prst="rect">
            <a:avLst/>
          </a:prstGeom>
          <a:noFill/>
          <a:ln/>
        </p:spPr>
        <p:txBody>
          <a:bodyPr wrap="square" lIns="0" tIns="0" rIns="0" bIns="0" rtlCol="0" anchor="ctr"/>
          <a:lstStyle/>
          <a:p>
            <a:pPr algn="l" indent="0" marL="0">
              <a:buNone/>
            </a:pPr>
            <a:r>
              <a:rPr lang="en-US" sz="8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https://quantumcomputingreport.com/quantum-source-introduces-memory-assisted-photonic-interconnect-to-unify-multi-modal-quantum-computing/</a:t>
            </a:r>
            <a:endParaRPr lang="en-US" sz="8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תשובה לשאלה של שבוע 7 · </a:t>
            </a:r>
            <a:r>
              <a:rPr lang="en-US" altLang="en-US" sz="1400" dirty="0">
                <a:solidFill>
                  <a:schemeClr val="bg1"/>
                </a:solidFill>
              </a:rPr>
              <a:t>Quantum Source</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he-IL" altLang="en-US" sz="3000" b="1" dirty="0">
                <a:solidFill>
                  <a:schemeClr val="accent1"/>
                </a:solidFill>
              </a:rPr>
              <a:t>השאלה מהשבוע שעבר</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7: </a:t>
            </a:r>
            <a:pPr algn="r" indent="0" marL="0">
              <a:buNone/>
            </a:pPr>
            <a:r>
              <a:rPr lang="he-IL" altLang="en-US" sz="1400" dirty="0">
                <a:solidFill>
                  <a:schemeClr val="tx1"/>
                </a:solidFill>
              </a:rPr>
              <a:t>אותו כפתור, שתי נורות: אחת מיד, אחת מחכה ולפעמים מפספסת. למה?</a:t>
            </a:r>
            <a:endParaRPr lang="he-IL" sz="1400" dirty="0"/>
          </a:p>
        </p:txBody>
      </p:sp>
      <p:sp>
        <p:nvSpPr>
          <p:cNvPr id="6" name="question card"/>
          <p:cNvSpPr/>
          <p:nvPr/>
        </p:nvSpPr>
        <p:spPr>
          <a:xfrm>
            <a:off x="457200" y="2011680"/>
            <a:ext cx="8229600" cy="868680"/>
          </a:xfrm>
          <a:prstGeom prst="roundRect">
            <a:avLst>
              <a:gd name="adj" fmla="val 12632"/>
            </a:avLst>
          </a:prstGeom>
          <a:solidFill>
            <a:schemeClr val="bg2"/>
          </a:solidFill>
          <a:ln/>
        </p:spPr>
      </p:sp>
      <p:sp>
        <p:nvSpPr>
          <p:cNvPr id="7" name="question"/>
          <p:cNvSpPr txBox="1"/>
          <p:nvPr/>
        </p:nvSpPr>
        <p:spPr>
          <a:xfrm>
            <a:off x="685800" y="2011680"/>
            <a:ext cx="7772400" cy="868680"/>
          </a:xfrm>
          <a:prstGeom prst="rect">
            <a:avLst/>
          </a:prstGeom>
          <a:noFill/>
          <a:ln/>
        </p:spPr>
        <p:txBody>
          <a:bodyPr wrap="square" lIns="0" tIns="0" rIns="0" bIns="0" rtlCol="0" anchor="ctr"/>
          <a:lstStyle/>
          <a:p>
            <a:pPr rtl="1" algn="r" indent="0" marL="0">
              <a:buNone/>
            </a:pPr>
            <a:r>
              <a:rPr lang="he-IL" altLang="en-US" sz="1600" b="1" dirty="0">
                <a:solidFill>
                  <a:schemeClr val="tx1"/>
                </a:solidFill>
              </a:rPr>
              <a:t>שאלה: </a:t>
            </a:r>
            <a:pPr algn="r" indent="0" marL="0">
              <a:buNone/>
            </a:pPr>
            <a:r>
              <a:rPr lang="he-IL" altLang="en-US" sz="1600" dirty="0">
                <a:solidFill>
                  <a:schemeClr val="tx1"/>
                </a:solidFill>
              </a:rPr>
              <a:t>איך נוודא שהנורה שמחכה לשעון לא תפספס לחיצה קצרה?</a:t>
            </a:r>
            <a:endParaRPr lang="he-IL" sz="1600" dirty="0"/>
          </a:p>
        </p:txBody>
      </p:sp>
      <p:sp>
        <p:nvSpPr>
          <p:cNvPr id="8" name="answer card"/>
          <p:cNvSpPr/>
          <p:nvPr/>
        </p:nvSpPr>
        <p:spPr>
          <a:xfrm>
            <a:off x="457200" y="3017520"/>
            <a:ext cx="8229600" cy="914400"/>
          </a:xfrm>
          <a:prstGeom prst="roundRect">
            <a:avLst>
              <a:gd name="adj" fmla="val 12000"/>
            </a:avLst>
          </a:prstGeom>
          <a:solidFill>
            <a:schemeClr val="tx2"/>
          </a:solidFill>
          <a:ln/>
        </p:spPr>
      </p:sp>
      <p:sp>
        <p:nvSpPr>
          <p:cNvPr id="9" name="answer"/>
          <p:cNvSpPr txBox="1"/>
          <p:nvPr/>
        </p:nvSpPr>
        <p:spPr>
          <a:xfrm>
            <a:off x="685800" y="3017520"/>
            <a:ext cx="7772400" cy="914400"/>
          </a:xfrm>
          <a:prstGeom prst="rect">
            <a:avLst/>
          </a:prstGeom>
          <a:noFill/>
          <a:ln/>
        </p:spPr>
        <p:txBody>
          <a:bodyPr wrap="square" lIns="0" tIns="0" rIns="0" bIns="0" rtlCol="0" anchor="ctr"/>
          <a:lstStyle/>
          <a:p>
            <a:pPr rtl="1" algn="r" indent="0" marL="0">
              <a:buNone/>
            </a:pPr>
            <a:r>
              <a:rPr lang="he-IL" altLang="en-US" sz="1700" b="1" dirty="0">
                <a:solidFill>
                  <a:schemeClr val="accent1"/>
                </a:solidFill>
              </a:rPr>
              <a:t>תשובה: </a:t>
            </a:r>
            <a:pPr algn="r" indent="0" marL="0">
              <a:buNone/>
            </a:pPr>
            <a:r>
              <a:rPr lang="he-IL" altLang="en-US" sz="1700" dirty="0">
                <a:solidFill>
                  <a:schemeClr val="accent1"/>
                </a:solidFill>
              </a:rPr>
              <a:t>לזכור את הלחיצה: תפסן שנדלק ברגע הלחיצה ונשאר דלוק עד שהמכונה קוראת אותו.</a:t>
            </a:r>
            <a:endParaRPr lang="he-IL" sz="1700" dirty="0"/>
          </a:p>
        </p:txBody>
      </p:sp>
      <p:sp>
        <p:nvSpPr>
          <p:cNvPr id="10" name="why"/>
          <p:cNvSpPr txBox="1"/>
          <p:nvPr/>
        </p:nvSpPr>
        <p:spPr>
          <a:xfrm>
            <a:off x="457200" y="4114800"/>
            <a:ext cx="8229600" cy="2286000"/>
          </a:xfrm>
          <a:prstGeom prst="rect">
            <a:avLst/>
          </a:prstGeom>
          <a:noFill/>
          <a:ln/>
        </p:spPr>
        <p:txBody>
          <a:bodyPr wrap="square" lIns="0" tIns="0" rIns="0" bIns="0" rtlCol="0" anchor="t"/>
          <a:lstStyle/>
          <a:p>
            <a:pPr rtl="1" algn="r" indent="0" marL="0">
              <a:spcAft>
                <a:spcPts val="500"/>
              </a:spcAft>
              <a:buNone/>
            </a:pPr>
            <a:r>
              <a:rPr lang="he-IL" altLang="en-US" sz="1700" b="1" dirty="0">
                <a:solidFill>
                  <a:schemeClr val="tx1"/>
                </a:solidFill>
              </a:rPr>
              <a:t>למה?</a:t>
            </a:r>
            <a:endParaRPr lang="he-IL" sz="1700" dirty="0"/>
          </a:p>
          <a:p>
            <a:pPr rtl="1" algn="r" indent="0" marL="0">
              <a:spcAft>
                <a:spcPts val="500"/>
              </a:spcAft>
              <a:buNone/>
            </a:pPr>
            <a:r>
              <a:rPr lang="he-IL" altLang="en-US" sz="1600" dirty="0">
                <a:solidFill>
                  <a:schemeClr val="tx1"/>
                </a:solidFill>
              </a:rPr>
              <a:t>הנורה המיידית מחוברת ישר לכפתור, כמו יציאה של מכונת מילי, ולכן מגיבה מיד. הנורה השנייה היא יציאה של מכונת מור: היא משתנה רק בעליית שעון. לחיצה שהתחילה ונגמרה בין שתי עליות לא נראית אף פעם. כשזוכרים שהלחיצה קרתה, היא כבר לא חייבת ליפול על הרגע הנכון. זה גם הרעיון של </a:t>
            </a:r>
            <a:r>
              <a:rPr lang="en-US" altLang="en-US" sz="1600" dirty="0">
                <a:solidFill>
                  <a:schemeClr val="tx1"/>
                </a:solidFill>
              </a:rPr>
              <a:t>QS-LINK</a:t>
            </a:r>
            <a:r>
              <a:rPr lang="he-IL" altLang="en-US" sz="1600" dirty="0">
                <a:solidFill>
                  <a:schemeClr val="tx1"/>
                </a:solidFill>
              </a:rPr>
              <a:t>: לזכור את הראשון, במקום לדרוש ששניהם יגיעו יחד.</a:t>
            </a:r>
            <a:endParaRPr lang="he-IL" sz="17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שבוע 8 · זמני התקנה והחזקה, הטיית שעון, מסנכרנים</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en-US" altLang="en-US" sz="3000" b="1" dirty="0">
                <a:solidFill>
                  <a:schemeClr val="accent1"/>
                </a:solidFill>
              </a:rPr>
              <a:t>proteanTecs</a:t>
            </a:r>
            <a:r>
              <a:rPr lang="he-IL" altLang="en-US" sz="3000" b="1" dirty="0">
                <a:solidFill>
                  <a:schemeClr val="accent1"/>
                </a:solidFill>
              </a:rPr>
              <a:t>: כמה זמן נשאר לאות?</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8: </a:t>
            </a:r>
            <a:pPr algn="r" indent="0" marL="0">
              <a:buNone/>
            </a:pPr>
            <a:r>
              <a:rPr lang="he-IL" altLang="en-US" sz="1400" dirty="0">
                <a:solidFill>
                  <a:schemeClr val="tx1"/>
                </a:solidFill>
              </a:rPr>
              <a:t>שעון מהיר יותר נותן תשובות שגויות, לא רק מהירות יותר. למה?</a:t>
            </a:r>
            <a:endParaRPr lang="he-IL" sz="1400" dirty="0"/>
          </a:p>
        </p:txBody>
      </p:sp>
      <p:sp>
        <p:nvSpPr>
          <p:cNvPr id="6" name="what happened"/>
          <p:cNvSpPr txBox="1"/>
          <p:nvPr/>
        </p:nvSpPr>
        <p:spPr>
          <a:xfrm>
            <a:off x="3200400" y="2011680"/>
            <a:ext cx="5486400" cy="2148840"/>
          </a:xfrm>
          <a:prstGeom prst="rect">
            <a:avLst/>
          </a:prstGeom>
          <a:noFill/>
          <a:ln/>
        </p:spPr>
        <p:txBody>
          <a:bodyPr wrap="square" lIns="0" tIns="0" rIns="0" bIns="0" rtlCol="0" anchor="t"/>
          <a:lstStyle/>
          <a:p>
            <a:pPr rtl="1" algn="r" indent="0" marL="0">
              <a:spcAft>
                <a:spcPts val="400"/>
              </a:spcAft>
              <a:buNone/>
            </a:pPr>
            <a:r>
              <a:rPr lang="he-IL" altLang="en-US" sz="1700" b="1" dirty="0">
                <a:solidFill>
                  <a:schemeClr val="tx1"/>
                </a:solidFill>
              </a:rPr>
              <a:t>מה קרה?</a:t>
            </a:r>
            <a:endParaRPr lang="he-IL" sz="1700" dirty="0"/>
          </a:p>
          <a:p>
            <a:pPr rtl="1" algn="r" indent="0" marL="0">
              <a:spcAft>
                <a:spcPts val="400"/>
              </a:spcAft>
              <a:buNone/>
            </a:pPr>
            <a:r>
              <a:rPr lang="en-US" altLang="en-US" sz="1400" dirty="0">
                <a:solidFill>
                  <a:schemeClr val="tx1"/>
                </a:solidFill>
              </a:rPr>
              <a:t>proteanTecs</a:t>
            </a:r>
            <a:r>
              <a:rPr lang="he-IL" altLang="en-US" sz="1400" dirty="0">
                <a:solidFill>
                  <a:schemeClr val="tx1"/>
                </a:solidFill>
              </a:rPr>
              <a:t> הישראלית מכניסה לתוך שבבים סוכנים קטנים, שמודדים כל הזמן כמה מרווח זמן נשאר על מסלולים אמיתיים בשבב, ומתריעים לפני שהשבב מתחיל לטעות. במרץ 2026 קיבלה השקעה אסטרטגית מקרן ההון של קבוצת </a:t>
            </a:r>
            <a:r>
              <a:rPr lang="en-US" altLang="en-US" sz="1400" dirty="0">
                <a:solidFill>
                  <a:schemeClr val="tx1"/>
                </a:solidFill>
              </a:rPr>
              <a:t>TOPPAN</a:t>
            </a:r>
            <a:r>
              <a:rPr lang="he-IL" altLang="en-US" sz="1400" dirty="0">
                <a:solidFill>
                  <a:schemeClr val="tx1"/>
                </a:solidFill>
              </a:rPr>
              <a:t> היפנית.</a:t>
            </a:r>
            <a:endParaRPr lang="he-IL" sz="1700" dirty="0"/>
          </a:p>
        </p:txBody>
      </p:sp>
      <p:sp>
        <p:nvSpPr>
          <p:cNvPr id="7" name="stat card"/>
          <p:cNvSpPr/>
          <p:nvPr/>
        </p:nvSpPr>
        <p:spPr>
          <a:xfrm>
            <a:off x="457200" y="2057400"/>
            <a:ext cx="2514600" cy="2057400"/>
          </a:xfrm>
          <a:prstGeom prst="roundRect">
            <a:avLst>
              <a:gd name="adj" fmla="val 5333"/>
            </a:avLst>
          </a:prstGeom>
          <a:solidFill>
            <a:schemeClr val="tx2"/>
          </a:solidFill>
          <a:ln/>
        </p:spPr>
      </p:sp>
      <p:sp>
        <p:nvSpPr>
          <p:cNvPr id="8" name="stat"/>
          <p:cNvSpPr txBox="1"/>
          <p:nvPr/>
        </p:nvSpPr>
        <p:spPr>
          <a:xfrm>
            <a:off x="548640" y="2148840"/>
            <a:ext cx="2331720" cy="1051560"/>
          </a:xfrm>
          <a:prstGeom prst="rect">
            <a:avLst/>
          </a:prstGeom>
          <a:noFill/>
          <a:ln/>
        </p:spPr>
        <p:txBody>
          <a:bodyPr wrap="square" rtlCol="0" anchor="ctr"/>
          <a:lstStyle/>
          <a:p>
            <a:pPr algn="ctr" indent="0" marL="0">
              <a:buNone/>
            </a:pPr>
            <a:r>
              <a:rPr lang="en-US" sz="4000" b="1" dirty="0">
                <a:solidFill>
                  <a:schemeClr val="accent1"/>
                </a:solidFill>
              </a:rPr>
              <a:t>TOPPAN</a:t>
            </a:r>
            <a:endParaRPr lang="en-US" sz="4000" dirty="0"/>
          </a:p>
        </p:txBody>
      </p:sp>
      <p:sp>
        <p:nvSpPr>
          <p:cNvPr id="9" name="stat label"/>
          <p:cNvSpPr txBox="1"/>
          <p:nvPr/>
        </p:nvSpPr>
        <p:spPr>
          <a:xfrm>
            <a:off x="594360" y="3200400"/>
            <a:ext cx="2240280" cy="822960"/>
          </a:xfrm>
          <a:prstGeom prst="rect">
            <a:avLst/>
          </a:prstGeom>
          <a:noFill/>
          <a:ln/>
        </p:spPr>
        <p:txBody>
          <a:bodyPr wrap="square" rtlCol="0" anchor="t"/>
          <a:lstStyle/>
          <a:p>
            <a:pPr rtl="1" algn="ctr" indent="0" marL="0">
              <a:buNone/>
            </a:pPr>
            <a:r>
              <a:rPr lang="he-IL" altLang="en-US" sz="1200" dirty="0">
                <a:solidFill>
                  <a:schemeClr val="bg1"/>
                </a:solidFill>
              </a:rPr>
              <a:t>השקעה אסטרטגית, מרץ 2026</a:t>
            </a:r>
            <a:endParaRPr lang="he-IL" sz="1200" dirty="0"/>
          </a:p>
        </p:txBody>
      </p:sp>
      <p:sp>
        <p:nvSpPr>
          <p:cNvPr id="10" name="link card"/>
          <p:cNvSpPr/>
          <p:nvPr/>
        </p:nvSpPr>
        <p:spPr>
          <a:xfrm>
            <a:off x="457200" y="4297680"/>
            <a:ext cx="8229600" cy="2011680"/>
          </a:xfrm>
          <a:prstGeom prst="roundRect">
            <a:avLst>
              <a:gd name="adj" fmla="val 5455"/>
            </a:avLst>
          </a:prstGeom>
          <a:solidFill>
            <a:schemeClr val="bg2"/>
          </a:solidFill>
          <a:ln/>
        </p:spPr>
      </p:sp>
      <p:sp>
        <p:nvSpPr>
          <p:cNvPr id="11" name="link text"/>
          <p:cNvSpPr txBox="1"/>
          <p:nvPr/>
        </p:nvSpPr>
        <p:spPr>
          <a:xfrm>
            <a:off x="685800" y="4389120"/>
            <a:ext cx="7772400" cy="1828800"/>
          </a:xfrm>
          <a:prstGeom prst="rect">
            <a:avLst/>
          </a:prstGeom>
          <a:noFill/>
          <a:ln/>
        </p:spPr>
        <p:txBody>
          <a:bodyPr wrap="square" lIns="0" tIns="0" rIns="0" bIns="0" rtlCol="0" anchor="t"/>
          <a:lstStyle/>
          <a:p>
            <a:pPr rtl="1" algn="r" indent="0" marL="0">
              <a:spcAft>
                <a:spcPts val="500"/>
              </a:spcAft>
              <a:buNone/>
            </a:pPr>
            <a:r>
              <a:rPr lang="he-IL" altLang="en-US" sz="1500" b="1" dirty="0">
                <a:solidFill>
                  <a:schemeClr val="tx1"/>
                </a:solidFill>
              </a:rPr>
              <a:t>ומה זה קשור לשבוע 8?</a:t>
            </a:r>
            <a:endParaRPr lang="he-IL" sz="1500" dirty="0"/>
          </a:p>
          <a:p>
            <a:pPr rtl="1" algn="r" indent="0" marL="0">
              <a:spcAft>
                <a:spcPts val="500"/>
              </a:spcAft>
              <a:buNone/>
            </a:pPr>
            <a:r>
              <a:rPr lang="he-IL" altLang="en-US" sz="1400" dirty="0">
                <a:solidFill>
                  <a:schemeClr val="tx1"/>
                </a:solidFill>
              </a:rPr>
              <a:t>השבוע: זמן התקנה. אם האות מגיע לדלגלג מאוחר מדי, נשמרת תשובה שגויה בלי שום הודעת שגיאה. כך עבדה חוגת המהירות במעבדה 1: שעון מהיר יותר, יותר תשובות שגויות.</a:t>
            </a:r>
            <a:endParaRPr lang="he-IL" sz="1500" dirty="0"/>
          </a:p>
          <a:p>
            <a:pPr rtl="1" algn="r" indent="0" marL="0">
              <a:spcAft>
                <a:spcPts val="500"/>
              </a:spcAft>
              <a:buNone/>
            </a:pPr>
            <a:r>
              <a:rPr lang="he-IL" altLang="en-US" sz="1400" b="1" dirty="0">
                <a:solidFill>
                  <a:schemeClr val="tx1"/>
                </a:solidFill>
              </a:rPr>
              <a:t>שאלה: </a:t>
            </a:r>
            <a:pPr algn="r" indent="0" marL="0">
              <a:spcAft>
                <a:spcPts val="500"/>
              </a:spcAft>
              <a:buNone/>
            </a:pPr>
            <a:r>
              <a:rPr lang="he-IL" altLang="en-US" sz="1500" dirty="0">
                <a:solidFill>
                  <a:schemeClr val="tx1"/>
                </a:solidFill>
              </a:rPr>
              <a:t>מסלול בין שני דלגלגים לוקח 4 ננו שניות. עד איזה תדר שעון הוא יעבוד נכון?</a:t>
            </a:r>
            <a:endParaRPr lang="he-IL" sz="1500" dirty="0"/>
          </a:p>
        </p:txBody>
      </p:sp>
      <p:sp>
        <p:nvSpPr>
          <p:cNvPr id="12" name="source">
            <a:hlinkClick r:id="rId1" tooltip=""/>
          </p:cNvPr>
          <p:cNvSpPr txBox="1"/>
          <p:nvPr/>
        </p:nvSpPr>
        <p:spPr>
          <a:xfrm>
            <a:off x="457200" y="6382512"/>
            <a:ext cx="7772400" cy="274320"/>
          </a:xfrm>
          <a:prstGeom prst="rect">
            <a:avLst/>
          </a:prstGeom>
          <a:noFill/>
          <a:ln/>
        </p:spPr>
        <p:txBody>
          <a:bodyPr wrap="square" lIns="0" tIns="0" rIns="0" bIns="0" rtlCol="0" anchor="ctr"/>
          <a:lstStyle/>
          <a:p>
            <a:pPr algn="l" indent="0" marL="0">
              <a:buNone/>
            </a:pPr>
            <a:r>
              <a:rPr lang="en-US" sz="8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https://proteantecs.com/news/proteantecs-receives-strategic-investment-from-toppan-group-venture-arm-tgvp</a:t>
            </a:r>
            <a:endParaRPr lang="en-US" sz="8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תשובה לשאלה של שבוע 8 · </a:t>
            </a:r>
            <a:r>
              <a:rPr lang="en-US" altLang="en-US" sz="1400" dirty="0">
                <a:solidFill>
                  <a:schemeClr val="bg1"/>
                </a:solidFill>
              </a:rPr>
              <a:t>proteanTecs</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he-IL" altLang="en-US" sz="3000" b="1" dirty="0">
                <a:solidFill>
                  <a:schemeClr val="accent1"/>
                </a:solidFill>
              </a:rPr>
              <a:t>השאלה מהשבוע שעבר</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8: </a:t>
            </a:r>
            <a:pPr algn="r" indent="0" marL="0">
              <a:buNone/>
            </a:pPr>
            <a:r>
              <a:rPr lang="he-IL" altLang="en-US" sz="1400" dirty="0">
                <a:solidFill>
                  <a:schemeClr val="tx1"/>
                </a:solidFill>
              </a:rPr>
              <a:t>שעון מהיר יותר נותן תשובות שגויות, לא רק מהירות יותר. למה?</a:t>
            </a:r>
            <a:endParaRPr lang="he-IL" sz="1400" dirty="0"/>
          </a:p>
        </p:txBody>
      </p:sp>
      <p:sp>
        <p:nvSpPr>
          <p:cNvPr id="6" name="question card"/>
          <p:cNvSpPr/>
          <p:nvPr/>
        </p:nvSpPr>
        <p:spPr>
          <a:xfrm>
            <a:off x="457200" y="2011680"/>
            <a:ext cx="8229600" cy="868680"/>
          </a:xfrm>
          <a:prstGeom prst="roundRect">
            <a:avLst>
              <a:gd name="adj" fmla="val 12632"/>
            </a:avLst>
          </a:prstGeom>
          <a:solidFill>
            <a:schemeClr val="bg2"/>
          </a:solidFill>
          <a:ln/>
        </p:spPr>
      </p:sp>
      <p:sp>
        <p:nvSpPr>
          <p:cNvPr id="7" name="question"/>
          <p:cNvSpPr txBox="1"/>
          <p:nvPr/>
        </p:nvSpPr>
        <p:spPr>
          <a:xfrm>
            <a:off x="685800" y="2011680"/>
            <a:ext cx="7772400" cy="868680"/>
          </a:xfrm>
          <a:prstGeom prst="rect">
            <a:avLst/>
          </a:prstGeom>
          <a:noFill/>
          <a:ln/>
        </p:spPr>
        <p:txBody>
          <a:bodyPr wrap="square" lIns="0" tIns="0" rIns="0" bIns="0" rtlCol="0" anchor="ctr"/>
          <a:lstStyle/>
          <a:p>
            <a:pPr rtl="1" algn="r" indent="0" marL="0">
              <a:buNone/>
            </a:pPr>
            <a:r>
              <a:rPr lang="he-IL" altLang="en-US" sz="1600" b="1" dirty="0">
                <a:solidFill>
                  <a:schemeClr val="tx1"/>
                </a:solidFill>
              </a:rPr>
              <a:t>שאלה: </a:t>
            </a:r>
            <a:pPr algn="r" indent="0" marL="0">
              <a:buNone/>
            </a:pPr>
            <a:r>
              <a:rPr lang="he-IL" altLang="en-US" sz="1600" dirty="0">
                <a:solidFill>
                  <a:schemeClr val="tx1"/>
                </a:solidFill>
              </a:rPr>
              <a:t>מסלול בין שני דלגלגים לוקח 4 ננו שניות. עד איזה תדר שעון הוא יעבוד נכון?</a:t>
            </a:r>
            <a:endParaRPr lang="he-IL" sz="1600" dirty="0"/>
          </a:p>
        </p:txBody>
      </p:sp>
      <p:sp>
        <p:nvSpPr>
          <p:cNvPr id="8" name="answer card"/>
          <p:cNvSpPr/>
          <p:nvPr/>
        </p:nvSpPr>
        <p:spPr>
          <a:xfrm>
            <a:off x="457200" y="3017520"/>
            <a:ext cx="8229600" cy="914400"/>
          </a:xfrm>
          <a:prstGeom prst="roundRect">
            <a:avLst>
              <a:gd name="adj" fmla="val 12000"/>
            </a:avLst>
          </a:prstGeom>
          <a:solidFill>
            <a:schemeClr val="tx2"/>
          </a:solidFill>
          <a:ln/>
        </p:spPr>
      </p:sp>
      <p:sp>
        <p:nvSpPr>
          <p:cNvPr id="9" name="answer"/>
          <p:cNvSpPr txBox="1"/>
          <p:nvPr/>
        </p:nvSpPr>
        <p:spPr>
          <a:xfrm>
            <a:off x="685800" y="3017520"/>
            <a:ext cx="7772400" cy="914400"/>
          </a:xfrm>
          <a:prstGeom prst="rect">
            <a:avLst/>
          </a:prstGeom>
          <a:noFill/>
          <a:ln/>
        </p:spPr>
        <p:txBody>
          <a:bodyPr wrap="square" lIns="0" tIns="0" rIns="0" bIns="0" rtlCol="0" anchor="ctr"/>
          <a:lstStyle/>
          <a:p>
            <a:pPr rtl="1" algn="r" indent="0" marL="0">
              <a:buNone/>
            </a:pPr>
            <a:r>
              <a:rPr lang="he-IL" altLang="en-US" sz="1700" b="1" dirty="0">
                <a:solidFill>
                  <a:schemeClr val="accent1"/>
                </a:solidFill>
              </a:rPr>
              <a:t>תשובה: </a:t>
            </a:r>
            <a:pPr algn="r" indent="0" marL="0">
              <a:buNone/>
            </a:pPr>
            <a:r>
              <a:rPr lang="he-IL" altLang="en-US" sz="1700" dirty="0">
                <a:solidFill>
                  <a:schemeClr val="accent1"/>
                </a:solidFill>
              </a:rPr>
              <a:t>עד 250 מגה הרץ, ובפועל קצת פחות.</a:t>
            </a:r>
            <a:endParaRPr lang="he-IL" sz="1700" dirty="0"/>
          </a:p>
        </p:txBody>
      </p:sp>
      <p:sp>
        <p:nvSpPr>
          <p:cNvPr id="10" name="why"/>
          <p:cNvSpPr txBox="1"/>
          <p:nvPr/>
        </p:nvSpPr>
        <p:spPr>
          <a:xfrm>
            <a:off x="457200" y="4114800"/>
            <a:ext cx="8229600" cy="2286000"/>
          </a:xfrm>
          <a:prstGeom prst="rect">
            <a:avLst/>
          </a:prstGeom>
          <a:noFill/>
          <a:ln/>
        </p:spPr>
        <p:txBody>
          <a:bodyPr wrap="square" lIns="0" tIns="0" rIns="0" bIns="0" rtlCol="0" anchor="t"/>
          <a:lstStyle/>
          <a:p>
            <a:pPr rtl="1" algn="r" indent="0" marL="0">
              <a:spcAft>
                <a:spcPts val="500"/>
              </a:spcAft>
              <a:buNone/>
            </a:pPr>
            <a:r>
              <a:rPr lang="he-IL" altLang="en-US" sz="1700" b="1" dirty="0">
                <a:solidFill>
                  <a:schemeClr val="tx1"/>
                </a:solidFill>
              </a:rPr>
              <a:t>למה?</a:t>
            </a:r>
            <a:endParaRPr lang="he-IL" sz="1700" dirty="0"/>
          </a:p>
          <a:p>
            <a:pPr rtl="1" algn="r" indent="0" marL="0">
              <a:spcAft>
                <a:spcPts val="500"/>
              </a:spcAft>
              <a:buNone/>
            </a:pPr>
            <a:r>
              <a:rPr lang="he-IL" altLang="en-US" sz="1600" dirty="0">
                <a:solidFill>
                  <a:schemeClr val="tx1"/>
                </a:solidFill>
              </a:rPr>
              <a:t>מחזור השעון חייב להיות ארוך מזמן המסלול: 1 חלקי 4 ננו שניות = 250 מגה הרץ. צריך להוסיף את זמן ההתקנה של הדלגלג ואת הטיית השעון, ולכן התדר המרבי נמוך יותר. בשעון מהיר יותר הדלגלג דוגם את התוצאה לפני שהיא מוכנה ושומר ערך שגוי, וזו החידה. הסוכנים של </a:t>
            </a:r>
            <a:r>
              <a:rPr lang="en-US" altLang="en-US" sz="1600" dirty="0">
                <a:solidFill>
                  <a:schemeClr val="tx1"/>
                </a:solidFill>
              </a:rPr>
              <a:t>proteanTecs</a:t>
            </a:r>
            <a:r>
              <a:rPr lang="he-IL" altLang="en-US" sz="1600" dirty="0">
                <a:solidFill>
                  <a:schemeClr val="tx1"/>
                </a:solidFill>
              </a:rPr>
              <a:t> מודדים כמה מרווח נשאר, לפני שזה קורה.</a:t>
            </a:r>
            <a:endParaRPr lang="he-IL" sz="17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שבוע 9 · מחברים, הצצה קדימה, משווים</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en-US" altLang="en-US" sz="3000" b="1" dirty="0">
                <a:solidFill>
                  <a:schemeClr val="accent1"/>
                </a:solidFill>
              </a:rPr>
              <a:t>Chain Reaction</a:t>
            </a:r>
            <a:r>
              <a:rPr lang="he-IL" altLang="en-US" sz="3000" b="1" dirty="0">
                <a:solidFill>
                  <a:schemeClr val="accent1"/>
                </a:solidFill>
              </a:rPr>
              <a:t>: מיליארדי חיבורים בשנייה</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9: </a:t>
            </a:r>
            <a:pPr algn="r" indent="0" marL="0">
              <a:buNone/>
            </a:pPr>
            <a:r>
              <a:rPr lang="he-IL" altLang="en-US" sz="1400" dirty="0">
                <a:solidFill>
                  <a:schemeClr val="tx1"/>
                </a:solidFill>
              </a:rPr>
              <a:t>החיבור הגדול נכשל לפני החיבור הקטן. למה?</a:t>
            </a:r>
            <a:endParaRPr lang="he-IL" sz="1400" dirty="0"/>
          </a:p>
        </p:txBody>
      </p:sp>
      <p:sp>
        <p:nvSpPr>
          <p:cNvPr id="6" name="what happened"/>
          <p:cNvSpPr txBox="1"/>
          <p:nvPr/>
        </p:nvSpPr>
        <p:spPr>
          <a:xfrm>
            <a:off x="3200400" y="2011680"/>
            <a:ext cx="5486400" cy="2148840"/>
          </a:xfrm>
          <a:prstGeom prst="rect">
            <a:avLst/>
          </a:prstGeom>
          <a:noFill/>
          <a:ln/>
        </p:spPr>
        <p:txBody>
          <a:bodyPr wrap="square" lIns="0" tIns="0" rIns="0" bIns="0" rtlCol="0" anchor="t"/>
          <a:lstStyle/>
          <a:p>
            <a:pPr rtl="1" algn="r" indent="0" marL="0">
              <a:spcAft>
                <a:spcPts val="400"/>
              </a:spcAft>
              <a:buNone/>
            </a:pPr>
            <a:r>
              <a:rPr lang="he-IL" altLang="en-US" sz="1700" b="1" dirty="0">
                <a:solidFill>
                  <a:schemeClr val="tx1"/>
                </a:solidFill>
              </a:rPr>
              <a:t>מה קרה?</a:t>
            </a:r>
            <a:endParaRPr lang="he-IL" sz="1700" dirty="0"/>
          </a:p>
          <a:p>
            <a:pPr rtl="1" algn="r" indent="0" marL="0">
              <a:spcAft>
                <a:spcPts val="400"/>
              </a:spcAft>
              <a:buNone/>
            </a:pPr>
            <a:r>
              <a:rPr lang="en-US" altLang="en-US" sz="1400" dirty="0">
                <a:solidFill>
                  <a:schemeClr val="tx1"/>
                </a:solidFill>
              </a:rPr>
              <a:t>Chain Reaction</a:t>
            </a:r>
            <a:r>
              <a:rPr lang="he-IL" altLang="en-US" sz="1400" dirty="0">
                <a:solidFill>
                  <a:schemeClr val="tx1"/>
                </a:solidFill>
              </a:rPr>
              <a:t> הישראלית השיקה באוקטובר 2025 את </a:t>
            </a:r>
            <a:r>
              <a:rPr lang="en-US" altLang="en-US" sz="1400" dirty="0">
                <a:solidFill>
                  <a:schemeClr val="tx1"/>
                </a:solidFill>
              </a:rPr>
              <a:t>EL3CTRUM</a:t>
            </a:r>
            <a:r>
              <a:rPr lang="he-IL" altLang="en-US" sz="1400" dirty="0">
                <a:solidFill>
                  <a:schemeClr val="tx1"/>
                </a:solidFill>
              </a:rPr>
              <a:t>, שבב לכריית ביטקוין בטכנולוגיה של 3 ננומטר. כרייה היא חישוב של הפונקציה </a:t>
            </a:r>
            <a:r>
              <a:rPr lang="en-US" altLang="en-US" sz="1400" dirty="0">
                <a:solidFill>
                  <a:schemeClr val="tx1"/>
                </a:solidFill>
              </a:rPr>
              <a:t>SHA-256</a:t>
            </a:r>
            <a:r>
              <a:rPr lang="he-IL" altLang="en-US" sz="1400" dirty="0">
                <a:solidFill>
                  <a:schemeClr val="tx1"/>
                </a:solidFill>
              </a:rPr>
              <a:t> שוב ושוב, ו </a:t>
            </a:r>
            <a:r>
              <a:rPr lang="en-US" altLang="en-US" sz="1400" dirty="0">
                <a:solidFill>
                  <a:schemeClr val="tx1"/>
                </a:solidFill>
              </a:rPr>
              <a:t>SHA-256</a:t>
            </a:r>
            <a:r>
              <a:rPr lang="he-IL" altLang="en-US" sz="1400" dirty="0">
                <a:solidFill>
                  <a:schemeClr val="tx1"/>
                </a:solidFill>
              </a:rPr>
              <a:t> בנויה בעיקר מחיבורים של מספרים בני 32 ביט.</a:t>
            </a:r>
            <a:endParaRPr lang="he-IL" sz="1700" dirty="0"/>
          </a:p>
        </p:txBody>
      </p:sp>
      <p:sp>
        <p:nvSpPr>
          <p:cNvPr id="7" name="stat card"/>
          <p:cNvSpPr/>
          <p:nvPr/>
        </p:nvSpPr>
        <p:spPr>
          <a:xfrm>
            <a:off x="457200" y="2057400"/>
            <a:ext cx="2514600" cy="2057400"/>
          </a:xfrm>
          <a:prstGeom prst="roundRect">
            <a:avLst>
              <a:gd name="adj" fmla="val 5333"/>
            </a:avLst>
          </a:prstGeom>
          <a:solidFill>
            <a:schemeClr val="tx2"/>
          </a:solidFill>
          <a:ln/>
        </p:spPr>
      </p:sp>
      <p:sp>
        <p:nvSpPr>
          <p:cNvPr id="8" name="stat"/>
          <p:cNvSpPr txBox="1"/>
          <p:nvPr/>
        </p:nvSpPr>
        <p:spPr>
          <a:xfrm>
            <a:off x="548640" y="2148840"/>
            <a:ext cx="2331720" cy="1051560"/>
          </a:xfrm>
          <a:prstGeom prst="rect">
            <a:avLst/>
          </a:prstGeom>
          <a:noFill/>
          <a:ln/>
        </p:spPr>
        <p:txBody>
          <a:bodyPr wrap="square" rtlCol="0" anchor="ctr"/>
          <a:lstStyle/>
          <a:p>
            <a:pPr algn="ctr" indent="0" marL="0">
              <a:buNone/>
            </a:pPr>
            <a:r>
              <a:rPr lang="en-US" sz="4000" b="1" dirty="0">
                <a:solidFill>
                  <a:schemeClr val="accent1"/>
                </a:solidFill>
              </a:rPr>
              <a:t>3nm</a:t>
            </a:r>
            <a:endParaRPr lang="en-US" sz="4000" dirty="0"/>
          </a:p>
        </p:txBody>
      </p:sp>
      <p:sp>
        <p:nvSpPr>
          <p:cNvPr id="9" name="stat label"/>
          <p:cNvSpPr txBox="1"/>
          <p:nvPr/>
        </p:nvSpPr>
        <p:spPr>
          <a:xfrm>
            <a:off x="594360" y="3200400"/>
            <a:ext cx="2240280" cy="822960"/>
          </a:xfrm>
          <a:prstGeom prst="rect">
            <a:avLst/>
          </a:prstGeom>
          <a:noFill/>
          <a:ln/>
        </p:spPr>
        <p:txBody>
          <a:bodyPr wrap="square" rtlCol="0" anchor="t"/>
          <a:lstStyle/>
          <a:p>
            <a:pPr rtl="1" algn="ctr" indent="0" marL="0">
              <a:buNone/>
            </a:pPr>
            <a:r>
              <a:rPr lang="he-IL" altLang="en-US" sz="1200" dirty="0">
                <a:solidFill>
                  <a:schemeClr val="bg1"/>
                </a:solidFill>
              </a:rPr>
              <a:t>שבב כרייה, אוקטובר 2025</a:t>
            </a:r>
            <a:endParaRPr lang="he-IL" sz="1200" dirty="0"/>
          </a:p>
        </p:txBody>
      </p:sp>
      <p:sp>
        <p:nvSpPr>
          <p:cNvPr id="10" name="link card"/>
          <p:cNvSpPr/>
          <p:nvPr/>
        </p:nvSpPr>
        <p:spPr>
          <a:xfrm>
            <a:off x="457200" y="4297680"/>
            <a:ext cx="8229600" cy="2011680"/>
          </a:xfrm>
          <a:prstGeom prst="roundRect">
            <a:avLst>
              <a:gd name="adj" fmla="val 5455"/>
            </a:avLst>
          </a:prstGeom>
          <a:solidFill>
            <a:schemeClr val="bg2"/>
          </a:solidFill>
          <a:ln/>
        </p:spPr>
      </p:sp>
      <p:sp>
        <p:nvSpPr>
          <p:cNvPr id="11" name="link text"/>
          <p:cNvSpPr txBox="1"/>
          <p:nvPr/>
        </p:nvSpPr>
        <p:spPr>
          <a:xfrm>
            <a:off x="685800" y="4389120"/>
            <a:ext cx="7772400" cy="1828800"/>
          </a:xfrm>
          <a:prstGeom prst="rect">
            <a:avLst/>
          </a:prstGeom>
          <a:noFill/>
          <a:ln/>
        </p:spPr>
        <p:txBody>
          <a:bodyPr wrap="square" lIns="0" tIns="0" rIns="0" bIns="0" rtlCol="0" anchor="t"/>
          <a:lstStyle/>
          <a:p>
            <a:pPr rtl="1" algn="r" indent="0" marL="0">
              <a:spcAft>
                <a:spcPts val="500"/>
              </a:spcAft>
              <a:buNone/>
            </a:pPr>
            <a:r>
              <a:rPr lang="he-IL" altLang="en-US" sz="1500" b="1" dirty="0">
                <a:solidFill>
                  <a:schemeClr val="tx1"/>
                </a:solidFill>
              </a:rPr>
              <a:t>ומה זה קשור לשבוע 9?</a:t>
            </a:r>
            <a:endParaRPr lang="he-IL" sz="1500" dirty="0"/>
          </a:p>
          <a:p>
            <a:pPr rtl="1" algn="r" indent="0" marL="0">
              <a:spcAft>
                <a:spcPts val="500"/>
              </a:spcAft>
              <a:buNone/>
            </a:pPr>
            <a:r>
              <a:rPr lang="he-IL" altLang="en-US" sz="1400" dirty="0">
                <a:solidFill>
                  <a:schemeClr val="tx1"/>
                </a:solidFill>
              </a:rPr>
              <a:t>השבוע: מחבר אדווה והצצה קדימה. במחבר אדווה הנשא עובר מביט לביט, ולכן חיבור גדול איטי יותר. במחקרים על שבבי </a:t>
            </a:r>
            <a:r>
              <a:rPr lang="en-US" altLang="en-US" sz="1400" dirty="0">
                <a:solidFill>
                  <a:schemeClr val="tx1"/>
                </a:solidFill>
              </a:rPr>
              <a:t>SHA-256</a:t>
            </a:r>
            <a:r>
              <a:rPr lang="he-IL" altLang="en-US" sz="1400" dirty="0">
                <a:solidFill>
                  <a:schemeClr val="tx1"/>
                </a:solidFill>
              </a:rPr>
              <a:t>, החיבורים הם המסלול האיטי ביותר, ולכן משתמשים בהם במחברים עם הצצה קדימה.</a:t>
            </a:r>
            <a:endParaRPr lang="he-IL" sz="1500" dirty="0"/>
          </a:p>
          <a:p>
            <a:pPr rtl="1" algn="r" indent="0" marL="0">
              <a:spcAft>
                <a:spcPts val="500"/>
              </a:spcAft>
              <a:buNone/>
            </a:pPr>
            <a:r>
              <a:rPr lang="he-IL" altLang="en-US" sz="1400" b="1" dirty="0">
                <a:solidFill>
                  <a:schemeClr val="tx1"/>
                </a:solidFill>
              </a:rPr>
              <a:t>שאלה: </a:t>
            </a:r>
            <a:pPr algn="r" indent="0" marL="0">
              <a:spcAft>
                <a:spcPts val="500"/>
              </a:spcAft>
              <a:buNone/>
            </a:pPr>
            <a:r>
              <a:rPr lang="he-IL" altLang="en-US" sz="1500" dirty="0">
                <a:solidFill>
                  <a:schemeClr val="tx1"/>
                </a:solidFill>
              </a:rPr>
              <a:t>במחבר אדווה של 32 ביט, דרך כמה מחברים מלאים עובר הנשא במקרה הגרוע?</a:t>
            </a:r>
            <a:endParaRPr lang="he-IL" sz="1500" dirty="0"/>
          </a:p>
        </p:txBody>
      </p:sp>
      <p:sp>
        <p:nvSpPr>
          <p:cNvPr id="12" name="source">
            <a:hlinkClick r:id="rId1" tooltip=""/>
          </p:cNvPr>
          <p:cNvSpPr txBox="1"/>
          <p:nvPr/>
        </p:nvSpPr>
        <p:spPr>
          <a:xfrm>
            <a:off x="457200" y="6382512"/>
            <a:ext cx="7772400" cy="274320"/>
          </a:xfrm>
          <a:prstGeom prst="rect">
            <a:avLst/>
          </a:prstGeom>
          <a:noFill/>
          <a:ln/>
        </p:spPr>
        <p:txBody>
          <a:bodyPr wrap="square" lIns="0" tIns="0" rIns="0" bIns="0" rtlCol="0" anchor="ctr"/>
          <a:lstStyle/>
          <a:p>
            <a:pPr algn="l" indent="0" marL="0">
              <a:buNone/>
            </a:pPr>
            <a:r>
              <a:rPr lang="en-US" sz="8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https://chain-reaction.io/news-medias/el3ctrum-e31-industry-leading-bitcoin-mining-platform/</a:t>
            </a:r>
            <a:endParaRPr lang="en-US" sz="8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תשובה לשאלה של שבוע 9 · </a:t>
            </a:r>
            <a:r>
              <a:rPr lang="en-US" altLang="en-US" sz="1400" dirty="0">
                <a:solidFill>
                  <a:schemeClr val="bg1"/>
                </a:solidFill>
              </a:rPr>
              <a:t>Chain Reaction</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he-IL" altLang="en-US" sz="3000" b="1" dirty="0">
                <a:solidFill>
                  <a:schemeClr val="accent1"/>
                </a:solidFill>
              </a:rPr>
              <a:t>השאלה מהשבוע שעבר</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9: </a:t>
            </a:r>
            <a:pPr algn="r" indent="0" marL="0">
              <a:buNone/>
            </a:pPr>
            <a:r>
              <a:rPr lang="he-IL" altLang="en-US" sz="1400" dirty="0">
                <a:solidFill>
                  <a:schemeClr val="tx1"/>
                </a:solidFill>
              </a:rPr>
              <a:t>החיבור הגדול נכשל לפני החיבור הקטן. למה?</a:t>
            </a:r>
            <a:endParaRPr lang="he-IL" sz="1400" dirty="0"/>
          </a:p>
        </p:txBody>
      </p:sp>
      <p:sp>
        <p:nvSpPr>
          <p:cNvPr id="6" name="question card"/>
          <p:cNvSpPr/>
          <p:nvPr/>
        </p:nvSpPr>
        <p:spPr>
          <a:xfrm>
            <a:off x="457200" y="2011680"/>
            <a:ext cx="8229600" cy="868680"/>
          </a:xfrm>
          <a:prstGeom prst="roundRect">
            <a:avLst>
              <a:gd name="adj" fmla="val 12632"/>
            </a:avLst>
          </a:prstGeom>
          <a:solidFill>
            <a:schemeClr val="bg2"/>
          </a:solidFill>
          <a:ln/>
        </p:spPr>
      </p:sp>
      <p:sp>
        <p:nvSpPr>
          <p:cNvPr id="7" name="question"/>
          <p:cNvSpPr txBox="1"/>
          <p:nvPr/>
        </p:nvSpPr>
        <p:spPr>
          <a:xfrm>
            <a:off x="685800" y="2011680"/>
            <a:ext cx="7772400" cy="868680"/>
          </a:xfrm>
          <a:prstGeom prst="rect">
            <a:avLst/>
          </a:prstGeom>
          <a:noFill/>
          <a:ln/>
        </p:spPr>
        <p:txBody>
          <a:bodyPr wrap="square" lIns="0" tIns="0" rIns="0" bIns="0" rtlCol="0" anchor="ctr"/>
          <a:lstStyle/>
          <a:p>
            <a:pPr rtl="1" algn="r" indent="0" marL="0">
              <a:buNone/>
            </a:pPr>
            <a:r>
              <a:rPr lang="he-IL" altLang="en-US" sz="1600" b="1" dirty="0">
                <a:solidFill>
                  <a:schemeClr val="tx1"/>
                </a:solidFill>
              </a:rPr>
              <a:t>שאלה: </a:t>
            </a:r>
            <a:pPr algn="r" indent="0" marL="0">
              <a:buNone/>
            </a:pPr>
            <a:r>
              <a:rPr lang="he-IL" altLang="en-US" sz="1600" dirty="0">
                <a:solidFill>
                  <a:schemeClr val="tx1"/>
                </a:solidFill>
              </a:rPr>
              <a:t>במחבר אדווה של 32 ביט, דרך כמה מחברים מלאים עובר הנשא במקרה הגרוע?</a:t>
            </a:r>
            <a:endParaRPr lang="he-IL" sz="1600" dirty="0"/>
          </a:p>
        </p:txBody>
      </p:sp>
      <p:sp>
        <p:nvSpPr>
          <p:cNvPr id="8" name="answer card"/>
          <p:cNvSpPr/>
          <p:nvPr/>
        </p:nvSpPr>
        <p:spPr>
          <a:xfrm>
            <a:off x="457200" y="3017520"/>
            <a:ext cx="8229600" cy="914400"/>
          </a:xfrm>
          <a:prstGeom prst="roundRect">
            <a:avLst>
              <a:gd name="adj" fmla="val 12000"/>
            </a:avLst>
          </a:prstGeom>
          <a:solidFill>
            <a:schemeClr val="tx2"/>
          </a:solidFill>
          <a:ln/>
        </p:spPr>
      </p:sp>
      <p:sp>
        <p:nvSpPr>
          <p:cNvPr id="9" name="answer"/>
          <p:cNvSpPr txBox="1"/>
          <p:nvPr/>
        </p:nvSpPr>
        <p:spPr>
          <a:xfrm>
            <a:off x="685800" y="3017520"/>
            <a:ext cx="7772400" cy="914400"/>
          </a:xfrm>
          <a:prstGeom prst="rect">
            <a:avLst/>
          </a:prstGeom>
          <a:noFill/>
          <a:ln/>
        </p:spPr>
        <p:txBody>
          <a:bodyPr wrap="square" lIns="0" tIns="0" rIns="0" bIns="0" rtlCol="0" anchor="ctr"/>
          <a:lstStyle/>
          <a:p>
            <a:pPr rtl="1" algn="r" indent="0" marL="0">
              <a:buNone/>
            </a:pPr>
            <a:r>
              <a:rPr lang="he-IL" altLang="en-US" sz="1700" b="1" dirty="0">
                <a:solidFill>
                  <a:schemeClr val="accent1"/>
                </a:solidFill>
              </a:rPr>
              <a:t>תשובה: </a:t>
            </a:r>
            <a:pPr algn="r" indent="0" marL="0">
              <a:buNone/>
            </a:pPr>
            <a:r>
              <a:rPr lang="he-IL" altLang="en-US" sz="1700" dirty="0">
                <a:solidFill>
                  <a:schemeClr val="accent1"/>
                </a:solidFill>
              </a:rPr>
              <a:t>דרך כל ה 32.</a:t>
            </a:r>
            <a:endParaRPr lang="he-IL" sz="1700" dirty="0"/>
          </a:p>
        </p:txBody>
      </p:sp>
      <p:sp>
        <p:nvSpPr>
          <p:cNvPr id="10" name="why"/>
          <p:cNvSpPr txBox="1"/>
          <p:nvPr/>
        </p:nvSpPr>
        <p:spPr>
          <a:xfrm>
            <a:off x="457200" y="4114800"/>
            <a:ext cx="8229600" cy="2286000"/>
          </a:xfrm>
          <a:prstGeom prst="rect">
            <a:avLst/>
          </a:prstGeom>
          <a:noFill/>
          <a:ln/>
        </p:spPr>
        <p:txBody>
          <a:bodyPr wrap="square" lIns="0" tIns="0" rIns="0" bIns="0" rtlCol="0" anchor="t"/>
          <a:lstStyle/>
          <a:p>
            <a:pPr rtl="1" algn="r" indent="0" marL="0">
              <a:spcAft>
                <a:spcPts val="500"/>
              </a:spcAft>
              <a:buNone/>
            </a:pPr>
            <a:r>
              <a:rPr lang="he-IL" altLang="en-US" sz="1700" b="1" dirty="0">
                <a:solidFill>
                  <a:schemeClr val="tx1"/>
                </a:solidFill>
              </a:rPr>
              <a:t>למה?</a:t>
            </a:r>
            <a:endParaRPr lang="he-IL" sz="1700" dirty="0"/>
          </a:p>
          <a:p>
            <a:pPr rtl="1" algn="r" indent="0" marL="0">
              <a:spcAft>
                <a:spcPts val="500"/>
              </a:spcAft>
              <a:buNone/>
            </a:pPr>
            <a:r>
              <a:rPr lang="he-IL" altLang="en-US" sz="1600" dirty="0">
                <a:solidFill>
                  <a:schemeClr val="tx1"/>
                </a:solidFill>
              </a:rPr>
              <a:t>במקרה הגרוע, למשל 11...1 ועוד 1, נשא שנוצר בביט 0 עובר דרך כל המחברים עד הביט העליון, וכל מחבר מוסיף השהיה. לכן הזמן גדל עם מספר הביטים, וחיבור גדול נכשל בשעון שבו חיבור קטן עוד מספיק: זו החידה, וראינו אותה בחוגת המהירות. מחבר עם הצצה קדימה מחשב את הנשאים במקביל, וההשהיה שלו גדלה רק כמו הלוגריתם של מספר הביטים.</a:t>
            </a:r>
            <a:endParaRPr lang="he-IL" sz="17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שבוע 10 · </a:t>
            </a:r>
            <a:r>
              <a:rPr lang="en-US" altLang="en-US" sz="1400" dirty="0">
                <a:solidFill>
                  <a:schemeClr val="bg1"/>
                </a:solidFill>
              </a:rPr>
              <a:t>ALU</a:t>
            </a:r>
            <a:r>
              <a:rPr lang="he-IL" altLang="en-US" sz="1400" dirty="0">
                <a:solidFill>
                  <a:schemeClr val="bg1"/>
                </a:solidFill>
              </a:rPr>
              <a:t>, הזזות, כפל וחילוק</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en-US" altLang="en-US" sz="3000" b="1" dirty="0">
                <a:solidFill>
                  <a:schemeClr val="accent1"/>
                </a:solidFill>
              </a:rPr>
              <a:t>Arbel</a:t>
            </a:r>
            <a:r>
              <a:rPr lang="he-IL" altLang="en-US" sz="3000" b="1" dirty="0">
                <a:solidFill>
                  <a:schemeClr val="accent1"/>
                </a:solidFill>
              </a:rPr>
              <a:t>: גם במעבד, חילוק הוא תוספת</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10: </a:t>
            </a:r>
            <a:pPr algn="r" indent="0" marL="0">
              <a:buNone/>
            </a:pPr>
            <a:r>
              <a:rPr lang="he-IL" altLang="en-US" sz="1400" dirty="0">
                <a:solidFill>
                  <a:schemeClr val="tx1"/>
                </a:solidFill>
              </a:rPr>
              <a:t>חלוקה ב 8 רק מזיזה את הנורות, וחלוקה ב 6 מערבבת אותן. למה חילוק יקר?</a:t>
            </a:r>
            <a:endParaRPr lang="he-IL" sz="1400" dirty="0"/>
          </a:p>
        </p:txBody>
      </p:sp>
      <p:sp>
        <p:nvSpPr>
          <p:cNvPr id="6" name="what happened"/>
          <p:cNvSpPr txBox="1"/>
          <p:nvPr/>
        </p:nvSpPr>
        <p:spPr>
          <a:xfrm>
            <a:off x="3200400" y="2011680"/>
            <a:ext cx="5486400" cy="2148840"/>
          </a:xfrm>
          <a:prstGeom prst="rect">
            <a:avLst/>
          </a:prstGeom>
          <a:noFill/>
          <a:ln/>
        </p:spPr>
        <p:txBody>
          <a:bodyPr wrap="square" lIns="0" tIns="0" rIns="0" bIns="0" rtlCol="0" anchor="t"/>
          <a:lstStyle/>
          <a:p>
            <a:pPr rtl="1" algn="r" indent="0" marL="0">
              <a:spcAft>
                <a:spcPts val="400"/>
              </a:spcAft>
              <a:buNone/>
            </a:pPr>
            <a:r>
              <a:rPr lang="he-IL" altLang="en-US" sz="1700" b="1" dirty="0">
                <a:solidFill>
                  <a:schemeClr val="tx1"/>
                </a:solidFill>
              </a:rPr>
              <a:t>מה קרה?</a:t>
            </a:r>
            <a:endParaRPr lang="he-IL" sz="1700" dirty="0"/>
          </a:p>
          <a:p>
            <a:pPr rtl="1" algn="r" indent="0" marL="0">
              <a:spcAft>
                <a:spcPts val="400"/>
              </a:spcAft>
              <a:buNone/>
            </a:pPr>
            <a:r>
              <a:rPr lang="he-IL" altLang="en-US" sz="1400" dirty="0">
                <a:solidFill>
                  <a:schemeClr val="tx1"/>
                </a:solidFill>
              </a:rPr>
              <a:t>ביוני 2026 הודיעה </a:t>
            </a:r>
            <a:r>
              <a:rPr lang="en-US" altLang="en-US" sz="1400" dirty="0">
                <a:solidFill>
                  <a:schemeClr val="tx1"/>
                </a:solidFill>
              </a:rPr>
              <a:t>NextSilicon</a:t>
            </a:r>
            <a:r>
              <a:rPr lang="he-IL" altLang="en-US" sz="1400" dirty="0">
                <a:solidFill>
                  <a:schemeClr val="tx1"/>
                </a:solidFill>
              </a:rPr>
              <a:t> שתהפוך את ליבת ה </a:t>
            </a:r>
            <a:r>
              <a:rPr lang="en-US" altLang="en-US" sz="1400" dirty="0">
                <a:solidFill>
                  <a:schemeClr val="tx1"/>
                </a:solidFill>
              </a:rPr>
              <a:t>RISC-V</a:t>
            </a:r>
            <a:r>
              <a:rPr lang="he-IL" altLang="en-US" sz="1400" dirty="0">
                <a:solidFill>
                  <a:schemeClr val="tx1"/>
                </a:solidFill>
              </a:rPr>
              <a:t> שלה, </a:t>
            </a:r>
            <a:r>
              <a:rPr lang="en-US" altLang="en-US" sz="1400" dirty="0">
                <a:solidFill>
                  <a:schemeClr val="tx1"/>
                </a:solidFill>
              </a:rPr>
              <a:t>Arbel</a:t>
            </a:r>
            <a:r>
              <a:rPr lang="he-IL" altLang="en-US" sz="1400" dirty="0">
                <a:solidFill>
                  <a:schemeClr val="tx1"/>
                </a:solidFill>
              </a:rPr>
              <a:t>, למעבד שרתים של 64 או 128 ליבות. כל ליבה מבצעת עד 10 פקודות במחזור שעון, ב 3.4 גיגה הרץ. המעבד צפוי ב 2028.</a:t>
            </a:r>
            <a:endParaRPr lang="he-IL" sz="1700" dirty="0"/>
          </a:p>
        </p:txBody>
      </p:sp>
      <p:sp>
        <p:nvSpPr>
          <p:cNvPr id="7" name="stat card"/>
          <p:cNvSpPr/>
          <p:nvPr/>
        </p:nvSpPr>
        <p:spPr>
          <a:xfrm>
            <a:off x="457200" y="2057400"/>
            <a:ext cx="2514600" cy="2057400"/>
          </a:xfrm>
          <a:prstGeom prst="roundRect">
            <a:avLst>
              <a:gd name="adj" fmla="val 5333"/>
            </a:avLst>
          </a:prstGeom>
          <a:solidFill>
            <a:schemeClr val="tx2"/>
          </a:solidFill>
          <a:ln/>
        </p:spPr>
      </p:sp>
      <p:sp>
        <p:nvSpPr>
          <p:cNvPr id="8" name="stat"/>
          <p:cNvSpPr txBox="1"/>
          <p:nvPr/>
        </p:nvSpPr>
        <p:spPr>
          <a:xfrm>
            <a:off x="548640" y="2148840"/>
            <a:ext cx="2331720" cy="1051560"/>
          </a:xfrm>
          <a:prstGeom prst="rect">
            <a:avLst/>
          </a:prstGeom>
          <a:noFill/>
          <a:ln/>
        </p:spPr>
        <p:txBody>
          <a:bodyPr wrap="square" rtlCol="0" anchor="ctr"/>
          <a:lstStyle/>
          <a:p>
            <a:pPr algn="ctr" indent="0" marL="0">
              <a:buNone/>
            </a:pPr>
            <a:r>
              <a:rPr lang="en-US" sz="4000" b="1" dirty="0">
                <a:solidFill>
                  <a:schemeClr val="accent1"/>
                </a:solidFill>
              </a:rPr>
              <a:t>10</a:t>
            </a:r>
            <a:endParaRPr lang="en-US" sz="4000" dirty="0"/>
          </a:p>
        </p:txBody>
      </p:sp>
      <p:sp>
        <p:nvSpPr>
          <p:cNvPr id="9" name="stat label"/>
          <p:cNvSpPr txBox="1"/>
          <p:nvPr/>
        </p:nvSpPr>
        <p:spPr>
          <a:xfrm>
            <a:off x="594360" y="3200400"/>
            <a:ext cx="2240280" cy="822960"/>
          </a:xfrm>
          <a:prstGeom prst="rect">
            <a:avLst/>
          </a:prstGeom>
          <a:noFill/>
          <a:ln/>
        </p:spPr>
        <p:txBody>
          <a:bodyPr wrap="square" rtlCol="0" anchor="t"/>
          <a:lstStyle/>
          <a:p>
            <a:pPr rtl="1" algn="ctr" indent="0" marL="0">
              <a:buNone/>
            </a:pPr>
            <a:r>
              <a:rPr lang="he-IL" altLang="en-US" sz="1200" dirty="0">
                <a:solidFill>
                  <a:schemeClr val="bg1"/>
                </a:solidFill>
              </a:rPr>
              <a:t>פקודות במחזור שעון, בכל ליבה</a:t>
            </a:r>
            <a:endParaRPr lang="he-IL" sz="1200" dirty="0"/>
          </a:p>
        </p:txBody>
      </p:sp>
      <p:sp>
        <p:nvSpPr>
          <p:cNvPr id="10" name="link card"/>
          <p:cNvSpPr/>
          <p:nvPr/>
        </p:nvSpPr>
        <p:spPr>
          <a:xfrm>
            <a:off x="457200" y="4297680"/>
            <a:ext cx="8229600" cy="2011680"/>
          </a:xfrm>
          <a:prstGeom prst="roundRect">
            <a:avLst>
              <a:gd name="adj" fmla="val 5455"/>
            </a:avLst>
          </a:prstGeom>
          <a:solidFill>
            <a:schemeClr val="bg2"/>
          </a:solidFill>
          <a:ln/>
        </p:spPr>
      </p:sp>
      <p:sp>
        <p:nvSpPr>
          <p:cNvPr id="11" name="link text"/>
          <p:cNvSpPr txBox="1"/>
          <p:nvPr/>
        </p:nvSpPr>
        <p:spPr>
          <a:xfrm>
            <a:off x="685800" y="4389120"/>
            <a:ext cx="7772400" cy="1828800"/>
          </a:xfrm>
          <a:prstGeom prst="rect">
            <a:avLst/>
          </a:prstGeom>
          <a:noFill/>
          <a:ln/>
        </p:spPr>
        <p:txBody>
          <a:bodyPr wrap="square" lIns="0" tIns="0" rIns="0" bIns="0" rtlCol="0" anchor="t"/>
          <a:lstStyle/>
          <a:p>
            <a:pPr rtl="1" algn="r" indent="0" marL="0">
              <a:spcAft>
                <a:spcPts val="500"/>
              </a:spcAft>
              <a:buNone/>
            </a:pPr>
            <a:r>
              <a:rPr lang="he-IL" altLang="en-US" sz="1500" b="1" dirty="0">
                <a:solidFill>
                  <a:schemeClr val="tx1"/>
                </a:solidFill>
              </a:rPr>
              <a:t>ומה זה קשור לשבוע 10?</a:t>
            </a:r>
            <a:endParaRPr lang="he-IL" sz="1500" dirty="0"/>
          </a:p>
          <a:p>
            <a:pPr rtl="1" algn="r" indent="0" marL="0">
              <a:spcAft>
                <a:spcPts val="500"/>
              </a:spcAft>
              <a:buNone/>
            </a:pPr>
            <a:r>
              <a:rPr lang="he-IL" altLang="en-US" sz="1400" dirty="0">
                <a:solidFill>
                  <a:schemeClr val="tx1"/>
                </a:solidFill>
              </a:rPr>
              <a:t>השבוע: </a:t>
            </a:r>
            <a:r>
              <a:rPr lang="en-US" altLang="en-US" sz="1400" dirty="0">
                <a:solidFill>
                  <a:schemeClr val="tx1"/>
                </a:solidFill>
              </a:rPr>
              <a:t>ALU</a:t>
            </a:r>
            <a:r>
              <a:rPr lang="he-IL" altLang="en-US" sz="1400" dirty="0">
                <a:solidFill>
                  <a:schemeClr val="tx1"/>
                </a:solidFill>
              </a:rPr>
              <a:t>, הזזות, כפל וחילוק. בבסיס של </a:t>
            </a:r>
            <a:r>
              <a:rPr lang="en-US" altLang="en-US" sz="1400" dirty="0">
                <a:solidFill>
                  <a:schemeClr val="tx1"/>
                </a:solidFill>
              </a:rPr>
              <a:t>RISC-V</a:t>
            </a:r>
            <a:r>
              <a:rPr lang="he-IL" altLang="en-US" sz="1400" dirty="0">
                <a:solidFill>
                  <a:schemeClr val="tx1"/>
                </a:solidFill>
              </a:rPr>
              <a:t> אין בכלל פקודת כפל או חילוק: הן בהרחבה נפרדת (</a:t>
            </a:r>
            <a:r>
              <a:rPr lang="en-US" altLang="en-US" sz="1400" dirty="0">
                <a:solidFill>
                  <a:schemeClr val="tx1"/>
                </a:solidFill>
              </a:rPr>
              <a:t>M</a:t>
            </a:r>
            <a:r>
              <a:rPr lang="he-IL" altLang="en-US" sz="1400" dirty="0">
                <a:solidFill>
                  <a:schemeClr val="tx1"/>
                </a:solidFill>
              </a:rPr>
              <a:t>). מעבד קטן יכול לוותר עליהן ולחלק בתוכנה, כי מעגל חילוק תופס הרבה שטח ולוקח הרבה זמן.</a:t>
            </a:r>
            <a:endParaRPr lang="he-IL" sz="1500" dirty="0"/>
          </a:p>
          <a:p>
            <a:pPr rtl="1" algn="r" indent="0" marL="0">
              <a:spcAft>
                <a:spcPts val="500"/>
              </a:spcAft>
              <a:buNone/>
            </a:pPr>
            <a:r>
              <a:rPr lang="he-IL" altLang="en-US" sz="1400" b="1" dirty="0">
                <a:solidFill>
                  <a:schemeClr val="tx1"/>
                </a:solidFill>
              </a:rPr>
              <a:t>שאלה: </a:t>
            </a:r>
            <a:pPr algn="r" indent="0" marL="0">
              <a:spcAft>
                <a:spcPts val="500"/>
              </a:spcAft>
              <a:buNone/>
            </a:pPr>
            <a:r>
              <a:rPr lang="he-IL" altLang="en-US" sz="1500" dirty="0">
                <a:solidFill>
                  <a:schemeClr val="tx1"/>
                </a:solidFill>
              </a:rPr>
              <a:t>למה חילוק ב 8 הוא רק הזזה של 3 ביטים, וחילוק ב 6 לא?</a:t>
            </a:r>
            <a:endParaRPr lang="he-IL" sz="1500" dirty="0"/>
          </a:p>
        </p:txBody>
      </p:sp>
      <p:sp>
        <p:nvSpPr>
          <p:cNvPr id="12" name="source">
            <a:hlinkClick r:id="rId1" tooltip=""/>
          </p:cNvPr>
          <p:cNvSpPr txBox="1"/>
          <p:nvPr/>
        </p:nvSpPr>
        <p:spPr>
          <a:xfrm>
            <a:off x="457200" y="6382512"/>
            <a:ext cx="7772400" cy="274320"/>
          </a:xfrm>
          <a:prstGeom prst="rect">
            <a:avLst/>
          </a:prstGeom>
          <a:noFill/>
          <a:ln/>
        </p:spPr>
        <p:txBody>
          <a:bodyPr wrap="square" lIns="0" tIns="0" rIns="0" bIns="0" rtlCol="0" anchor="ctr"/>
          <a:lstStyle/>
          <a:p>
            <a:pPr algn="l" indent="0" marL="0">
              <a:buNone/>
            </a:pPr>
            <a:r>
              <a:rPr lang="en-US" sz="8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https://www.nextsilicon.com/insights/nextsilicon-productize-arbel-risc-v-core-into-64core-enterprise-processor-for-ai-hpc/</a:t>
            </a:r>
            <a:endParaRPr lang="en-US" sz="8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תשובה לשאלה של שבוע 10 · </a:t>
            </a:r>
            <a:r>
              <a:rPr lang="en-US" altLang="en-US" sz="1400" dirty="0">
                <a:solidFill>
                  <a:schemeClr val="bg1"/>
                </a:solidFill>
              </a:rPr>
              <a:t>NextSilicon</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he-IL" altLang="en-US" sz="3000" b="1" dirty="0">
                <a:solidFill>
                  <a:schemeClr val="accent1"/>
                </a:solidFill>
              </a:rPr>
              <a:t>השאלה מהשבוע שעבר</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10: </a:t>
            </a:r>
            <a:pPr algn="r" indent="0" marL="0">
              <a:buNone/>
            </a:pPr>
            <a:r>
              <a:rPr lang="he-IL" altLang="en-US" sz="1400" dirty="0">
                <a:solidFill>
                  <a:schemeClr val="tx1"/>
                </a:solidFill>
              </a:rPr>
              <a:t>חלוקה ב 8 רק מזיזה את הנורות, וחלוקה ב 6 מערבבת אותן. למה חילוק יקר?</a:t>
            </a:r>
            <a:endParaRPr lang="he-IL" sz="1400" dirty="0"/>
          </a:p>
        </p:txBody>
      </p:sp>
      <p:sp>
        <p:nvSpPr>
          <p:cNvPr id="6" name="question card"/>
          <p:cNvSpPr/>
          <p:nvPr/>
        </p:nvSpPr>
        <p:spPr>
          <a:xfrm>
            <a:off x="457200" y="2011680"/>
            <a:ext cx="8229600" cy="868680"/>
          </a:xfrm>
          <a:prstGeom prst="roundRect">
            <a:avLst>
              <a:gd name="adj" fmla="val 12632"/>
            </a:avLst>
          </a:prstGeom>
          <a:solidFill>
            <a:schemeClr val="bg2"/>
          </a:solidFill>
          <a:ln/>
        </p:spPr>
      </p:sp>
      <p:sp>
        <p:nvSpPr>
          <p:cNvPr id="7" name="question"/>
          <p:cNvSpPr txBox="1"/>
          <p:nvPr/>
        </p:nvSpPr>
        <p:spPr>
          <a:xfrm>
            <a:off x="685800" y="2011680"/>
            <a:ext cx="7772400" cy="868680"/>
          </a:xfrm>
          <a:prstGeom prst="rect">
            <a:avLst/>
          </a:prstGeom>
          <a:noFill/>
          <a:ln/>
        </p:spPr>
        <p:txBody>
          <a:bodyPr wrap="square" lIns="0" tIns="0" rIns="0" bIns="0" rtlCol="0" anchor="ctr"/>
          <a:lstStyle/>
          <a:p>
            <a:pPr rtl="1" algn="r" indent="0" marL="0">
              <a:buNone/>
            </a:pPr>
            <a:r>
              <a:rPr lang="he-IL" altLang="en-US" sz="1600" b="1" dirty="0">
                <a:solidFill>
                  <a:schemeClr val="tx1"/>
                </a:solidFill>
              </a:rPr>
              <a:t>שאלה: </a:t>
            </a:r>
            <a:pPr algn="r" indent="0" marL="0">
              <a:buNone/>
            </a:pPr>
            <a:r>
              <a:rPr lang="he-IL" altLang="en-US" sz="1600" dirty="0">
                <a:solidFill>
                  <a:schemeClr val="tx1"/>
                </a:solidFill>
              </a:rPr>
              <a:t>למה חילוק ב 8 הוא רק הזזה של 3 ביטים, וחילוק ב 6 לא?</a:t>
            </a:r>
            <a:endParaRPr lang="he-IL" sz="1600" dirty="0"/>
          </a:p>
        </p:txBody>
      </p:sp>
      <p:sp>
        <p:nvSpPr>
          <p:cNvPr id="8" name="answer card"/>
          <p:cNvSpPr/>
          <p:nvPr/>
        </p:nvSpPr>
        <p:spPr>
          <a:xfrm>
            <a:off x="457200" y="3017520"/>
            <a:ext cx="8229600" cy="914400"/>
          </a:xfrm>
          <a:prstGeom prst="roundRect">
            <a:avLst>
              <a:gd name="adj" fmla="val 12000"/>
            </a:avLst>
          </a:prstGeom>
          <a:solidFill>
            <a:schemeClr val="tx2"/>
          </a:solidFill>
          <a:ln/>
        </p:spPr>
      </p:sp>
      <p:sp>
        <p:nvSpPr>
          <p:cNvPr id="9" name="answer"/>
          <p:cNvSpPr txBox="1"/>
          <p:nvPr/>
        </p:nvSpPr>
        <p:spPr>
          <a:xfrm>
            <a:off x="685800" y="3017520"/>
            <a:ext cx="7772400" cy="914400"/>
          </a:xfrm>
          <a:prstGeom prst="rect">
            <a:avLst/>
          </a:prstGeom>
          <a:noFill/>
          <a:ln/>
        </p:spPr>
        <p:txBody>
          <a:bodyPr wrap="square" lIns="0" tIns="0" rIns="0" bIns="0" rtlCol="0" anchor="ctr"/>
          <a:lstStyle/>
          <a:p>
            <a:pPr rtl="1" algn="r" indent="0" marL="0">
              <a:buNone/>
            </a:pPr>
            <a:r>
              <a:rPr lang="he-IL" altLang="en-US" sz="1700" b="1" dirty="0">
                <a:solidFill>
                  <a:schemeClr val="accent1"/>
                </a:solidFill>
              </a:rPr>
              <a:t>תשובה: </a:t>
            </a:r>
            <a:pPr algn="r" indent="0" marL="0">
              <a:buNone/>
            </a:pPr>
            <a:r>
              <a:rPr lang="he-IL" altLang="en-US" sz="1700" dirty="0">
                <a:solidFill>
                  <a:schemeClr val="accent1"/>
                </a:solidFill>
              </a:rPr>
              <a:t>כי 8 הוא 2 בחזקת 3, ו 6 אינו חזקה של 2.</a:t>
            </a:r>
            <a:endParaRPr lang="he-IL" sz="1700" dirty="0"/>
          </a:p>
        </p:txBody>
      </p:sp>
      <p:sp>
        <p:nvSpPr>
          <p:cNvPr id="10" name="why"/>
          <p:cNvSpPr txBox="1"/>
          <p:nvPr/>
        </p:nvSpPr>
        <p:spPr>
          <a:xfrm>
            <a:off x="457200" y="4114800"/>
            <a:ext cx="8229600" cy="2286000"/>
          </a:xfrm>
          <a:prstGeom prst="rect">
            <a:avLst/>
          </a:prstGeom>
          <a:noFill/>
          <a:ln/>
        </p:spPr>
        <p:txBody>
          <a:bodyPr wrap="square" lIns="0" tIns="0" rIns="0" bIns="0" rtlCol="0" anchor="t"/>
          <a:lstStyle/>
          <a:p>
            <a:pPr rtl="1" algn="r" indent="0" marL="0">
              <a:spcAft>
                <a:spcPts val="500"/>
              </a:spcAft>
              <a:buNone/>
            </a:pPr>
            <a:r>
              <a:rPr lang="he-IL" altLang="en-US" sz="1700" b="1" dirty="0">
                <a:solidFill>
                  <a:schemeClr val="tx1"/>
                </a:solidFill>
              </a:rPr>
              <a:t>למה?</a:t>
            </a:r>
            <a:endParaRPr lang="he-IL" sz="1700" dirty="0"/>
          </a:p>
          <a:p>
            <a:pPr rtl="1" algn="r" indent="0" marL="0">
              <a:spcAft>
                <a:spcPts val="500"/>
              </a:spcAft>
              <a:buNone/>
            </a:pPr>
            <a:r>
              <a:rPr lang="he-IL" altLang="en-US" sz="1600" dirty="0">
                <a:solidFill>
                  <a:schemeClr val="tx1"/>
                </a:solidFill>
              </a:rPr>
              <a:t>הזזה ימינה בביט אחד היא חילוק ב 2, כמו שמחיקת הספרה האחרונה במספר עשרוני היא חילוק ב 10. לכן חילוק ב 8 הוא רק חיווט: הביטים זזים 3 מקומות, בלי אף שער. חילוק ב 6 דורש לחסר ולהשוות שוב ושוב, ביט אחרי ביט, כמו חילוק ארוך. זו החידה, ולכן </a:t>
            </a:r>
            <a:r>
              <a:rPr lang="en-US" altLang="en-US" sz="1600" dirty="0">
                <a:solidFill>
                  <a:schemeClr val="tx1"/>
                </a:solidFill>
              </a:rPr>
              <a:t>RISC-V</a:t>
            </a:r>
            <a:r>
              <a:rPr lang="he-IL" altLang="en-US" sz="1600" dirty="0">
                <a:solidFill>
                  <a:schemeClr val="tx1"/>
                </a:solidFill>
              </a:rPr>
              <a:t> שם את החילוק בהרחבה שמעבד קטן יכול לוותר עליה.</a:t>
            </a:r>
            <a:endParaRPr lang="he-IL" sz="17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שבוע 11 · נקודה קבועה וצפה, מונים ואוגרי הזזה, זיכרונות</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en-US" altLang="en-US" sz="3000" b="1" dirty="0">
                <a:solidFill>
                  <a:schemeClr val="accent1"/>
                </a:solidFill>
              </a:rPr>
              <a:t>DustPhotonics</a:t>
            </a:r>
            <a:r>
              <a:rPr lang="he-IL" altLang="en-US" sz="3000" b="1" dirty="0">
                <a:solidFill>
                  <a:schemeClr val="accent1"/>
                </a:solidFill>
              </a:rPr>
              <a:t>: ביטים באור</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11: </a:t>
            </a:r>
            <a:pPr algn="r" indent="0" marL="0">
              <a:buNone/>
            </a:pPr>
            <a:r>
              <a:rPr lang="he-IL" altLang="en-US" sz="1400" dirty="0">
                <a:solidFill>
                  <a:schemeClr val="tx1"/>
                </a:solidFill>
              </a:rPr>
              <a:t>10 כפול 0.1 יוצא 0.976, אבל 4 כפול 0.25 יוצא בדיוק 1. למה?</a:t>
            </a:r>
            <a:endParaRPr lang="he-IL" sz="1400" dirty="0"/>
          </a:p>
        </p:txBody>
      </p:sp>
      <p:sp>
        <p:nvSpPr>
          <p:cNvPr id="6" name="what happened"/>
          <p:cNvSpPr txBox="1"/>
          <p:nvPr/>
        </p:nvSpPr>
        <p:spPr>
          <a:xfrm>
            <a:off x="3200400" y="2011680"/>
            <a:ext cx="5486400" cy="2148840"/>
          </a:xfrm>
          <a:prstGeom prst="rect">
            <a:avLst/>
          </a:prstGeom>
          <a:noFill/>
          <a:ln/>
        </p:spPr>
        <p:txBody>
          <a:bodyPr wrap="square" lIns="0" tIns="0" rIns="0" bIns="0" rtlCol="0" anchor="t"/>
          <a:lstStyle/>
          <a:p>
            <a:pPr rtl="1" algn="r" indent="0" marL="0">
              <a:spcAft>
                <a:spcPts val="400"/>
              </a:spcAft>
              <a:buNone/>
            </a:pPr>
            <a:r>
              <a:rPr lang="he-IL" altLang="en-US" sz="1700" b="1" dirty="0">
                <a:solidFill>
                  <a:schemeClr val="tx1"/>
                </a:solidFill>
              </a:rPr>
              <a:t>מה קרה?</a:t>
            </a:r>
            <a:endParaRPr lang="he-IL" sz="1700" dirty="0"/>
          </a:p>
          <a:p>
            <a:pPr rtl="1" algn="r" indent="0" marL="0">
              <a:spcAft>
                <a:spcPts val="400"/>
              </a:spcAft>
              <a:buNone/>
            </a:pPr>
            <a:r>
              <a:rPr lang="en-US" altLang="en-US" sz="1400" dirty="0">
                <a:solidFill>
                  <a:schemeClr val="tx1"/>
                </a:solidFill>
              </a:rPr>
              <a:t>Credo</a:t>
            </a:r>
            <a:r>
              <a:rPr lang="he-IL" altLang="en-US" sz="1400" dirty="0">
                <a:solidFill>
                  <a:schemeClr val="tx1"/>
                </a:solidFill>
              </a:rPr>
              <a:t> השלימה במאי 2026 את רכישת </a:t>
            </a:r>
            <a:r>
              <a:rPr lang="en-US" altLang="en-US" sz="1400" dirty="0">
                <a:solidFill>
                  <a:schemeClr val="tx1"/>
                </a:solidFill>
              </a:rPr>
              <a:t>DustPhotonics</a:t>
            </a:r>
            <a:r>
              <a:rPr lang="he-IL" altLang="en-US" sz="1400" dirty="0">
                <a:solidFill>
                  <a:schemeClr val="tx1"/>
                </a:solidFill>
              </a:rPr>
              <a:t> הישראלית, שמפתחת שבבי סיליקון פוטוניקה: שבבים שהופכים אותות חשמליים לאור, במשדרים אופטיים של 800 גיגה עד 1.6 טרה ביט בשנייה במרכזי נתונים.</a:t>
            </a:r>
            <a:endParaRPr lang="he-IL" sz="1700" dirty="0"/>
          </a:p>
        </p:txBody>
      </p:sp>
      <p:sp>
        <p:nvSpPr>
          <p:cNvPr id="7" name="stat card"/>
          <p:cNvSpPr/>
          <p:nvPr/>
        </p:nvSpPr>
        <p:spPr>
          <a:xfrm>
            <a:off x="457200" y="2057400"/>
            <a:ext cx="2514600" cy="2057400"/>
          </a:xfrm>
          <a:prstGeom prst="roundRect">
            <a:avLst>
              <a:gd name="adj" fmla="val 5333"/>
            </a:avLst>
          </a:prstGeom>
          <a:solidFill>
            <a:schemeClr val="tx2"/>
          </a:solidFill>
          <a:ln/>
        </p:spPr>
      </p:sp>
      <p:sp>
        <p:nvSpPr>
          <p:cNvPr id="8" name="stat"/>
          <p:cNvSpPr txBox="1"/>
          <p:nvPr/>
        </p:nvSpPr>
        <p:spPr>
          <a:xfrm>
            <a:off x="548640" y="2148840"/>
            <a:ext cx="2331720" cy="1051560"/>
          </a:xfrm>
          <a:prstGeom prst="rect">
            <a:avLst/>
          </a:prstGeom>
          <a:noFill/>
          <a:ln/>
        </p:spPr>
        <p:txBody>
          <a:bodyPr wrap="square" rtlCol="0" anchor="ctr"/>
          <a:lstStyle/>
          <a:p>
            <a:pPr algn="ctr" indent="0" marL="0">
              <a:buNone/>
            </a:pPr>
            <a:r>
              <a:rPr lang="en-US" sz="4000" b="1" dirty="0">
                <a:solidFill>
                  <a:schemeClr val="accent1"/>
                </a:solidFill>
              </a:rPr>
              <a:t>1.6T</a:t>
            </a:r>
            <a:endParaRPr lang="en-US" sz="4000" dirty="0"/>
          </a:p>
        </p:txBody>
      </p:sp>
      <p:sp>
        <p:nvSpPr>
          <p:cNvPr id="9" name="stat label"/>
          <p:cNvSpPr txBox="1"/>
          <p:nvPr/>
        </p:nvSpPr>
        <p:spPr>
          <a:xfrm>
            <a:off x="594360" y="3200400"/>
            <a:ext cx="2240280" cy="822960"/>
          </a:xfrm>
          <a:prstGeom prst="rect">
            <a:avLst/>
          </a:prstGeom>
          <a:noFill/>
          <a:ln/>
        </p:spPr>
        <p:txBody>
          <a:bodyPr wrap="square" rtlCol="0" anchor="t"/>
          <a:lstStyle/>
          <a:p>
            <a:pPr rtl="1" algn="ctr" indent="0" marL="0">
              <a:buNone/>
            </a:pPr>
            <a:r>
              <a:rPr lang="he-IL" altLang="en-US" sz="1200" dirty="0">
                <a:solidFill>
                  <a:schemeClr val="bg1"/>
                </a:solidFill>
              </a:rPr>
              <a:t>ביט בשנייה במשדר אחד</a:t>
            </a:r>
            <a:endParaRPr lang="he-IL" sz="1200" dirty="0"/>
          </a:p>
        </p:txBody>
      </p:sp>
      <p:sp>
        <p:nvSpPr>
          <p:cNvPr id="10" name="link card"/>
          <p:cNvSpPr/>
          <p:nvPr/>
        </p:nvSpPr>
        <p:spPr>
          <a:xfrm>
            <a:off x="457200" y="4297680"/>
            <a:ext cx="8229600" cy="2011680"/>
          </a:xfrm>
          <a:prstGeom prst="roundRect">
            <a:avLst>
              <a:gd name="adj" fmla="val 5455"/>
            </a:avLst>
          </a:prstGeom>
          <a:solidFill>
            <a:schemeClr val="bg2"/>
          </a:solidFill>
          <a:ln/>
        </p:spPr>
      </p:sp>
      <p:sp>
        <p:nvSpPr>
          <p:cNvPr id="11" name="link text"/>
          <p:cNvSpPr txBox="1"/>
          <p:nvPr/>
        </p:nvSpPr>
        <p:spPr>
          <a:xfrm>
            <a:off x="685800" y="4389120"/>
            <a:ext cx="7772400" cy="1828800"/>
          </a:xfrm>
          <a:prstGeom prst="rect">
            <a:avLst/>
          </a:prstGeom>
          <a:noFill/>
          <a:ln/>
        </p:spPr>
        <p:txBody>
          <a:bodyPr wrap="square" lIns="0" tIns="0" rIns="0" bIns="0" rtlCol="0" anchor="t"/>
          <a:lstStyle/>
          <a:p>
            <a:pPr rtl="1" algn="r" indent="0" marL="0">
              <a:spcAft>
                <a:spcPts val="500"/>
              </a:spcAft>
              <a:buNone/>
            </a:pPr>
            <a:r>
              <a:rPr lang="he-IL" altLang="en-US" sz="1500" b="1" dirty="0">
                <a:solidFill>
                  <a:schemeClr val="tx1"/>
                </a:solidFill>
              </a:rPr>
              <a:t>ומה זה קשור לשבוע 11?</a:t>
            </a:r>
            <a:endParaRPr lang="he-IL" sz="1500" dirty="0"/>
          </a:p>
          <a:p>
            <a:pPr rtl="1" algn="r" indent="0" marL="0">
              <a:spcAft>
                <a:spcPts val="500"/>
              </a:spcAft>
              <a:buNone/>
            </a:pPr>
            <a:r>
              <a:rPr lang="he-IL" altLang="en-US" sz="1400" dirty="0">
                <a:solidFill>
                  <a:schemeClr val="tx1"/>
                </a:solidFill>
              </a:rPr>
              <a:t>השבוע: מונים ואוגרי הזזה. סיב אופטי מעביר ביט אחרי ביט, והשבב עובד על מילים שלמות. אוגר הזזה הוא הגשר: הוא טוען מילה שלמה ומוציא אותה ביט אחרי ביט, ובצד השני להפך. ומהחידה של השבוע, על נקודה קבועה:</a:t>
            </a:r>
            <a:endParaRPr lang="he-IL" sz="1500" dirty="0"/>
          </a:p>
          <a:p>
            <a:pPr rtl="1" algn="r" indent="0" marL="0">
              <a:spcAft>
                <a:spcPts val="500"/>
              </a:spcAft>
              <a:buNone/>
            </a:pPr>
            <a:r>
              <a:rPr lang="he-IL" altLang="en-US" sz="1400" b="1" dirty="0">
                <a:solidFill>
                  <a:schemeClr val="tx1"/>
                </a:solidFill>
              </a:rPr>
              <a:t>שאלה: </a:t>
            </a:r>
            <a:pPr algn="r" indent="0" marL="0">
              <a:spcAft>
                <a:spcPts val="500"/>
              </a:spcAft>
              <a:buNone/>
            </a:pPr>
            <a:r>
              <a:rPr lang="he-IL" altLang="en-US" sz="1500" dirty="0">
                <a:solidFill>
                  <a:schemeClr val="tx1"/>
                </a:solidFill>
              </a:rPr>
              <a:t>כמה ביטים אחרי הנקודה צריך כדי לכתוב בדיוק 0.25? ו 0.1?</a:t>
            </a:r>
            <a:endParaRPr lang="he-IL" sz="1500" dirty="0"/>
          </a:p>
        </p:txBody>
      </p:sp>
      <p:sp>
        <p:nvSpPr>
          <p:cNvPr id="12" name="source">
            <a:hlinkClick r:id="rId1" tooltip=""/>
          </p:cNvPr>
          <p:cNvSpPr txBox="1"/>
          <p:nvPr/>
        </p:nvSpPr>
        <p:spPr>
          <a:xfrm>
            <a:off x="457200" y="6382512"/>
            <a:ext cx="7772400" cy="274320"/>
          </a:xfrm>
          <a:prstGeom prst="rect">
            <a:avLst/>
          </a:prstGeom>
          <a:noFill/>
          <a:ln/>
        </p:spPr>
        <p:txBody>
          <a:bodyPr wrap="square" lIns="0" tIns="0" rIns="0" bIns="0" rtlCol="0" anchor="ctr"/>
          <a:lstStyle/>
          <a:p>
            <a:pPr algn="l" indent="0" marL="0">
              <a:buNone/>
            </a:pPr>
            <a:r>
              <a:rPr lang="en-US" sz="8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https://s205.q4cdn.com/511065572/files/doc_news/Credo-Completes-Acquisition-of-DustPhotonics-2026.pdf</a:t>
            </a:r>
            <a:endParaRPr lang="en-US" sz="8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457200" y="164592"/>
            <a:ext cx="8229600" cy="365760"/>
          </a:xfrm>
          <a:prstGeom prst="rect">
            <a:avLst/>
          </a:prstGeom>
          <a:noFill/>
          <a:ln/>
        </p:spPr>
        <p:txBody>
          <a:bodyPr wrap="square" lIns="0" tIns="0" rIns="0" bIns="0" rtlCol="0"/>
          <a:lstStyle/>
          <a:p>
            <a:pPr rtl="1" algn="r" indent="0" marL="0">
              <a:buNone/>
            </a:pPr>
            <a:r>
              <a:rPr lang="he-IL" altLang="en-US" sz="1400" dirty="0">
                <a:solidFill>
                  <a:schemeClr val="bg1"/>
                </a:solidFill>
              </a:rPr>
              <a:t>תשובה לשאלה של שבוע 11 · </a:t>
            </a:r>
            <a:r>
              <a:rPr lang="en-US" altLang="en-US" sz="1400" dirty="0">
                <a:solidFill>
                  <a:schemeClr val="bg1"/>
                </a:solidFill>
              </a:rPr>
              <a:t>DustPhotonics</a:t>
            </a:r>
            <a:endParaRPr lang="he-IL" sz="1400" dirty="0"/>
          </a:p>
        </p:txBody>
      </p:sp>
      <p:sp>
        <p:nvSpPr>
          <p:cNvPr id="3" name="Text 1"/>
          <p:cNvSpPr/>
          <p:nvPr>
            <p:ph idx="102" type="title" hasCustomPrompt="1"/>
          </p:nvPr>
        </p:nvSpPr>
        <p:spPr>
          <a:xfrm>
            <a:off x="457200" y="502920"/>
            <a:ext cx="8229600" cy="731520"/>
          </a:xfrm>
          <a:prstGeom prst="rect">
            <a:avLst/>
          </a:prstGeom>
          <a:noFill/>
          <a:ln/>
        </p:spPr>
        <p:txBody>
          <a:bodyPr wrap="square" lIns="0" tIns="0" rIns="0" bIns="0" rtlCol="0" anchor="ctr"/>
          <a:lstStyle/>
          <a:p>
            <a:pPr rtl="1" algn="r" indent="0" marL="0">
              <a:buNone/>
            </a:pPr>
            <a:r>
              <a:rPr lang="he-IL" altLang="en-US" sz="3000" b="1" dirty="0">
                <a:solidFill>
                  <a:schemeClr val="accent1"/>
                </a:solidFill>
              </a:rPr>
              <a:t>השאלה מהשבוע שעבר</a:t>
            </a:r>
            <a:endParaRPr lang="he-IL" sz="3000" dirty="0"/>
          </a:p>
        </p:txBody>
      </p:sp>
      <p:sp>
        <p:nvSpPr>
          <p:cNvPr id="4" name="riddle strip"/>
          <p:cNvSpPr/>
          <p:nvPr/>
        </p:nvSpPr>
        <p:spPr>
          <a:xfrm>
            <a:off x="0" y="1371600"/>
            <a:ext cx="9144000" cy="457200"/>
          </a:xfrm>
          <a:prstGeom prst="rect">
            <a:avLst/>
          </a:prstGeom>
          <a:solidFill>
            <a:schemeClr val="accent1"/>
          </a:solidFill>
          <a:ln/>
        </p:spPr>
      </p:sp>
      <p:sp>
        <p:nvSpPr>
          <p:cNvPr id="5" name="riddle"/>
          <p:cNvSpPr txBox="1"/>
          <p:nvPr/>
        </p:nvSpPr>
        <p:spPr>
          <a:xfrm>
            <a:off x="457200" y="1371600"/>
            <a:ext cx="8229600" cy="457200"/>
          </a:xfrm>
          <a:prstGeom prst="rect">
            <a:avLst/>
          </a:prstGeom>
          <a:noFill/>
          <a:ln/>
        </p:spPr>
        <p:txBody>
          <a:bodyPr wrap="square" lIns="0" tIns="0" rIns="0" bIns="0" rtlCol="0" anchor="ctr"/>
          <a:lstStyle/>
          <a:p>
            <a:pPr rtl="1" algn="r" indent="0" marL="0">
              <a:buNone/>
            </a:pPr>
            <a:r>
              <a:rPr lang="he-IL" altLang="en-US" sz="1400" b="1" dirty="0">
                <a:solidFill>
                  <a:schemeClr val="tx1"/>
                </a:solidFill>
              </a:rPr>
              <a:t>החידה של שבוע 11: </a:t>
            </a:r>
            <a:pPr algn="r" indent="0" marL="0">
              <a:buNone/>
            </a:pPr>
            <a:r>
              <a:rPr lang="he-IL" altLang="en-US" sz="1400" dirty="0">
                <a:solidFill>
                  <a:schemeClr val="tx1"/>
                </a:solidFill>
              </a:rPr>
              <a:t>10 כפול 0.1 יוצא 0.976, אבל 4 כפול 0.25 יוצא בדיוק 1. למה?</a:t>
            </a:r>
            <a:endParaRPr lang="he-IL" sz="1400" dirty="0"/>
          </a:p>
        </p:txBody>
      </p:sp>
      <p:sp>
        <p:nvSpPr>
          <p:cNvPr id="6" name="question card"/>
          <p:cNvSpPr/>
          <p:nvPr/>
        </p:nvSpPr>
        <p:spPr>
          <a:xfrm>
            <a:off x="457200" y="2011680"/>
            <a:ext cx="8229600" cy="868680"/>
          </a:xfrm>
          <a:prstGeom prst="roundRect">
            <a:avLst>
              <a:gd name="adj" fmla="val 12632"/>
            </a:avLst>
          </a:prstGeom>
          <a:solidFill>
            <a:schemeClr val="bg2"/>
          </a:solidFill>
          <a:ln/>
        </p:spPr>
      </p:sp>
      <p:sp>
        <p:nvSpPr>
          <p:cNvPr id="7" name="question"/>
          <p:cNvSpPr txBox="1"/>
          <p:nvPr/>
        </p:nvSpPr>
        <p:spPr>
          <a:xfrm>
            <a:off x="685800" y="2011680"/>
            <a:ext cx="7772400" cy="868680"/>
          </a:xfrm>
          <a:prstGeom prst="rect">
            <a:avLst/>
          </a:prstGeom>
          <a:noFill/>
          <a:ln/>
        </p:spPr>
        <p:txBody>
          <a:bodyPr wrap="square" lIns="0" tIns="0" rIns="0" bIns="0" rtlCol="0" anchor="ctr"/>
          <a:lstStyle/>
          <a:p>
            <a:pPr rtl="1" algn="r" indent="0" marL="0">
              <a:buNone/>
            </a:pPr>
            <a:r>
              <a:rPr lang="he-IL" altLang="en-US" sz="1600" b="1" dirty="0">
                <a:solidFill>
                  <a:schemeClr val="tx1"/>
                </a:solidFill>
              </a:rPr>
              <a:t>שאלה: </a:t>
            </a:r>
            <a:pPr algn="r" indent="0" marL="0">
              <a:buNone/>
            </a:pPr>
            <a:r>
              <a:rPr lang="he-IL" altLang="en-US" sz="1600" dirty="0">
                <a:solidFill>
                  <a:schemeClr val="tx1"/>
                </a:solidFill>
              </a:rPr>
              <a:t>כמה ביטים אחרי הנקודה צריך כדי לכתוב בדיוק 0.25? ו 0.1?</a:t>
            </a:r>
            <a:endParaRPr lang="he-IL" sz="1600" dirty="0"/>
          </a:p>
        </p:txBody>
      </p:sp>
      <p:sp>
        <p:nvSpPr>
          <p:cNvPr id="8" name="answer card"/>
          <p:cNvSpPr/>
          <p:nvPr/>
        </p:nvSpPr>
        <p:spPr>
          <a:xfrm>
            <a:off x="457200" y="3017520"/>
            <a:ext cx="8229600" cy="914400"/>
          </a:xfrm>
          <a:prstGeom prst="roundRect">
            <a:avLst>
              <a:gd name="adj" fmla="val 12000"/>
            </a:avLst>
          </a:prstGeom>
          <a:solidFill>
            <a:schemeClr val="tx2"/>
          </a:solidFill>
          <a:ln/>
        </p:spPr>
      </p:sp>
      <p:sp>
        <p:nvSpPr>
          <p:cNvPr id="9" name="answer"/>
          <p:cNvSpPr txBox="1"/>
          <p:nvPr/>
        </p:nvSpPr>
        <p:spPr>
          <a:xfrm>
            <a:off x="685800" y="3017520"/>
            <a:ext cx="7772400" cy="914400"/>
          </a:xfrm>
          <a:prstGeom prst="rect">
            <a:avLst/>
          </a:prstGeom>
          <a:noFill/>
          <a:ln/>
        </p:spPr>
        <p:txBody>
          <a:bodyPr wrap="square" lIns="0" tIns="0" rIns="0" bIns="0" rtlCol="0" anchor="ctr"/>
          <a:lstStyle/>
          <a:p>
            <a:pPr rtl="1" algn="r" indent="0" marL="0">
              <a:buNone/>
            </a:pPr>
            <a:r>
              <a:rPr lang="he-IL" altLang="en-US" sz="1700" b="1" dirty="0">
                <a:solidFill>
                  <a:schemeClr val="accent1"/>
                </a:solidFill>
              </a:rPr>
              <a:t>תשובה: </a:t>
            </a:r>
            <a:pPr algn="r" indent="0" marL="0">
              <a:buNone/>
            </a:pPr>
            <a:r>
              <a:rPr lang="he-IL" altLang="en-US" sz="1700" dirty="0">
                <a:solidFill>
                  <a:schemeClr val="accent1"/>
                </a:solidFill>
              </a:rPr>
              <a:t>ל 0.25 מספיקים 2 ביטים (0.01). את 0.1 אי אפשר לכתוב בדיוק בשום מספר סופי של ביטים.</a:t>
            </a:r>
            <a:endParaRPr lang="he-IL" sz="1700" dirty="0"/>
          </a:p>
        </p:txBody>
      </p:sp>
      <p:sp>
        <p:nvSpPr>
          <p:cNvPr id="10" name="why"/>
          <p:cNvSpPr txBox="1"/>
          <p:nvPr/>
        </p:nvSpPr>
        <p:spPr>
          <a:xfrm>
            <a:off x="457200" y="4114800"/>
            <a:ext cx="8229600" cy="2286000"/>
          </a:xfrm>
          <a:prstGeom prst="rect">
            <a:avLst/>
          </a:prstGeom>
          <a:noFill/>
          <a:ln/>
        </p:spPr>
        <p:txBody>
          <a:bodyPr wrap="square" lIns="0" tIns="0" rIns="0" bIns="0" rtlCol="0" anchor="t"/>
          <a:lstStyle/>
          <a:p>
            <a:pPr rtl="1" algn="r" indent="0" marL="0">
              <a:spcAft>
                <a:spcPts val="500"/>
              </a:spcAft>
              <a:buNone/>
            </a:pPr>
            <a:r>
              <a:rPr lang="he-IL" altLang="en-US" sz="1700" b="1" dirty="0">
                <a:solidFill>
                  <a:schemeClr val="tx1"/>
                </a:solidFill>
              </a:rPr>
              <a:t>למה?</a:t>
            </a:r>
            <a:endParaRPr lang="he-IL" sz="1700" dirty="0"/>
          </a:p>
          <a:p>
            <a:pPr rtl="1" algn="r" indent="0" marL="0">
              <a:spcAft>
                <a:spcPts val="500"/>
              </a:spcAft>
              <a:buNone/>
            </a:pPr>
            <a:r>
              <a:rPr lang="he-IL" altLang="en-US" sz="1600" dirty="0">
                <a:solidFill>
                  <a:schemeClr val="tx1"/>
                </a:solidFill>
              </a:rPr>
              <a:t>בבינארי, הביטים אחרי הנקודה שווים חצי, רבע, שמינית וכן הלאה. 0.25 הוא בדיוק רבע. 0.1 בבינארי הוא 0.000110011... שחוזר לנצח. עם 8 ביטים אחרי הנקודה, 0.1 נשמר כ 0.0977, והטעות הקטנה מוכפלת ב 10 ונהיית 0.976. 4 כפול 0.25 יוצא בדיוק 1, כי לא הייתה טעות מלכתחילה.</a:t>
            </a:r>
            <a:endParaRPr lang="he-IL" sz="1700" dirty="0"/>
          </a:p>
        </p:txBody>
      </p:sp>
      <p:sp>
        <p:nvSpPr>
          <p:cNvPr id="25" name="Slide Number Placeholder 0"/>
          <p:cNvSpPr>
            <a:spLocks noGrp="1"/>
          </p:cNvSpPr>
          <p:nvPr>
            <p:ph type="sldNum" sz="quarter" idx="4294967295"/>
          </p:nvPr>
        </p:nvSpPr>
        <p:spPr>
          <a:xfrm>
            <a:off x="84124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DE10 news">
  <a:themeElements>
    <a:clrScheme name="DE10 news">
      <a:dk1>
        <a:srgbClr val="000000"/>
      </a:dk1>
      <a:lt1>
        <a:srgbClr val="FFFFFF"/>
      </a:lt1>
      <a:dk2>
        <a:srgbClr val="2B2B2B"/>
      </a:dk2>
      <a:lt2>
        <a:srgbClr val="FFF4CC"/>
      </a:lt2>
      <a:accent1>
        <a:srgbClr val="FFC700"/>
      </a:accent1>
      <a:accent2>
        <a:srgbClr val="60B5CC"/>
      </a:accent2>
      <a:accent3>
        <a:srgbClr val="E66C7D"/>
      </a:accent3>
      <a:accent4>
        <a:srgbClr val="6BB76D"/>
      </a:accent4>
      <a:accent5>
        <a:srgbClr val="E88651"/>
      </a:accent5>
      <a:accent6>
        <a:srgbClr val="5A6378"/>
      </a:accent6>
      <a:hlink>
        <a:srgbClr val="1F5FA8"/>
      </a:hlink>
      <a:folHlink>
        <a:srgbClr val="5A6378"/>
      </a:folHlink>
    </a:clrScheme>
    <a:fontScheme name="DE10 news">
      <a:majorFont>
        <a:latin typeface="Arial"/>
        <a:ea typeface=""/>
        <a:cs typeface="Arial"/>
        <a:font script="Jpan" typeface="游ゴシック Light"/>
        <a:font script="Hang" typeface="맑은 고딕"/>
        <a:font script="Hans" typeface="等线 Light"/>
        <a:font script="Hant" typeface="新細明體"/>
        <a:font script="Arab" typeface="Times New Roman"/>
        <a:font script="Hebr" typeface="Arial"/>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חדשות מסטארטאפים ישראליים - שבוע אחר שבוע</dc:title>
  <dc:subject>PptxGenJS Presentation</dc:subject>
  <dc:creator>Digital Systems course</dc:creator>
  <cp:lastModifiedBy>Digital Systems course</cp:lastModifiedBy>
  <cp:revision>1</cp:revision>
  <dcterms:created xsi:type="dcterms:W3CDTF">2026-10-14T18:08:22Z</dcterms:created>
  <dcterms:modified xsi:type="dcterms:W3CDTF">2026-10-14T18:08:22Z</dcterms:modified>
</cp:coreProperties>
</file>